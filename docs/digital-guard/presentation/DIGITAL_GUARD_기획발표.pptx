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게임 소개" id="{7a54e514-6d30-2685-22c0-4c39a223eb91}">
          <p14:sldIdLst>
            <p14:sldId id="256"/>
          </p14:sldIdLst>
        </p14:section>
        <p14:section name="경쟁작 분석" id="{f7b515f0-bedd-8fcd-f933-487ad8d4ef17}">
          <p14:sldIdLst>
            <p14:sldId id="257"/>
            <p14:sldId id="258"/>
            <p14:sldId id="259"/>
          </p14:sldIdLst>
        </p14:section>
        <p14:section name="게임 시스템" id="{1d1a67ad-316d-53f6-f80f-e2e94a1c0517}">
          <p14:sldIdLst>
            <p14:sldId id="260"/>
            <p14:sldId id="261"/>
            <p14:sldId id="262"/>
          </p14:sldIdLst>
        </p14:section>
        <p14:section name="비주얼·제작·결론" id="{545d55b8-6cfc-394f-9f90-f6c198efa7a7}">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GUARD는 플레이어가 가상의 디지털 안전 센터에서 보안 심사관이 되어, 메시지·계정·파일 공유 요청을 검토하고 안전한 결정을 내리는 Unity 6 모바일 게임입니다. 슬로건 '의심하고, 확인하고, 판단하라'는 게임의 핵심 플레이 순서이기도 합니다. 오늘은 경쟁작과의 차이, 실제 플레이 방식, 제작 계획을 중심으로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번째로 참고한 게임은 Papers, Please입니다. 서류를 대조하고 규칙에 따라 승인·거부하며, 규칙이 늘수록 어려워지는 문서 심사 메커니즘은 DIGITAL GUARD의 직접적인 참고 사례입니다. Jigsaw 피싱 퀴즈는 즉각적인 해설 피드백이, CyberStart는 단계 진행과 힌트 구조가 참고할 점입니다. 단, CyberStart는 2024년에 종료된 서비스로 과거 사례로 소개합니다.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제품과 DIGITAL GUARD를 같은 기준으로 비교했습니다. Papers, Please는 정보 대조가 핵심이지만 교육용이 아닌 성인 중심 서사 게임이고, Jigsaw 퀴즈는 메일 한 통 단위의 정상·피싱 분류에 집중합니다. DIGITAL GUARD는 여러 문서를 대조해 승인·거부·추가 확인을 고르는 판단을 어린이부터 어르신까지 쓰는 세로 화면 모바일 경험으로 설계했다는 점이 다릅니다. (출처: pocketgamer.com/papers-please/ios-android-release-date-august-5th/ · darkreading.com/cyberattacks-data-breaches/google-creates-online-phishing-quiz · hackerdna.com/blog/cyberstart — Jigsaw 퀴즈의 현재 접속 가능 여부는 발표 전 확인 권장)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GUARD의 차별점은 네 가지입니다. 메시지 하나가 아니라 여러 문서를 함께 대조하고, 위험해 보인다고 무조건 거부하지 않고 승인·거부·추가 확인 중에서 근거 있게 고릅니다. 또 스마트폰에서 탭과 하단 버튼만으로 플레이하도록 설계했고, 개인정보·피싱·계정 보안·공유 권한을 실생활과 닮은 가상 사건으로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사건은 접수, 문서 확인, 단서 비교, 판정, 결과 해설의 다섯 단계로 진행됩니다. 예를 들어 택배회사를 사칭한 문자가 오면, 플레이어는 링크 주소를 공식 연락처와 대조해 도메인이 다르다는 것을 찾고, 할머니의 기록에 기다리는 택배가 없다는 것까지 확인한 뒤 거부하고 신고합니다. 아래 화면은 Unity 구현 전에 만든 도트 스타일 HTML 시제품을 실제로 플레이하며 캡처한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화면들은 도트 스타일로 만든 HTML 시제품을 스마트폰 크기로 실제 플레이하며 캡처한 것입니다. Unity 게임은 아직 구현 전입니다. 아침 브리핑에서 오늘의 조건을 확인하고 업무를 시작하면, 요청 카드와 문서 탭, 요청자의 내 기록을 살펴봅니다. 두 정보를 대조하면 일치·불일치 단서가 생기고, 화면 하단의 큰 버튼으로 판정한 뒤 신고 여부까지 고르면 결과와 해설이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난이도는 문서 양이 아니라 판단에 필요한 정보와 규칙의 복잡도로 올립니다. 초급은 이름 하나의 불일치를 찾는 수준이고, 심화에서는 긴급 요청과 사칭, 빈칸이 있는 서류가 섞인 상황에서 추가 확인이 필요한지 판단합니다. 단계마다 새 보안 도구와 등급, 배지가 열리며, 점수는 속도보다 정확한 판정과 근거에 집중합니다. 틀리면 힌트를 보고 다시 생각할 기회가 주어집니다.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비주얼은 두 가지 테마로 준비하며, 2D 도트 스타일을 기본 시안으로 정했습니다. 오른쪽 화면은 도트 테마 HTML 시제품의 실제 화면이고, 왼쪽 모던 미니멀은 대체 테마의 목업입니다. 두 테마는 별개의 게임이 아니라 사례 데이터, 규칙 판정, 점수와 저장 시스템을 공유하고 그래픽 자산만 바꾸는 구조입니다. 제작은 다섯 단계로 진행하며 첫 단계인 화면 시제품은 HTML로 먼저 만들었습니다. 구체 기간은 인력과 범위가 확정되면 산정하겠습니다.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GUARD가 만들고 싶은 경험은 정답을 맞히는 것이 아니라, 정보를 대조하고 근거를 들어 판단하는 경험입니다. 교육성, 게임성, 그리고 새 사건을 데이터로 계속 추가할 수 있는 확장성을 함께 갖춘 모바일 게임을 목표로 합니다. 의심하고, 확인하고, 판단하라.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612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B1A33"/>
        </a:solidFill>
      </p:bgPr>
    </p:bg>
    <p:spTree>
      <p:nvGrpSpPr>
        <p:cNvPr id="1" name=""/>
        <p:cNvGrpSpPr/>
        <p:nvPr/>
      </p:nvGrpSpPr>
      <p:grpSpPr>
        <a:xfrm>
          <a:off x="0" y="0"/>
          <a:ext cx="0" cy="0"/>
          <a:chOff x="0" y="0"/>
          <a:chExt cx="0" cy="0"/>
        </a:xfrm>
      </p:grpSpPr>
      <p:sp>
        <p:nvSpPr>
          <p:cNvPr id="2" name="Text 0"/>
          <p:cNvSpPr/>
          <p:nvPr/>
        </p:nvSpPr>
        <p:spPr>
          <a:xfrm>
            <a:off x="548640" y="6455664"/>
            <a:ext cx="4572000" cy="237744"/>
          </a:xfrm>
          <a:prstGeom prst="rect">
            <a:avLst/>
          </a:prstGeom>
          <a:noFill/>
          <a:ln/>
        </p:spPr>
        <p:txBody>
          <a:bodyPr wrap="square" lIns="0" tIns="0" rIns="0" bIns="0" rtlCol="0" anchor="ctr"/>
          <a:lstStyle/>
          <a:p>
            <a:pPr indent="0" marL="0">
              <a:buNone/>
            </a:pPr>
            <a:r>
              <a:rPr lang="en-US" sz="1000" dirty="0">
                <a:solidFill>
                  <a:srgbClr val="6F86A6"/>
                </a:solidFill>
                <a:latin typeface="맑은 고딕" pitchFamily="34" charset="0"/>
                <a:ea typeface="맑은 고딕" pitchFamily="34" charset="-122"/>
                <a:cs typeface="맑은 고딕" pitchFamily="34" charset="-120"/>
              </a:rPr>
              <a:t>DIGITAL GUARD  |  게임 기획 발표</a:t>
            </a:r>
            <a:endParaRPr lang="en-US" sz="1000" dirty="0"/>
          </a:p>
        </p:txBody>
      </p:sp>
      <p:sp>
        <p:nvSpPr>
          <p:cNvPr id="3" name="Text 1"/>
          <p:cNvSpPr/>
          <p:nvPr>
            <p:ph idx="101" type="title" hasCustomPrompt="1"/>
          </p:nvPr>
        </p:nvSpPr>
        <p:spPr>
          <a:xfrm>
            <a:off x="548640" y="347472"/>
            <a:ext cx="11064240" cy="658368"/>
          </a:xfrm>
          <a:prstGeom prst="rect">
            <a:avLst/>
          </a:prstGeom>
          <a:noFill/>
          <a:ln/>
        </p:spPr>
        <p:txBody>
          <a:bodyPr wrap="square" rtlCol="0"/>
          <a:lstStyle>
            <a:lvl1pPr algn="l" indent="0" marL="0">
              <a:buNone/>
              <a:defRPr lang="en-US" sz="3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3.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디지털 보안 센터에서 단말기와 문서를 검토하는 심사관과 AI 조수 도트 (키아트 시안)">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685800" y="1051560"/>
            <a:ext cx="2148840" cy="365760"/>
          </a:xfrm>
          <a:prstGeom prst="roundRect">
            <a:avLst>
              <a:gd name="adj" fmla="val 50000"/>
            </a:avLst>
          </a:prstGeom>
          <a:solidFill>
            <a:srgbClr val="19B3B1"/>
          </a:solidFill>
          <a:ln/>
        </p:spPr>
      </p:sp>
      <p:sp>
        <p:nvSpPr>
          <p:cNvPr id="4" name="Text 1"/>
          <p:cNvSpPr txBox="1"/>
          <p:nvPr/>
        </p:nvSpPr>
        <p:spPr>
          <a:xfrm>
            <a:off x="685800" y="1051560"/>
            <a:ext cx="2148840" cy="365760"/>
          </a:xfrm>
          <a:prstGeom prst="rect">
            <a:avLst/>
          </a:prstGeom>
          <a:noFill/>
          <a:ln/>
        </p:spPr>
        <p:txBody>
          <a:bodyPr wrap="square" lIns="0" tIns="0" rIns="0" bIns="0" rtlCol="0" anchor="ctr"/>
          <a:lstStyle/>
          <a:p>
            <a:pPr algn="ctr" indent="0" marL="0">
              <a:buNone/>
            </a:pPr>
            <a:r>
              <a:rPr lang="ko-KR" altLang="en-US" sz="1300" b="1" dirty="0">
                <a:solidFill>
                  <a:srgbClr val="06122A"/>
                </a:solidFill>
                <a:latin typeface="맑은 고딕" pitchFamily="34" charset="0"/>
                <a:ea typeface="맑은 고딕" pitchFamily="34" charset="-122"/>
                <a:cs typeface="맑은 고딕" pitchFamily="34" charset="-120"/>
              </a:rPr>
              <a:t>Unity 6  Mobile Game</a:t>
            </a:r>
            <a:endParaRPr lang="ko-KR" sz="1300" dirty="0"/>
          </a:p>
        </p:txBody>
      </p:sp>
      <p:sp>
        <p:nvSpPr>
          <p:cNvPr id="5" name="Text 2"/>
          <p:cNvSpPr txBox="1"/>
          <p:nvPr/>
        </p:nvSpPr>
        <p:spPr>
          <a:xfrm>
            <a:off x="685800" y="1554480"/>
            <a:ext cx="4754880" cy="1783080"/>
          </a:xfrm>
          <a:prstGeom prst="rect">
            <a:avLst/>
          </a:prstGeom>
          <a:noFill/>
          <a:ln/>
        </p:spPr>
        <p:txBody>
          <a:bodyPr wrap="square" lIns="0" tIns="0" rIns="0" bIns="0" rtlCol="0" anchor="t"/>
          <a:lstStyle/>
          <a:p>
            <a:pPr indent="0" marL="0">
              <a:lnSpc>
                <a:spcPct val="88000"/>
              </a:lnSpc>
              <a:buNone/>
            </a:pPr>
            <a:r>
              <a:rPr lang="ko-KR" altLang="en-US" sz="6400" b="1" spc="200" kern="0" dirty="0">
                <a:solidFill>
                  <a:srgbClr val="FFFFFF"/>
                </a:solidFill>
                <a:latin typeface="맑은 고딕" pitchFamily="34" charset="0"/>
                <a:ea typeface="맑은 고딕" pitchFamily="34" charset="-122"/>
                <a:cs typeface="맑은 고딕" pitchFamily="34" charset="-120"/>
              </a:rPr>
              <a:t>DIGITAL</a:t>
            </a:r>
            <a:endParaRPr lang="ko-KR" sz="6400" dirty="0"/>
          </a:p>
          <a:p>
            <a:pPr indent="0" marL="0">
              <a:lnSpc>
                <a:spcPct val="88000"/>
              </a:lnSpc>
              <a:buNone/>
            </a:pPr>
            <a:r>
              <a:rPr lang="ko-KR" altLang="en-US" sz="6400" b="1" spc="200" kern="0" dirty="0">
                <a:solidFill>
                  <a:srgbClr val="FFFFFF"/>
                </a:solidFill>
                <a:latin typeface="맑은 고딕" pitchFamily="34" charset="0"/>
                <a:ea typeface="맑은 고딕" pitchFamily="34" charset="-122"/>
                <a:cs typeface="맑은 고딕" pitchFamily="34" charset="-120"/>
              </a:rPr>
              <a:t>GUARD</a:t>
            </a:r>
            <a:endParaRPr lang="ko-KR" sz="6400" dirty="0"/>
          </a:p>
        </p:txBody>
      </p:sp>
      <p:sp>
        <p:nvSpPr>
          <p:cNvPr id="6" name="Text 3"/>
          <p:cNvSpPr txBox="1"/>
          <p:nvPr/>
        </p:nvSpPr>
        <p:spPr>
          <a:xfrm>
            <a:off x="685800" y="3429000"/>
            <a:ext cx="4572000" cy="548640"/>
          </a:xfrm>
          <a:prstGeom prst="rect">
            <a:avLst/>
          </a:prstGeom>
          <a:noFill/>
          <a:ln/>
        </p:spPr>
        <p:txBody>
          <a:bodyPr wrap="square" lIns="0" tIns="0" rIns="0" bIns="0" rtlCol="0" anchor="t"/>
          <a:lstStyle/>
          <a:p>
            <a:pPr indent="0" marL="0">
              <a:buNone/>
            </a:pPr>
            <a:r>
              <a:rPr lang="ko-KR" altLang="en-US" sz="2800" b="1" dirty="0">
                <a:solidFill>
                  <a:srgbClr val="19B3B1"/>
                </a:solidFill>
                <a:latin typeface="맑은 고딕" pitchFamily="34" charset="0"/>
                <a:ea typeface="맑은 고딕" pitchFamily="34" charset="-122"/>
                <a:cs typeface="맑은 고딕" pitchFamily="34" charset="-120"/>
              </a:rPr>
              <a:t>디지털 보안 심사관</a:t>
            </a:r>
            <a:endParaRPr lang="ko-KR" sz="2800" dirty="0"/>
          </a:p>
        </p:txBody>
      </p:sp>
      <p:sp>
        <p:nvSpPr>
          <p:cNvPr id="7" name="Text 4"/>
          <p:cNvSpPr txBox="1"/>
          <p:nvPr/>
        </p:nvSpPr>
        <p:spPr>
          <a:xfrm>
            <a:off x="685800" y="4069080"/>
            <a:ext cx="4754880" cy="457200"/>
          </a:xfrm>
          <a:prstGeom prst="rect">
            <a:avLst/>
          </a:prstGeom>
          <a:noFill/>
          <a:ln/>
        </p:spPr>
        <p:txBody>
          <a:bodyPr wrap="square" lIns="0" tIns="0" rIns="0" bIns="0" rtlCol="0" anchor="t"/>
          <a:lstStyle/>
          <a:p>
            <a:pPr indent="0" marL="0">
              <a:buNone/>
            </a:pPr>
            <a:r>
              <a:rPr lang="ko-KR" altLang="en-US" sz="2200" i="1" dirty="0">
                <a:solidFill>
                  <a:srgbClr val="FFFFFF"/>
                </a:solidFill>
                <a:latin typeface="맑은 고딕" pitchFamily="34" charset="0"/>
                <a:ea typeface="맑은 고딕" pitchFamily="34" charset="-122"/>
                <a:cs typeface="맑은 고딕" pitchFamily="34" charset="-120"/>
              </a:rPr>
              <a:t>“의심하고, 확인하고, 판단하라.”</a:t>
            </a:r>
            <a:endParaRPr lang="ko-KR" sz="2200" dirty="0"/>
          </a:p>
        </p:txBody>
      </p:sp>
      <p:sp>
        <p:nvSpPr>
          <p:cNvPr id="8" name="Shape 5"/>
          <p:cNvSpPr/>
          <p:nvPr/>
        </p:nvSpPr>
        <p:spPr>
          <a:xfrm>
            <a:off x="685800" y="4800600"/>
            <a:ext cx="1645920" cy="347472"/>
          </a:xfrm>
          <a:prstGeom prst="roundRect">
            <a:avLst>
              <a:gd name="adj" fmla="val 50000"/>
            </a:avLst>
          </a:prstGeom>
          <a:solidFill>
            <a:srgbClr val="14284B"/>
          </a:solidFill>
          <a:ln w="12700">
            <a:solidFill>
              <a:srgbClr val="3A5478"/>
            </a:solidFill>
            <a:prstDash val="solid"/>
          </a:ln>
        </p:spPr>
      </p:sp>
      <p:sp>
        <p:nvSpPr>
          <p:cNvPr id="9" name="Text 6"/>
          <p:cNvSpPr txBox="1"/>
          <p:nvPr/>
        </p:nvSpPr>
        <p:spPr>
          <a:xfrm>
            <a:off x="685800" y="4800600"/>
            <a:ext cx="1645920"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맑은 고딕" pitchFamily="34" charset="0"/>
                <a:ea typeface="맑은 고딕" pitchFamily="34" charset="-122"/>
                <a:cs typeface="맑은 고딕" pitchFamily="34" charset="-120"/>
              </a:rPr>
              <a:t>Android / iOS</a:t>
            </a:r>
            <a:endParaRPr lang="ko-KR" sz="1200" dirty="0"/>
          </a:p>
        </p:txBody>
      </p:sp>
      <p:sp>
        <p:nvSpPr>
          <p:cNvPr id="10" name="Shape 7"/>
          <p:cNvSpPr/>
          <p:nvPr/>
        </p:nvSpPr>
        <p:spPr>
          <a:xfrm>
            <a:off x="2468880" y="4800600"/>
            <a:ext cx="2377440" cy="347472"/>
          </a:xfrm>
          <a:prstGeom prst="roundRect">
            <a:avLst>
              <a:gd name="adj" fmla="val 50000"/>
            </a:avLst>
          </a:prstGeom>
          <a:solidFill>
            <a:srgbClr val="14284B"/>
          </a:solidFill>
          <a:ln w="12700">
            <a:solidFill>
              <a:srgbClr val="3A5478"/>
            </a:solidFill>
            <a:prstDash val="solid"/>
          </a:ln>
        </p:spPr>
      </p:sp>
      <p:sp>
        <p:nvSpPr>
          <p:cNvPr id="11" name="Text 8"/>
          <p:cNvSpPr txBox="1"/>
          <p:nvPr/>
        </p:nvSpPr>
        <p:spPr>
          <a:xfrm>
            <a:off x="2468880" y="4800600"/>
            <a:ext cx="2377440"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맑은 고딕" pitchFamily="34" charset="0"/>
                <a:ea typeface="맑은 고딕" pitchFamily="34" charset="-122"/>
                <a:cs typeface="맑은 고딕" pitchFamily="34" charset="-120"/>
              </a:rPr>
              <a:t>전연령 · 세로 화면 · 터치</a:t>
            </a:r>
            <a:endParaRPr lang="ko-KR" sz="1200" dirty="0"/>
          </a:p>
        </p:txBody>
      </p:sp>
      <p:sp>
        <p:nvSpPr>
          <p:cNvPr id="12" name="Text 9"/>
          <p:cNvSpPr txBox="1"/>
          <p:nvPr/>
        </p:nvSpPr>
        <p:spPr>
          <a:xfrm>
            <a:off x="685800" y="5989320"/>
            <a:ext cx="5943600" cy="320040"/>
          </a:xfrm>
          <a:prstGeom prst="rect">
            <a:avLst/>
          </a:prstGeom>
          <a:noFill/>
          <a:ln/>
        </p:spPr>
        <p:txBody>
          <a:bodyPr wrap="square" lIns="0" tIns="0" rIns="0" bIns="0" rtlCol="0" anchor="t"/>
          <a:lstStyle/>
          <a:p>
            <a:pPr indent="0" marL="0">
              <a:buNone/>
            </a:pPr>
            <a:r>
              <a:rPr lang="ko-KR" altLang="en-US" sz="1400" dirty="0">
                <a:solidFill>
                  <a:srgbClr val="A9BCD3"/>
                </a:solidFill>
                <a:latin typeface="맑은 고딕" pitchFamily="34" charset="0"/>
                <a:ea typeface="맑은 고딕" pitchFamily="34" charset="-122"/>
                <a:cs typeface="맑은 고딕" pitchFamily="34" charset="-120"/>
              </a:rPr>
              <a:t>발표자  ________________      소속  ________________</a:t>
            </a:r>
            <a:endParaRPr lang="ko-KR" sz="1400" dirty="0"/>
          </a:p>
        </p:txBody>
      </p:sp>
      <p:sp>
        <p:nvSpPr>
          <p:cNvPr id="13" name="Text 10"/>
          <p:cNvSpPr txBox="1"/>
          <p:nvPr/>
        </p:nvSpPr>
        <p:spPr>
          <a:xfrm>
            <a:off x="9509760" y="6446520"/>
            <a:ext cx="2377440" cy="228600"/>
          </a:xfrm>
          <a:prstGeom prst="rect">
            <a:avLst/>
          </a:prstGeom>
          <a:noFill/>
          <a:ln/>
        </p:spPr>
        <p:txBody>
          <a:bodyPr wrap="square" lIns="0" tIns="0" rIns="0" bIns="0" rtlCol="0" anchor="t"/>
          <a:lstStyle/>
          <a:p>
            <a:pPr algn="r" indent="0" marL="0">
              <a:buNone/>
            </a:pPr>
            <a:r>
              <a:rPr lang="ko-KR" altLang="en-US" sz="1000" dirty="0">
                <a:solidFill>
                  <a:srgbClr val="6F86A6"/>
                </a:solidFill>
                <a:latin typeface="맑은 고딕" pitchFamily="34" charset="0"/>
                <a:ea typeface="맑은 고딕" pitchFamily="34" charset="-122"/>
                <a:cs typeface="맑은 고딕" pitchFamily="34" charset="-120"/>
              </a:rPr>
              <a:t>키아트 시안 · 기획용 일러스트</a:t>
            </a:r>
            <a:endParaRPr lang="ko-K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658368"/>
          </a:xfrm>
          <a:prstGeom prst="rect">
            <a:avLst/>
          </a:prstGeom>
          <a:noFill/>
          <a:ln/>
        </p:spPr>
        <p:txBody>
          <a:bodyPr wrap="square" lIns="0" tIns="0" rIns="0" bIns="0" rtlCol="0" anchor="ctr"/>
          <a:lstStyle/>
          <a:p>
            <a:pPr algn="l" indent="0" marL="0">
              <a:buNone/>
            </a:pPr>
            <a:r>
              <a:rPr lang="en-US" sz="3000" b="1" dirty="0">
                <a:solidFill>
                  <a:srgbClr val="FFFFFF"/>
                </a:solidFill>
                <a:latin typeface="맑은 고딕" pitchFamily="34" charset="0"/>
                <a:ea typeface="맑은 고딕" pitchFamily="34" charset="-122"/>
                <a:cs typeface="맑은 고딕" pitchFamily="34" charset="-120"/>
              </a:rPr>
              <a:t>기존 게임은 어떻게 보안과 판단을 게임으로 만들었는가?</a:t>
            </a:r>
            <a:endParaRPr lang="en-US" sz="3000" dirty="0"/>
          </a:p>
        </p:txBody>
      </p:sp>
      <p:sp>
        <p:nvSpPr>
          <p:cNvPr id="3" name="card-0"/>
          <p:cNvSpPr/>
          <p:nvPr/>
        </p:nvSpPr>
        <p:spPr>
          <a:xfrm>
            <a:off x="548640" y="1188720"/>
            <a:ext cx="3456432" cy="4160520"/>
          </a:xfrm>
          <a:prstGeom prst="roundRect">
            <a:avLst>
              <a:gd name="adj" fmla="val 3704"/>
            </a:avLst>
          </a:prstGeom>
          <a:solidFill>
            <a:srgbClr val="F4F6FA"/>
          </a:solidFill>
          <a:ln/>
          <a:effectLst>
            <a:outerShdw sx="100000" sy="100000" kx="0" ky="0" algn="bl" rotWithShape="0" blurRad="127000" dist="38100" dir="5400000">
              <a:srgbClr val="000000">
                <a:alpha val="35000"/>
              </a:srgbClr>
            </a:outerShdw>
          </a:effectLst>
        </p:spPr>
      </p:sp>
      <p:sp>
        <p:nvSpPr>
          <p:cNvPr id="4" name="Shape 2"/>
          <p:cNvSpPr/>
          <p:nvPr/>
        </p:nvSpPr>
        <p:spPr>
          <a:xfrm>
            <a:off x="685800" y="1325880"/>
            <a:ext cx="3182112" cy="1097280"/>
          </a:xfrm>
          <a:prstGeom prst="roundRect">
            <a:avLst>
              <a:gd name="adj" fmla="val 8333"/>
            </a:avLst>
          </a:prstGeom>
          <a:solidFill>
            <a:srgbClr val="DFF3F2"/>
          </a:solidFill>
          <a:ln/>
        </p:spPr>
      </p:sp>
      <p:sp>
        <p:nvSpPr>
          <p:cNvPr id="5" name="Shape 3"/>
          <p:cNvSpPr/>
          <p:nvPr/>
        </p:nvSpPr>
        <p:spPr>
          <a:xfrm>
            <a:off x="1499616" y="1490472"/>
            <a:ext cx="777240" cy="7772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693926" y="1684782"/>
            <a:ext cx="388620" cy="388620"/>
          </a:xfrm>
          <a:prstGeom prst="rect">
            <a:avLst/>
          </a:prstGeom>
        </p:spPr>
      </p:pic>
      <p:sp>
        <p:nvSpPr>
          <p:cNvPr id="7" name="Shape 4"/>
          <p:cNvSpPr/>
          <p:nvPr/>
        </p:nvSpPr>
        <p:spPr>
          <a:xfrm>
            <a:off x="2322576" y="1536192"/>
            <a:ext cx="685800" cy="685800"/>
          </a:xfrm>
          <a:prstGeom prst="ellipse">
            <a:avLst/>
          </a:prstGeom>
          <a:solidFill>
            <a:srgbClr val="14284B"/>
          </a:solidFill>
          <a:ln/>
        </p:spPr>
      </p:sp>
      <p:pic>
        <p:nvPicPr>
          <p:cNvPr id="8" name="Image 1" descr="preencoded.png">    </p:cNvPr>
          <p:cNvPicPr>
            <a:picLocks noChangeAspect="1"/>
          </p:cNvPicPr>
          <p:nvPr/>
        </p:nvPicPr>
        <p:blipFill>
          <a:blip r:embed="rId2"/>
          <a:stretch>
            <a:fillRect/>
          </a:stretch>
        </p:blipFill>
        <p:spPr>
          <a:xfrm>
            <a:off x="2494026" y="1707642"/>
            <a:ext cx="342900" cy="342900"/>
          </a:xfrm>
          <a:prstGeom prst="rect">
            <a:avLst/>
          </a:prstGeom>
        </p:spPr>
      </p:pic>
      <p:sp>
        <p:nvSpPr>
          <p:cNvPr id="9" name="Shape 5"/>
          <p:cNvSpPr/>
          <p:nvPr/>
        </p:nvSpPr>
        <p:spPr>
          <a:xfrm>
            <a:off x="2953512" y="1417320"/>
            <a:ext cx="822960" cy="274320"/>
          </a:xfrm>
          <a:prstGeom prst="roundRect">
            <a:avLst>
              <a:gd name="adj" fmla="val 50000"/>
            </a:avLst>
          </a:prstGeom>
          <a:solidFill>
            <a:srgbClr val="14284B"/>
          </a:solidFill>
          <a:ln/>
        </p:spPr>
      </p:sp>
      <p:sp>
        <p:nvSpPr>
          <p:cNvPr id="10" name="Text 6"/>
          <p:cNvSpPr txBox="1"/>
          <p:nvPr/>
        </p:nvSpPr>
        <p:spPr>
          <a:xfrm>
            <a:off x="2953512" y="1417320"/>
            <a:ext cx="822960" cy="274320"/>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맑은 고딕" pitchFamily="34" charset="0"/>
                <a:ea typeface="맑은 고딕" pitchFamily="34" charset="-122"/>
                <a:cs typeface="맑은 고딕" pitchFamily="34" charset="-120"/>
              </a:rPr>
              <a:t>핵심 참고</a:t>
            </a:r>
            <a:endParaRPr lang="ko-KR" sz="1000" dirty="0"/>
          </a:p>
        </p:txBody>
      </p:sp>
      <p:sp>
        <p:nvSpPr>
          <p:cNvPr id="11" name="Text 7"/>
          <p:cNvSpPr txBox="1"/>
          <p:nvPr/>
        </p:nvSpPr>
        <p:spPr>
          <a:xfrm>
            <a:off x="777240" y="2560320"/>
            <a:ext cx="2999232" cy="384048"/>
          </a:xfrm>
          <a:prstGeom prst="rect">
            <a:avLst/>
          </a:prstGeom>
          <a:noFill/>
          <a:ln/>
        </p:spPr>
        <p:txBody>
          <a:bodyPr wrap="square" lIns="0" tIns="0" rIns="0" bIns="0" rtlCol="0" anchor="t"/>
          <a:lstStyle/>
          <a:p>
            <a:pPr indent="0" marL="0">
              <a:buNone/>
            </a:pPr>
            <a:r>
              <a:rPr lang="ko-KR" altLang="en-US" sz="2000" b="1" dirty="0">
                <a:solidFill>
                  <a:srgbClr val="1C2433"/>
                </a:solidFill>
                <a:latin typeface="맑은 고딕" pitchFamily="34" charset="0"/>
                <a:ea typeface="맑은 고딕" pitchFamily="34" charset="-122"/>
                <a:cs typeface="맑은 고딕" pitchFamily="34" charset="-120"/>
              </a:rPr>
              <a:t>Papers, Please</a:t>
            </a:r>
            <a:endParaRPr lang="ko-KR" sz="2000" dirty="0"/>
          </a:p>
        </p:txBody>
      </p:sp>
      <p:sp>
        <p:nvSpPr>
          <p:cNvPr id="12" name="Shape 8"/>
          <p:cNvSpPr/>
          <p:nvPr/>
        </p:nvSpPr>
        <p:spPr>
          <a:xfrm>
            <a:off x="777240" y="2990088"/>
            <a:ext cx="2331720" cy="292608"/>
          </a:xfrm>
          <a:prstGeom prst="roundRect">
            <a:avLst>
              <a:gd name="adj" fmla="val 50000"/>
            </a:avLst>
          </a:prstGeom>
          <a:solidFill>
            <a:srgbClr val="19B3B1"/>
          </a:solidFill>
          <a:ln/>
        </p:spPr>
      </p:sp>
      <p:sp>
        <p:nvSpPr>
          <p:cNvPr id="13" name="Text 9"/>
          <p:cNvSpPr txBox="1"/>
          <p:nvPr/>
        </p:nvSpPr>
        <p:spPr>
          <a:xfrm>
            <a:off x="777240" y="2990088"/>
            <a:ext cx="2331720" cy="292608"/>
          </a:xfrm>
          <a:prstGeom prst="rect">
            <a:avLst/>
          </a:prstGeom>
          <a:noFill/>
          <a:ln/>
        </p:spPr>
        <p:txBody>
          <a:bodyPr wrap="square" lIns="0" tIns="0" rIns="0" bIns="0" rtlCol="0" anchor="ctr"/>
          <a:lstStyle/>
          <a:p>
            <a:pPr algn="ctr" indent="0" marL="0">
              <a:buNone/>
            </a:pPr>
            <a:r>
              <a:rPr lang="ko-KR" altLang="en-US" sz="1100" b="1" dirty="0">
                <a:solidFill>
                  <a:srgbClr val="06122A"/>
                </a:solidFill>
                <a:latin typeface="맑은 고딕" pitchFamily="34" charset="0"/>
                <a:ea typeface="맑은 고딕" pitchFamily="34" charset="-122"/>
                <a:cs typeface="맑은 고딕" pitchFamily="34" charset="-120"/>
              </a:rPr>
              <a:t>2013 PC · 2022 iOS/Android</a:t>
            </a:r>
            <a:endParaRPr lang="ko-KR" sz="1100" dirty="0"/>
          </a:p>
        </p:txBody>
      </p:sp>
      <p:sp>
        <p:nvSpPr>
          <p:cNvPr id="14" name="Text 10"/>
          <p:cNvSpPr txBox="1"/>
          <p:nvPr/>
        </p:nvSpPr>
        <p:spPr>
          <a:xfrm>
            <a:off x="777240" y="3429000"/>
            <a:ext cx="2286000" cy="256032"/>
          </a:xfrm>
          <a:prstGeom prst="rect">
            <a:avLst/>
          </a:prstGeom>
          <a:noFill/>
          <a:ln/>
        </p:spPr>
        <p:txBody>
          <a:bodyPr wrap="square" lIns="0" tIns="0" rIns="0" bIns="0" rtlCol="0" anchor="t"/>
          <a:lstStyle/>
          <a:p>
            <a:pPr indent="0" marL="0">
              <a:buNone/>
            </a:pPr>
            <a:r>
              <a:rPr lang="ko-KR" altLang="en-US" sz="1200" b="1" dirty="0">
                <a:solidFill>
                  <a:srgbClr val="0E7C7B"/>
                </a:solidFill>
                <a:latin typeface="맑은 고딕" pitchFamily="34" charset="0"/>
                <a:ea typeface="맑은 고딕" pitchFamily="34" charset="-122"/>
                <a:cs typeface="맑은 고딕" pitchFamily="34" charset="-120"/>
              </a:rPr>
              <a:t>핵심 메커니즘</a:t>
            </a:r>
            <a:endParaRPr lang="ko-KR" sz="1200" dirty="0"/>
          </a:p>
        </p:txBody>
      </p:sp>
      <p:sp>
        <p:nvSpPr>
          <p:cNvPr id="15" name="Text 11"/>
          <p:cNvSpPr txBox="1"/>
          <p:nvPr/>
        </p:nvSpPr>
        <p:spPr>
          <a:xfrm>
            <a:off x="777240" y="3703320"/>
            <a:ext cx="3044952" cy="914400"/>
          </a:xfrm>
          <a:prstGeom prst="rect">
            <a:avLst/>
          </a:prstGeom>
          <a:noFill/>
          <a:ln/>
        </p:spPr>
        <p:txBody>
          <a:bodyPr wrap="square" lIns="0" tIns="0" rIns="0" bIns="0" rtlCol="0" anchor="t"/>
          <a:lstStyle/>
          <a:p>
            <a:pPr marL="177800" indent="-177800">
              <a:spcAft>
                <a:spcPts val="300"/>
              </a:spcAft>
              <a:buSzPct val="100000"/>
              <a:buChar char="•"/>
            </a:pPr>
            <a:r>
              <a:rPr lang="ko-KR" altLang="en-US" sz="1500" dirty="0">
                <a:solidFill>
                  <a:srgbClr val="1C2433"/>
                </a:solidFill>
                <a:latin typeface="맑은 고딕" pitchFamily="34" charset="0"/>
                <a:ea typeface="맑은 고딕" pitchFamily="34" charset="-122"/>
                <a:cs typeface="맑은 고딕" pitchFamily="34" charset="-120"/>
              </a:rPr>
              <a:t>입국 서류 대조와 규칙 적용</a:t>
            </a:r>
            <a:endParaRPr lang="ko-KR" sz="1500" dirty="0"/>
          </a:p>
          <a:p>
            <a:pPr marL="177800" indent="-177800">
              <a:spcAft>
                <a:spcPts val="300"/>
              </a:spcAft>
              <a:buSzPct val="100000"/>
              <a:buChar char="•"/>
            </a:pPr>
            <a:r>
              <a:rPr lang="ko-KR" altLang="en-US" sz="1500" dirty="0">
                <a:solidFill>
                  <a:srgbClr val="1C2433"/>
                </a:solidFill>
                <a:latin typeface="맑은 고딕" pitchFamily="34" charset="0"/>
                <a:ea typeface="맑은 고딕" pitchFamily="34" charset="-122"/>
                <a:cs typeface="맑은 고딕" pitchFamily="34" charset="-120"/>
              </a:rPr>
              <a:t>승인·거부 도장으로 판정</a:t>
            </a:r>
            <a:endParaRPr lang="ko-KR" sz="1500" dirty="0"/>
          </a:p>
          <a:p>
            <a:pPr marL="177800" indent="-177800">
              <a:spcAft>
                <a:spcPts val="300"/>
              </a:spcAft>
              <a:buSzPct val="100000"/>
              <a:buChar char="•"/>
            </a:pPr>
            <a:r>
              <a:rPr lang="ko-KR" altLang="en-US" sz="1500" dirty="0">
                <a:solidFill>
                  <a:srgbClr val="1C2433"/>
                </a:solidFill>
                <a:latin typeface="맑은 고딕" pitchFamily="34" charset="0"/>
                <a:ea typeface="맑은 고딕" pitchFamily="34" charset="-122"/>
                <a:cs typeface="맑은 고딕" pitchFamily="34" charset="-120"/>
              </a:rPr>
              <a:t>날마다 규칙이 늘며 난이도 상승</a:t>
            </a:r>
            <a:endParaRPr lang="ko-KR" sz="1500" dirty="0"/>
          </a:p>
        </p:txBody>
      </p:sp>
      <p:sp>
        <p:nvSpPr>
          <p:cNvPr id="16" name="Text 12"/>
          <p:cNvSpPr txBox="1"/>
          <p:nvPr/>
        </p:nvSpPr>
        <p:spPr>
          <a:xfrm>
            <a:off x="777240" y="4645152"/>
            <a:ext cx="2743200" cy="237744"/>
          </a:xfrm>
          <a:prstGeom prst="rect">
            <a:avLst/>
          </a:prstGeom>
          <a:noFill/>
          <a:ln/>
        </p:spPr>
        <p:txBody>
          <a:bodyPr wrap="square" lIns="0" tIns="0" rIns="0" bIns="0" rtlCol="0" anchor="t"/>
          <a:lstStyle/>
          <a:p>
            <a:pPr indent="0" marL="0">
              <a:buNone/>
            </a:pPr>
            <a:r>
              <a:rPr lang="ko-KR" altLang="en-US" sz="1200" b="1" dirty="0">
                <a:solidFill>
                  <a:srgbClr val="0E7C7B"/>
                </a:solidFill>
                <a:latin typeface="맑은 고딕" pitchFamily="34" charset="0"/>
                <a:ea typeface="맑은 고딕" pitchFamily="34" charset="-122"/>
                <a:cs typeface="맑은 고딕" pitchFamily="34" charset="-120"/>
              </a:rPr>
              <a:t>DIGITAL GUARD가 참고할 점</a:t>
            </a:r>
            <a:endParaRPr lang="ko-KR" sz="1200" dirty="0"/>
          </a:p>
        </p:txBody>
      </p:sp>
      <p:sp>
        <p:nvSpPr>
          <p:cNvPr id="17" name="Text 13"/>
          <p:cNvSpPr txBox="1"/>
          <p:nvPr/>
        </p:nvSpPr>
        <p:spPr>
          <a:xfrm>
            <a:off x="777240" y="4892040"/>
            <a:ext cx="3044952" cy="320040"/>
          </a:xfrm>
          <a:prstGeom prst="rect">
            <a:avLst/>
          </a:prstGeom>
          <a:noFill/>
          <a:ln/>
        </p:spPr>
        <p:txBody>
          <a:bodyPr wrap="square" lIns="0" tIns="0" rIns="0" bIns="0" rtlCol="0" anchor="t"/>
          <a:lstStyle/>
          <a:p>
            <a:pPr indent="0" marL="0">
              <a:buNone/>
            </a:pPr>
            <a:r>
              <a:rPr lang="ko-KR" altLang="en-US" sz="1500" b="1" dirty="0">
                <a:solidFill>
                  <a:srgbClr val="1C2433"/>
                </a:solidFill>
                <a:latin typeface="맑은 고딕" pitchFamily="34" charset="0"/>
                <a:ea typeface="맑은 고딕" pitchFamily="34" charset="-122"/>
                <a:cs typeface="맑은 고딕" pitchFamily="34" charset="-120"/>
              </a:rPr>
              <a:t>문서 심사 메커니즘의 직접 참고</a:t>
            </a:r>
            <a:endParaRPr lang="ko-KR" sz="1500" dirty="0"/>
          </a:p>
        </p:txBody>
      </p:sp>
      <p:sp>
        <p:nvSpPr>
          <p:cNvPr id="18" name="card-1"/>
          <p:cNvSpPr/>
          <p:nvPr/>
        </p:nvSpPr>
        <p:spPr>
          <a:xfrm>
            <a:off x="4366260" y="1188720"/>
            <a:ext cx="3456432" cy="4160520"/>
          </a:xfrm>
          <a:prstGeom prst="roundRect">
            <a:avLst>
              <a:gd name="adj" fmla="val 3704"/>
            </a:avLst>
          </a:prstGeom>
          <a:solidFill>
            <a:srgbClr val="F4F6FA"/>
          </a:solidFill>
          <a:ln/>
          <a:effectLst>
            <a:outerShdw sx="100000" sy="100000" kx="0" ky="0" algn="bl" rotWithShape="0" blurRad="127000" dist="38100" dir="5400000">
              <a:srgbClr val="000000">
                <a:alpha val="35000"/>
              </a:srgbClr>
            </a:outerShdw>
          </a:effectLst>
        </p:spPr>
      </p:sp>
      <p:sp>
        <p:nvSpPr>
          <p:cNvPr id="19" name="Shape 15"/>
          <p:cNvSpPr/>
          <p:nvPr/>
        </p:nvSpPr>
        <p:spPr>
          <a:xfrm>
            <a:off x="4503420" y="1325880"/>
            <a:ext cx="3182112" cy="1097280"/>
          </a:xfrm>
          <a:prstGeom prst="roundRect">
            <a:avLst>
              <a:gd name="adj" fmla="val 8333"/>
            </a:avLst>
          </a:prstGeom>
          <a:solidFill>
            <a:srgbClr val="E3ECF8"/>
          </a:solidFill>
          <a:ln/>
        </p:spPr>
      </p:sp>
      <p:sp>
        <p:nvSpPr>
          <p:cNvPr id="20" name="Shape 16"/>
          <p:cNvSpPr/>
          <p:nvPr/>
        </p:nvSpPr>
        <p:spPr>
          <a:xfrm>
            <a:off x="5317236" y="1490472"/>
            <a:ext cx="777240" cy="7772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5511546" y="1684782"/>
            <a:ext cx="388620" cy="388620"/>
          </a:xfrm>
          <a:prstGeom prst="rect">
            <a:avLst/>
          </a:prstGeom>
        </p:spPr>
      </p:pic>
      <p:sp>
        <p:nvSpPr>
          <p:cNvPr id="22" name="Shape 17"/>
          <p:cNvSpPr/>
          <p:nvPr/>
        </p:nvSpPr>
        <p:spPr>
          <a:xfrm>
            <a:off x="6140196" y="1536192"/>
            <a:ext cx="685800" cy="685800"/>
          </a:xfrm>
          <a:prstGeom prst="ellipse">
            <a:avLst/>
          </a:prstGeom>
          <a:solidFill>
            <a:srgbClr val="14284B"/>
          </a:solidFill>
          <a:ln/>
        </p:spPr>
      </p:sp>
      <p:pic>
        <p:nvPicPr>
          <p:cNvPr id="23" name="Image 3" descr="preencoded.png">    </p:cNvPr>
          <p:cNvPicPr>
            <a:picLocks noChangeAspect="1"/>
          </p:cNvPicPr>
          <p:nvPr/>
        </p:nvPicPr>
        <p:blipFill>
          <a:blip r:embed="rId4"/>
          <a:stretch>
            <a:fillRect/>
          </a:stretch>
        </p:blipFill>
        <p:spPr>
          <a:xfrm>
            <a:off x="6311646" y="1707642"/>
            <a:ext cx="342900" cy="342900"/>
          </a:xfrm>
          <a:prstGeom prst="rect">
            <a:avLst/>
          </a:prstGeom>
        </p:spPr>
      </p:pic>
      <p:sp>
        <p:nvSpPr>
          <p:cNvPr id="24" name="Text 18"/>
          <p:cNvSpPr txBox="1"/>
          <p:nvPr/>
        </p:nvSpPr>
        <p:spPr>
          <a:xfrm>
            <a:off x="4594860" y="2560320"/>
            <a:ext cx="2999232" cy="384048"/>
          </a:xfrm>
          <a:prstGeom prst="rect">
            <a:avLst/>
          </a:prstGeom>
          <a:noFill/>
          <a:ln/>
        </p:spPr>
        <p:txBody>
          <a:bodyPr wrap="square" lIns="0" tIns="0" rIns="0" bIns="0" rtlCol="0" anchor="t"/>
          <a:lstStyle/>
          <a:p>
            <a:pPr indent="0" marL="0">
              <a:buNone/>
            </a:pPr>
            <a:r>
              <a:rPr lang="ko-KR" altLang="en-US" sz="2000" b="1" dirty="0">
                <a:solidFill>
                  <a:srgbClr val="1C2433"/>
                </a:solidFill>
                <a:latin typeface="맑은 고딕" pitchFamily="34" charset="0"/>
                <a:ea typeface="맑은 고딕" pitchFamily="34" charset="-122"/>
                <a:cs typeface="맑은 고딕" pitchFamily="34" charset="-120"/>
              </a:rPr>
              <a:t>Jigsaw Phishing Quiz</a:t>
            </a:r>
            <a:endParaRPr lang="ko-KR" sz="2000" dirty="0"/>
          </a:p>
        </p:txBody>
      </p:sp>
      <p:sp>
        <p:nvSpPr>
          <p:cNvPr id="25" name="Shape 19"/>
          <p:cNvSpPr/>
          <p:nvPr/>
        </p:nvSpPr>
        <p:spPr>
          <a:xfrm>
            <a:off x="4594860" y="2990088"/>
            <a:ext cx="2331720" cy="292608"/>
          </a:xfrm>
          <a:prstGeom prst="roundRect">
            <a:avLst>
              <a:gd name="adj" fmla="val 50000"/>
            </a:avLst>
          </a:prstGeom>
          <a:solidFill>
            <a:srgbClr val="7FA6D9"/>
          </a:solidFill>
          <a:ln/>
        </p:spPr>
      </p:sp>
      <p:sp>
        <p:nvSpPr>
          <p:cNvPr id="26" name="Text 20"/>
          <p:cNvSpPr txBox="1"/>
          <p:nvPr/>
        </p:nvSpPr>
        <p:spPr>
          <a:xfrm>
            <a:off x="4594860" y="2990088"/>
            <a:ext cx="2331720" cy="292608"/>
          </a:xfrm>
          <a:prstGeom prst="rect">
            <a:avLst/>
          </a:prstGeom>
          <a:noFill/>
          <a:ln/>
        </p:spPr>
        <p:txBody>
          <a:bodyPr wrap="square" lIns="0" tIns="0" rIns="0" bIns="0" rtlCol="0" anchor="ctr"/>
          <a:lstStyle/>
          <a:p>
            <a:pPr algn="ctr" indent="0" marL="0">
              <a:buNone/>
            </a:pPr>
            <a:r>
              <a:rPr lang="ko-KR" altLang="en-US" sz="1100" b="1" dirty="0">
                <a:solidFill>
                  <a:srgbClr val="06122A"/>
                </a:solidFill>
                <a:latin typeface="맑은 고딕" pitchFamily="34" charset="0"/>
                <a:ea typeface="맑은 고딕" pitchFamily="34" charset="-122"/>
                <a:cs typeface="맑은 고딕" pitchFamily="34" charset="-120"/>
              </a:rPr>
              <a:t>2019 공개 · 웹 퀴즈</a:t>
            </a:r>
            <a:endParaRPr lang="ko-KR" sz="1100" dirty="0"/>
          </a:p>
        </p:txBody>
      </p:sp>
      <p:sp>
        <p:nvSpPr>
          <p:cNvPr id="27" name="Text 21"/>
          <p:cNvSpPr txBox="1"/>
          <p:nvPr/>
        </p:nvSpPr>
        <p:spPr>
          <a:xfrm>
            <a:off x="4594860" y="3429000"/>
            <a:ext cx="2286000" cy="256032"/>
          </a:xfrm>
          <a:prstGeom prst="rect">
            <a:avLst/>
          </a:prstGeom>
          <a:noFill/>
          <a:ln/>
        </p:spPr>
        <p:txBody>
          <a:bodyPr wrap="square" lIns="0" tIns="0" rIns="0" bIns="0" rtlCol="0" anchor="t"/>
          <a:lstStyle/>
          <a:p>
            <a:pPr indent="0" marL="0">
              <a:buNone/>
            </a:pPr>
            <a:r>
              <a:rPr lang="ko-KR" altLang="en-US" sz="1200" b="1" dirty="0">
                <a:solidFill>
                  <a:srgbClr val="0E7C7B"/>
                </a:solidFill>
                <a:latin typeface="맑은 고딕" pitchFamily="34" charset="0"/>
                <a:ea typeface="맑은 고딕" pitchFamily="34" charset="-122"/>
                <a:cs typeface="맑은 고딕" pitchFamily="34" charset="-120"/>
              </a:rPr>
              <a:t>핵심 메커니즘</a:t>
            </a:r>
            <a:endParaRPr lang="ko-KR" sz="1200" dirty="0"/>
          </a:p>
        </p:txBody>
      </p:sp>
      <p:sp>
        <p:nvSpPr>
          <p:cNvPr id="28" name="Text 22"/>
          <p:cNvSpPr txBox="1"/>
          <p:nvPr/>
        </p:nvSpPr>
        <p:spPr>
          <a:xfrm>
            <a:off x="4594860" y="3703320"/>
            <a:ext cx="3044952" cy="914400"/>
          </a:xfrm>
          <a:prstGeom prst="rect">
            <a:avLst/>
          </a:prstGeom>
          <a:noFill/>
          <a:ln/>
        </p:spPr>
        <p:txBody>
          <a:bodyPr wrap="square" lIns="0" tIns="0" rIns="0" bIns="0" rtlCol="0" anchor="t"/>
          <a:lstStyle/>
          <a:p>
            <a:pPr marL="177800" indent="-177800">
              <a:spcAft>
                <a:spcPts val="300"/>
              </a:spcAft>
              <a:buSzPct val="100000"/>
              <a:buChar char="•"/>
            </a:pPr>
            <a:r>
              <a:rPr lang="ko-KR" altLang="en-US" sz="1500" dirty="0">
                <a:solidFill>
                  <a:srgbClr val="1C2433"/>
                </a:solidFill>
                <a:latin typeface="맑은 고딕" pitchFamily="34" charset="0"/>
                <a:ea typeface="맑은 고딕" pitchFamily="34" charset="-122"/>
                <a:cs typeface="맑은 고딕" pitchFamily="34" charset="-120"/>
              </a:rPr>
              <a:t>이메일 정상·피싱 판별</a:t>
            </a:r>
            <a:endParaRPr lang="ko-KR" sz="1500" dirty="0"/>
          </a:p>
          <a:p>
            <a:pPr marL="177800" indent="-177800">
              <a:spcAft>
                <a:spcPts val="300"/>
              </a:spcAft>
              <a:buSzPct val="100000"/>
              <a:buChar char="•"/>
            </a:pPr>
            <a:r>
              <a:rPr lang="ko-KR" altLang="en-US" sz="1500" dirty="0">
                <a:solidFill>
                  <a:srgbClr val="1C2433"/>
                </a:solidFill>
                <a:latin typeface="맑은 고딕" pitchFamily="34" charset="0"/>
                <a:ea typeface="맑은 고딕" pitchFamily="34" charset="-122"/>
                <a:cs typeface="맑은 고딕" pitchFamily="34" charset="-120"/>
              </a:rPr>
              <a:t>피싱 단서 탐지</a:t>
            </a:r>
            <a:endParaRPr lang="ko-KR" sz="1500" dirty="0"/>
          </a:p>
          <a:p>
            <a:pPr marL="177800" indent="-177800">
              <a:spcAft>
                <a:spcPts val="300"/>
              </a:spcAft>
              <a:buSzPct val="100000"/>
              <a:buChar char="•"/>
            </a:pPr>
            <a:r>
              <a:rPr lang="ko-KR" altLang="en-US" sz="1500" dirty="0">
                <a:solidFill>
                  <a:srgbClr val="1C2433"/>
                </a:solidFill>
                <a:latin typeface="맑은 고딕" pitchFamily="34" charset="0"/>
                <a:ea typeface="맑은 고딕" pitchFamily="34" charset="-122"/>
                <a:cs typeface="맑은 고딕" pitchFamily="34" charset="-120"/>
              </a:rPr>
              <a:t>문항별 즉각 해설 피드백</a:t>
            </a:r>
            <a:endParaRPr lang="ko-KR" sz="1500" dirty="0"/>
          </a:p>
        </p:txBody>
      </p:sp>
      <p:sp>
        <p:nvSpPr>
          <p:cNvPr id="29" name="Text 23"/>
          <p:cNvSpPr txBox="1"/>
          <p:nvPr/>
        </p:nvSpPr>
        <p:spPr>
          <a:xfrm>
            <a:off x="4594860" y="4645152"/>
            <a:ext cx="2743200" cy="237744"/>
          </a:xfrm>
          <a:prstGeom prst="rect">
            <a:avLst/>
          </a:prstGeom>
          <a:noFill/>
          <a:ln/>
        </p:spPr>
        <p:txBody>
          <a:bodyPr wrap="square" lIns="0" tIns="0" rIns="0" bIns="0" rtlCol="0" anchor="t"/>
          <a:lstStyle/>
          <a:p>
            <a:pPr indent="0" marL="0">
              <a:buNone/>
            </a:pPr>
            <a:r>
              <a:rPr lang="ko-KR" altLang="en-US" sz="1200" b="1" dirty="0">
                <a:solidFill>
                  <a:srgbClr val="0E7C7B"/>
                </a:solidFill>
                <a:latin typeface="맑은 고딕" pitchFamily="34" charset="0"/>
                <a:ea typeface="맑은 고딕" pitchFamily="34" charset="-122"/>
                <a:cs typeface="맑은 고딕" pitchFamily="34" charset="-120"/>
              </a:rPr>
              <a:t>DIGITAL GUARD가 참고할 점</a:t>
            </a:r>
            <a:endParaRPr lang="ko-KR" sz="1200" dirty="0"/>
          </a:p>
        </p:txBody>
      </p:sp>
      <p:sp>
        <p:nvSpPr>
          <p:cNvPr id="30" name="Text 24"/>
          <p:cNvSpPr txBox="1"/>
          <p:nvPr/>
        </p:nvSpPr>
        <p:spPr>
          <a:xfrm>
            <a:off x="4594860" y="4892040"/>
            <a:ext cx="3044952" cy="320040"/>
          </a:xfrm>
          <a:prstGeom prst="rect">
            <a:avLst/>
          </a:prstGeom>
          <a:noFill/>
          <a:ln/>
        </p:spPr>
        <p:txBody>
          <a:bodyPr wrap="square" lIns="0" tIns="0" rIns="0" bIns="0" rtlCol="0" anchor="t"/>
          <a:lstStyle/>
          <a:p>
            <a:pPr indent="0" marL="0">
              <a:buNone/>
            </a:pPr>
            <a:r>
              <a:rPr lang="ko-KR" altLang="en-US" sz="1500" b="1" dirty="0">
                <a:solidFill>
                  <a:srgbClr val="1C2433"/>
                </a:solidFill>
                <a:latin typeface="맑은 고딕" pitchFamily="34" charset="0"/>
                <a:ea typeface="맑은 고딕" pitchFamily="34" charset="-122"/>
                <a:cs typeface="맑은 고딕" pitchFamily="34" charset="-120"/>
              </a:rPr>
              <a:t>즉각 피드백과 낮은 진입 장벽</a:t>
            </a:r>
            <a:endParaRPr lang="ko-KR" sz="1500" dirty="0"/>
          </a:p>
        </p:txBody>
      </p:sp>
      <p:sp>
        <p:nvSpPr>
          <p:cNvPr id="31" name="card-2"/>
          <p:cNvSpPr/>
          <p:nvPr/>
        </p:nvSpPr>
        <p:spPr>
          <a:xfrm>
            <a:off x="8183880" y="1188720"/>
            <a:ext cx="3456432" cy="4160520"/>
          </a:xfrm>
          <a:prstGeom prst="roundRect">
            <a:avLst>
              <a:gd name="adj" fmla="val 3704"/>
            </a:avLst>
          </a:prstGeom>
          <a:solidFill>
            <a:srgbClr val="F4F6FA"/>
          </a:solidFill>
          <a:ln/>
          <a:effectLst>
            <a:outerShdw sx="100000" sy="100000" kx="0" ky="0" algn="bl" rotWithShape="0" blurRad="127000" dist="38100" dir="5400000">
              <a:srgbClr val="000000">
                <a:alpha val="35000"/>
              </a:srgbClr>
            </a:outerShdw>
          </a:effectLst>
        </p:spPr>
      </p:sp>
      <p:sp>
        <p:nvSpPr>
          <p:cNvPr id="32" name="Shape 26"/>
          <p:cNvSpPr/>
          <p:nvPr/>
        </p:nvSpPr>
        <p:spPr>
          <a:xfrm>
            <a:off x="8321040" y="1325880"/>
            <a:ext cx="3182112" cy="1097280"/>
          </a:xfrm>
          <a:prstGeom prst="roundRect">
            <a:avLst>
              <a:gd name="adj" fmla="val 8333"/>
            </a:avLst>
          </a:prstGeom>
          <a:solidFill>
            <a:srgbClr val="F4E6EA"/>
          </a:solidFill>
          <a:ln/>
        </p:spPr>
      </p:sp>
      <p:sp>
        <p:nvSpPr>
          <p:cNvPr id="33" name="Shape 27"/>
          <p:cNvSpPr/>
          <p:nvPr/>
        </p:nvSpPr>
        <p:spPr>
          <a:xfrm>
            <a:off x="9134856" y="1490472"/>
            <a:ext cx="777240" cy="777240"/>
          </a:xfrm>
          <a:prstGeom prst="ellipse">
            <a:avLst/>
          </a:prstGeom>
          <a:solidFill>
            <a:srgbClr val="FFFFFF"/>
          </a:solidFill>
          <a:ln/>
        </p:spPr>
      </p:sp>
      <p:pic>
        <p:nvPicPr>
          <p:cNvPr id="34" name="Image 4" descr="preencoded.png">    </p:cNvPr>
          <p:cNvPicPr>
            <a:picLocks noChangeAspect="1"/>
          </p:cNvPicPr>
          <p:nvPr/>
        </p:nvPicPr>
        <p:blipFill>
          <a:blip r:embed="rId5"/>
          <a:stretch>
            <a:fillRect/>
          </a:stretch>
        </p:blipFill>
        <p:spPr>
          <a:xfrm>
            <a:off x="9329166" y="1684782"/>
            <a:ext cx="388620" cy="388620"/>
          </a:xfrm>
          <a:prstGeom prst="rect">
            <a:avLst/>
          </a:prstGeom>
        </p:spPr>
      </p:pic>
      <p:sp>
        <p:nvSpPr>
          <p:cNvPr id="35" name="Shape 28"/>
          <p:cNvSpPr/>
          <p:nvPr/>
        </p:nvSpPr>
        <p:spPr>
          <a:xfrm>
            <a:off x="9957816" y="1536192"/>
            <a:ext cx="685800" cy="685800"/>
          </a:xfrm>
          <a:prstGeom prst="ellipse">
            <a:avLst/>
          </a:prstGeom>
          <a:solidFill>
            <a:srgbClr val="14284B"/>
          </a:solidFill>
          <a:ln/>
        </p:spPr>
      </p:sp>
      <p:pic>
        <p:nvPicPr>
          <p:cNvPr id="36" name="Image 5" descr="preencoded.png">    </p:cNvPr>
          <p:cNvPicPr>
            <a:picLocks noChangeAspect="1"/>
          </p:cNvPicPr>
          <p:nvPr/>
        </p:nvPicPr>
        <p:blipFill>
          <a:blip r:embed="rId6"/>
          <a:stretch>
            <a:fillRect/>
          </a:stretch>
        </p:blipFill>
        <p:spPr>
          <a:xfrm>
            <a:off x="10129266" y="1707642"/>
            <a:ext cx="342900" cy="342900"/>
          </a:xfrm>
          <a:prstGeom prst="rect">
            <a:avLst/>
          </a:prstGeom>
        </p:spPr>
      </p:pic>
      <p:sp>
        <p:nvSpPr>
          <p:cNvPr id="37" name="Text 29"/>
          <p:cNvSpPr txBox="1"/>
          <p:nvPr/>
        </p:nvSpPr>
        <p:spPr>
          <a:xfrm>
            <a:off x="8412480" y="2560320"/>
            <a:ext cx="2999232" cy="384048"/>
          </a:xfrm>
          <a:prstGeom prst="rect">
            <a:avLst/>
          </a:prstGeom>
          <a:noFill/>
          <a:ln/>
        </p:spPr>
        <p:txBody>
          <a:bodyPr wrap="square" lIns="0" tIns="0" rIns="0" bIns="0" rtlCol="0" anchor="t"/>
          <a:lstStyle/>
          <a:p>
            <a:pPr indent="0" marL="0">
              <a:buNone/>
            </a:pPr>
            <a:r>
              <a:rPr lang="ko-KR" altLang="en-US" sz="2000" b="1" dirty="0">
                <a:solidFill>
                  <a:srgbClr val="1C2433"/>
                </a:solidFill>
                <a:latin typeface="맑은 고딕" pitchFamily="34" charset="0"/>
                <a:ea typeface="맑은 고딕" pitchFamily="34" charset="-122"/>
                <a:cs typeface="맑은 고딕" pitchFamily="34" charset="-120"/>
              </a:rPr>
              <a:t>CyberStart</a:t>
            </a:r>
            <a:endParaRPr lang="ko-KR" sz="2000" dirty="0"/>
          </a:p>
        </p:txBody>
      </p:sp>
      <p:sp>
        <p:nvSpPr>
          <p:cNvPr id="38" name="Shape 30"/>
          <p:cNvSpPr/>
          <p:nvPr/>
        </p:nvSpPr>
        <p:spPr>
          <a:xfrm>
            <a:off x="8412480" y="2990088"/>
            <a:ext cx="2331720" cy="292608"/>
          </a:xfrm>
          <a:prstGeom prst="roundRect">
            <a:avLst>
              <a:gd name="adj" fmla="val 50000"/>
            </a:avLst>
          </a:prstGeom>
          <a:solidFill>
            <a:srgbClr val="FF6B5E"/>
          </a:solidFill>
          <a:ln/>
        </p:spPr>
      </p:sp>
      <p:sp>
        <p:nvSpPr>
          <p:cNvPr id="39" name="Text 31"/>
          <p:cNvSpPr txBox="1"/>
          <p:nvPr/>
        </p:nvSpPr>
        <p:spPr>
          <a:xfrm>
            <a:off x="8412480" y="2990088"/>
            <a:ext cx="2331720" cy="292608"/>
          </a:xfrm>
          <a:prstGeom prst="rect">
            <a:avLst/>
          </a:prstGeom>
          <a:noFill/>
          <a:ln/>
        </p:spPr>
        <p:txBody>
          <a:bodyPr wrap="square" lIns="0" tIns="0" rIns="0" bIns="0" rtlCol="0" anchor="ctr"/>
          <a:lstStyle/>
          <a:p>
            <a:pPr algn="ctr" indent="0" marL="0">
              <a:buNone/>
            </a:pPr>
            <a:r>
              <a:rPr lang="ko-KR" altLang="en-US" sz="1100" b="1" dirty="0">
                <a:solidFill>
                  <a:srgbClr val="06122A"/>
                </a:solidFill>
                <a:latin typeface="맑은 고딕" pitchFamily="34" charset="0"/>
                <a:ea typeface="맑은 고딕" pitchFamily="34" charset="-122"/>
                <a:cs typeface="맑은 고딕" pitchFamily="34" charset="-120"/>
              </a:rPr>
              <a:t>2024년 종료 · 과거 사례</a:t>
            </a:r>
            <a:endParaRPr lang="ko-KR" sz="1100" dirty="0"/>
          </a:p>
        </p:txBody>
      </p:sp>
      <p:sp>
        <p:nvSpPr>
          <p:cNvPr id="40" name="Text 32"/>
          <p:cNvSpPr txBox="1"/>
          <p:nvPr/>
        </p:nvSpPr>
        <p:spPr>
          <a:xfrm>
            <a:off x="8412480" y="3429000"/>
            <a:ext cx="2286000" cy="256032"/>
          </a:xfrm>
          <a:prstGeom prst="rect">
            <a:avLst/>
          </a:prstGeom>
          <a:noFill/>
          <a:ln/>
        </p:spPr>
        <p:txBody>
          <a:bodyPr wrap="square" lIns="0" tIns="0" rIns="0" bIns="0" rtlCol="0" anchor="t"/>
          <a:lstStyle/>
          <a:p>
            <a:pPr indent="0" marL="0">
              <a:buNone/>
            </a:pPr>
            <a:r>
              <a:rPr lang="ko-KR" altLang="en-US" sz="1200" b="1" dirty="0">
                <a:solidFill>
                  <a:srgbClr val="0E7C7B"/>
                </a:solidFill>
                <a:latin typeface="맑은 고딕" pitchFamily="34" charset="0"/>
                <a:ea typeface="맑은 고딕" pitchFamily="34" charset="-122"/>
                <a:cs typeface="맑은 고딕" pitchFamily="34" charset="-120"/>
              </a:rPr>
              <a:t>핵심 메커니즘</a:t>
            </a:r>
            <a:endParaRPr lang="ko-KR" sz="1200" dirty="0"/>
          </a:p>
        </p:txBody>
      </p:sp>
      <p:sp>
        <p:nvSpPr>
          <p:cNvPr id="41" name="Text 33"/>
          <p:cNvSpPr txBox="1"/>
          <p:nvPr/>
        </p:nvSpPr>
        <p:spPr>
          <a:xfrm>
            <a:off x="8412480" y="3703320"/>
            <a:ext cx="3044952" cy="914400"/>
          </a:xfrm>
          <a:prstGeom prst="rect">
            <a:avLst/>
          </a:prstGeom>
          <a:noFill/>
          <a:ln/>
        </p:spPr>
        <p:txBody>
          <a:bodyPr wrap="square" lIns="0" tIns="0" rIns="0" bIns="0" rtlCol="0" anchor="t"/>
          <a:lstStyle/>
          <a:p>
            <a:pPr marL="177800" indent="-177800">
              <a:spcAft>
                <a:spcPts val="300"/>
              </a:spcAft>
              <a:buSzPct val="100000"/>
              <a:buChar char="•"/>
            </a:pPr>
            <a:r>
              <a:rPr lang="ko-KR" altLang="en-US" sz="1500" dirty="0">
                <a:solidFill>
                  <a:srgbClr val="1C2433"/>
                </a:solidFill>
                <a:latin typeface="맑은 고딕" pitchFamily="34" charset="0"/>
                <a:ea typeface="맑은 고딕" pitchFamily="34" charset="-122"/>
                <a:cs typeface="맑은 고딕" pitchFamily="34" charset="-120"/>
              </a:rPr>
              <a:t>단계별 보안 퍼즐·챌린지</a:t>
            </a:r>
            <a:endParaRPr lang="ko-KR" sz="1500" dirty="0"/>
          </a:p>
          <a:p>
            <a:pPr marL="177800" indent="-177800">
              <a:spcAft>
                <a:spcPts val="300"/>
              </a:spcAft>
              <a:buSzPct val="100000"/>
              <a:buChar char="•"/>
            </a:pPr>
            <a:r>
              <a:rPr lang="ko-KR" altLang="en-US" sz="1500" dirty="0">
                <a:solidFill>
                  <a:srgbClr val="1C2433"/>
                </a:solidFill>
                <a:latin typeface="맑은 고딕" pitchFamily="34" charset="0"/>
                <a:ea typeface="맑은 고딕" pitchFamily="34" charset="-122"/>
                <a:cs typeface="맑은 고딕" pitchFamily="34" charset="-120"/>
              </a:rPr>
              <a:t>힌트·필드 매뉴얼로 학습 지원</a:t>
            </a:r>
            <a:endParaRPr lang="ko-KR" sz="1500" dirty="0"/>
          </a:p>
          <a:p>
            <a:pPr marL="177800" indent="-177800">
              <a:spcAft>
                <a:spcPts val="300"/>
              </a:spcAft>
              <a:buSzPct val="100000"/>
              <a:buChar char="•"/>
            </a:pPr>
            <a:r>
              <a:rPr lang="ko-KR" altLang="en-US" sz="1500" dirty="0">
                <a:solidFill>
                  <a:srgbClr val="1C2433"/>
                </a:solidFill>
                <a:latin typeface="맑은 고딕" pitchFamily="34" charset="0"/>
                <a:ea typeface="맑은 고딕" pitchFamily="34" charset="-122"/>
                <a:cs typeface="맑은 고딕" pitchFamily="34" charset="-120"/>
              </a:rPr>
              <a:t>기술 중심 보안 학습</a:t>
            </a:r>
            <a:endParaRPr lang="ko-KR" sz="1500" dirty="0"/>
          </a:p>
        </p:txBody>
      </p:sp>
      <p:sp>
        <p:nvSpPr>
          <p:cNvPr id="42" name="Text 34"/>
          <p:cNvSpPr txBox="1"/>
          <p:nvPr/>
        </p:nvSpPr>
        <p:spPr>
          <a:xfrm>
            <a:off x="8412480" y="4645152"/>
            <a:ext cx="2743200" cy="237744"/>
          </a:xfrm>
          <a:prstGeom prst="rect">
            <a:avLst/>
          </a:prstGeom>
          <a:noFill/>
          <a:ln/>
        </p:spPr>
        <p:txBody>
          <a:bodyPr wrap="square" lIns="0" tIns="0" rIns="0" bIns="0" rtlCol="0" anchor="t"/>
          <a:lstStyle/>
          <a:p>
            <a:pPr indent="0" marL="0">
              <a:buNone/>
            </a:pPr>
            <a:r>
              <a:rPr lang="ko-KR" altLang="en-US" sz="1200" b="1" dirty="0">
                <a:solidFill>
                  <a:srgbClr val="0E7C7B"/>
                </a:solidFill>
                <a:latin typeface="맑은 고딕" pitchFamily="34" charset="0"/>
                <a:ea typeface="맑은 고딕" pitchFamily="34" charset="-122"/>
                <a:cs typeface="맑은 고딕" pitchFamily="34" charset="-120"/>
              </a:rPr>
              <a:t>DIGITAL GUARD가 참고할 점</a:t>
            </a:r>
            <a:endParaRPr lang="ko-KR" sz="1200" dirty="0"/>
          </a:p>
        </p:txBody>
      </p:sp>
      <p:sp>
        <p:nvSpPr>
          <p:cNvPr id="43" name="Text 35"/>
          <p:cNvSpPr txBox="1"/>
          <p:nvPr/>
        </p:nvSpPr>
        <p:spPr>
          <a:xfrm>
            <a:off x="8412480" y="4892040"/>
            <a:ext cx="3044952" cy="320040"/>
          </a:xfrm>
          <a:prstGeom prst="rect">
            <a:avLst/>
          </a:prstGeom>
          <a:noFill/>
          <a:ln/>
        </p:spPr>
        <p:txBody>
          <a:bodyPr wrap="square" lIns="0" tIns="0" rIns="0" bIns="0" rtlCol="0" anchor="t"/>
          <a:lstStyle/>
          <a:p>
            <a:pPr indent="0" marL="0">
              <a:buNone/>
            </a:pPr>
            <a:r>
              <a:rPr lang="ko-KR" altLang="en-US" sz="1500" b="1" dirty="0">
                <a:solidFill>
                  <a:srgbClr val="1C2433"/>
                </a:solidFill>
                <a:latin typeface="맑은 고딕" pitchFamily="34" charset="0"/>
                <a:ea typeface="맑은 고딕" pitchFamily="34" charset="-122"/>
                <a:cs typeface="맑은 고딕" pitchFamily="34" charset="-120"/>
              </a:rPr>
              <a:t>단계 진행과 힌트 구조</a:t>
            </a:r>
            <a:endParaRPr lang="ko-KR" sz="1500" dirty="0"/>
          </a:p>
        </p:txBody>
      </p:sp>
      <p:sp>
        <p:nvSpPr>
          <p:cNvPr id="44" name="Text 36"/>
          <p:cNvSpPr txBox="1"/>
          <p:nvPr/>
        </p:nvSpPr>
        <p:spPr>
          <a:xfrm>
            <a:off x="548640" y="5468112"/>
            <a:ext cx="11064240" cy="566928"/>
          </a:xfrm>
          <a:prstGeom prst="rect">
            <a:avLst/>
          </a:prstGeom>
          <a:noFill/>
          <a:ln/>
        </p:spPr>
        <p:txBody>
          <a:bodyPr wrap="square" lIns="0" tIns="0" rIns="0" bIns="0" rtlCol="0" anchor="t"/>
          <a:lstStyle/>
          <a:p>
            <a:pPr indent="0" marL="0">
              <a:buNone/>
            </a:pPr>
            <a:r>
              <a:rPr lang="ko-KR" altLang="en-US" sz="1600" b="1" dirty="0">
                <a:solidFill>
                  <a:srgbClr val="19B3B1"/>
                </a:solidFill>
                <a:latin typeface="맑은 고딕" pitchFamily="34" charset="0"/>
                <a:ea typeface="맑은 고딕" pitchFamily="34" charset="-122"/>
                <a:cs typeface="맑은 고딕" pitchFamily="34" charset="-120"/>
              </a:rPr>
              <a:t>공통점 </a:t>
            </a:r>
            <a:pPr indent="0" marL="0">
              <a:buNone/>
            </a:pPr>
            <a:r>
              <a:rPr lang="ko-KR" altLang="en-US" sz="1600" dirty="0">
                <a:solidFill>
                  <a:srgbClr val="FFFFFF"/>
                </a:solidFill>
                <a:latin typeface="맑은 고딕" pitchFamily="34" charset="0"/>
                <a:ea typeface="맑은 고딕" pitchFamily="34" charset="-122"/>
                <a:cs typeface="맑은 고딕" pitchFamily="34" charset="-120"/>
              </a:rPr>
              <a:t>단서를 찾아 판단하고 피드백을 받는다.   </a:t>
            </a:r>
            <a:pPr indent="0" marL="0">
              <a:buNone/>
            </a:pPr>
            <a:r>
              <a:rPr lang="ko-KR" altLang="en-US" sz="1600" b="1" dirty="0">
                <a:solidFill>
                  <a:srgbClr val="19B3B1"/>
                </a:solidFill>
                <a:latin typeface="맑은 고딕" pitchFamily="34" charset="0"/>
                <a:ea typeface="맑은 고딕" pitchFamily="34" charset="-122"/>
                <a:cs typeface="맑은 고딕" pitchFamily="34" charset="-120"/>
              </a:rPr>
              <a:t>차이점 </a:t>
            </a:r>
            <a:pPr indent="0" marL="0">
              <a:buNone/>
            </a:pPr>
            <a:r>
              <a:rPr lang="ko-KR" altLang="en-US" sz="1600" dirty="0">
                <a:solidFill>
                  <a:srgbClr val="FFFFFF"/>
                </a:solidFill>
                <a:latin typeface="맑은 고딕" pitchFamily="34" charset="0"/>
                <a:ea typeface="맑은 고딕" pitchFamily="34" charset="-122"/>
                <a:cs typeface="맑은 고딕" pitchFamily="34" charset="-120"/>
              </a:rPr>
              <a:t>여러 문서를 대조해 승인·거부·추가 확인을 고르는 모든 세대를 위한 모바일 경험이 DIGITAL GUARD의 목표다.</a:t>
            </a:r>
            <a:endParaRPr lang="ko-KR" sz="1600" dirty="0"/>
          </a:p>
        </p:txBody>
      </p:sp>
      <p:sp>
        <p:nvSpPr>
          <p:cNvPr id="45" name="Text 37"/>
          <p:cNvSpPr txBox="1"/>
          <p:nvPr/>
        </p:nvSpPr>
        <p:spPr>
          <a:xfrm>
            <a:off x="548640" y="6053328"/>
            <a:ext cx="11064240" cy="347472"/>
          </a:xfrm>
          <a:prstGeom prst="rect">
            <a:avLst/>
          </a:prstGeom>
          <a:noFill/>
          <a:ln/>
        </p:spPr>
        <p:txBody>
          <a:bodyPr wrap="square" lIns="0" tIns="0" rIns="0" bIns="0" rtlCol="0" anchor="t"/>
          <a:lstStyle/>
          <a:p>
            <a:pPr indent="0" marL="0">
              <a:buNone/>
            </a:pPr>
            <a:r>
              <a:rPr lang="ko-KR" altLang="en-US" sz="950" dirty="0">
                <a:solidFill>
                  <a:srgbClr val="8197B5"/>
                </a:solidFill>
                <a:latin typeface="맑은 고딕" pitchFamily="34" charset="0"/>
                <a:ea typeface="맑은 고딕" pitchFamily="34" charset="-122"/>
                <a:cs typeface="맑은 고딕" pitchFamily="34" charset="-120"/>
              </a:rPr>
              <a:t>출처: Pocket Gamer(2022.07) Papers, Please iOS·Android 출시 보도 / Dark Reading(2019.01.23) “Google Creates Online Phishing Quiz” / HackerDNA(2026) “CyberStart Closed” — 2026년 10월 조사. 대표 이미지는 이해를 돕기 위한 일러스트(실제 화면 아님).</a:t>
            </a:r>
            <a:endParaRPr lang="ko-KR" sz="9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맑은 고딕"/>
                <a:ea typeface="맑은 고딕"/>
                <a:cs typeface="맑은 고딕"/>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658368"/>
          </a:xfrm>
          <a:prstGeom prst="rect">
            <a:avLst/>
          </a:prstGeom>
          <a:noFill/>
          <a:ln/>
        </p:spPr>
        <p:txBody>
          <a:bodyPr wrap="square" lIns="0" tIns="0" rIns="0" bIns="0" rtlCol="0" anchor="ctr"/>
          <a:lstStyle/>
          <a:p>
            <a:pPr algn="l" indent="0" marL="0">
              <a:buNone/>
            </a:pPr>
            <a:r>
              <a:rPr lang="en-US" sz="3000" b="1" dirty="0">
                <a:solidFill>
                  <a:srgbClr val="FFFFFF"/>
                </a:solidFill>
                <a:latin typeface="맑은 고딕" pitchFamily="34" charset="0"/>
                <a:ea typeface="맑은 고딕" pitchFamily="34" charset="-122"/>
                <a:cs typeface="맑은 고딕" pitchFamily="34" charset="-120"/>
              </a:rPr>
              <a:t>기존 게임과 DIGITAL GUARD의 차이</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91672" cy="914400"/>
        </p:xfrm>
        <a:graphic>
          <a:graphicData uri="http://schemas.openxmlformats.org/drawingml/2006/table">
            <a:tbl>
              <a:tblPr/>
              <a:tblGrid>
                <a:gridCol w="1581912"/>
                <a:gridCol w="2377440"/>
                <a:gridCol w="2377440"/>
                <a:gridCol w="2377440"/>
                <a:gridCol w="2377440"/>
              </a:tblGrid>
              <a:tr h="484632">
                <a:tc>
                  <a:txBody>
                    <a:bodyPr/>
                    <a:lstStyle/>
                    <a:p>
                      <a:pPr algn="ctr" indent="0" marL="0">
                        <a:buNone/>
                      </a:pPr>
                      <a:r>
                        <a:rPr lang="ko-KR" altLang="en-US" sz="1400" b="1" dirty="0">
                          <a:solidFill>
                            <a:srgbClr val="FFFFFF"/>
                          </a:solidFill>
                          <a:latin typeface="맑은 고딕" pitchFamily="34" charset="0"/>
                          <a:ea typeface="맑은 고딕" pitchFamily="34" charset="-122"/>
                          <a:cs typeface="맑은 고딕" pitchFamily="34" charset="-120"/>
                        </a:rPr>
                        <a:t>비교 항목</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1E3A66"/>
                    </a:solidFill>
                  </a:tcPr>
                </a:tc>
                <a:tc>
                  <a:txBody>
                    <a:bodyPr/>
                    <a:lstStyle/>
                    <a:p>
                      <a:pPr algn="ctr" indent="0" marL="0">
                        <a:buNone/>
                      </a:pPr>
                      <a:r>
                        <a:rPr lang="ko-KR" altLang="en-US" sz="1400" b="1" dirty="0">
                          <a:solidFill>
                            <a:srgbClr val="FFFFFF"/>
                          </a:solidFill>
                          <a:latin typeface="맑은 고딕" pitchFamily="34" charset="0"/>
                          <a:ea typeface="맑은 고딕" pitchFamily="34" charset="-122"/>
                          <a:cs typeface="맑은 고딕" pitchFamily="34" charset="-120"/>
                        </a:rPr>
                        <a:t>Papers, Please</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1E3A66"/>
                    </a:solidFill>
                  </a:tcPr>
                </a:tc>
                <a:tc>
                  <a:txBody>
                    <a:bodyPr/>
                    <a:lstStyle/>
                    <a:p>
                      <a:pPr algn="ctr" indent="0" marL="0">
                        <a:buNone/>
                      </a:pPr>
                      <a:r>
                        <a:rPr lang="ko-KR" altLang="en-US" sz="1400" b="1" dirty="0">
                          <a:solidFill>
                            <a:srgbClr val="FFFFFF"/>
                          </a:solidFill>
                          <a:latin typeface="맑은 고딕" pitchFamily="34" charset="0"/>
                          <a:ea typeface="맑은 고딕" pitchFamily="34" charset="-122"/>
                          <a:cs typeface="맑은 고딕" pitchFamily="34" charset="-120"/>
                        </a:rPr>
                        <a:t>Jigsaw Phishing Quiz</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1E3A66"/>
                    </a:solidFill>
                  </a:tcPr>
                </a:tc>
                <a:tc>
                  <a:txBody>
                    <a:bodyPr/>
                    <a:lstStyle/>
                    <a:p>
                      <a:pPr algn="ctr" indent="0" marL="0">
                        <a:buNone/>
                      </a:pPr>
                      <a:r>
                        <a:rPr lang="ko-KR" altLang="en-US" sz="1400" b="1" dirty="0">
                          <a:solidFill>
                            <a:srgbClr val="FFFFFF"/>
                          </a:solidFill>
                          <a:latin typeface="맑은 고딕" pitchFamily="34" charset="0"/>
                          <a:ea typeface="맑은 고딕" pitchFamily="34" charset="-122"/>
                          <a:cs typeface="맑은 고딕" pitchFamily="34" charset="-120"/>
                        </a:rPr>
                        <a:t>CyberStart</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1E3A66"/>
                    </a:solidFill>
                  </a:tcPr>
                </a:tc>
                <a:tc>
                  <a:txBody>
                    <a:bodyPr/>
                    <a:lstStyle/>
                    <a:p>
                      <a:pPr algn="ctr" indent="0" marL="0">
                        <a:buNone/>
                      </a:pPr>
                      <a:r>
                        <a:rPr lang="ko-KR" altLang="en-US" sz="1600" b="1" dirty="0">
                          <a:solidFill>
                            <a:srgbClr val="FFFFFF"/>
                          </a:solidFill>
                          <a:latin typeface="맑은 고딕" pitchFamily="34" charset="0"/>
                          <a:ea typeface="맑은 고딕" pitchFamily="34" charset="-122"/>
                          <a:cs typeface="맑은 고딕" pitchFamily="34" charset="-120"/>
                        </a:rPr>
                        <a:t>DIGITAL GUARD</a:t>
                      </a:r>
                      <a:endParaRPr lang="ko-KR" sz="16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0E7C7B"/>
                    </a:solidFill>
                  </a:tcPr>
                </a:tc>
              </a:tr>
              <a:tr h="484632">
                <a:tc>
                  <a:txBody>
                    <a:bodyPr/>
                    <a:lstStyle/>
                    <a:p>
                      <a:pPr algn="l" indent="0" marL="0">
                        <a:buNone/>
                      </a:pPr>
                      <a:r>
                        <a:rPr lang="ko-KR" altLang="en-US" sz="1400" b="1" dirty="0">
                          <a:solidFill>
                            <a:srgbClr val="FFFFFF"/>
                          </a:solidFill>
                          <a:latin typeface="맑은 고딕" pitchFamily="34" charset="0"/>
                          <a:ea typeface="맑은 고딕" pitchFamily="34" charset="-122"/>
                          <a:cs typeface="맑은 고딕" pitchFamily="34" charset="-120"/>
                        </a:rPr>
                        <a:t>주요 장르</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14284B"/>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문서 심사 시뮬레이션</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피싱 판별 퀴즈</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보안 퍼즐·챌린지</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b="1" dirty="0">
                          <a:solidFill>
                            <a:srgbClr val="FFFFFF"/>
                          </a:solidFill>
                          <a:latin typeface="맑은 고딕" pitchFamily="34" charset="0"/>
                          <a:ea typeface="맑은 고딕" pitchFamily="34" charset="-122"/>
                          <a:cs typeface="맑은 고딕" pitchFamily="34" charset="-120"/>
                        </a:rPr>
                        <a:t>모바일 심사 시뮬레이션</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0E7C7B"/>
                    </a:solidFill>
                  </a:tcPr>
                </a:tc>
              </a:tr>
              <a:tr h="484632">
                <a:tc>
                  <a:txBody>
                    <a:bodyPr/>
                    <a:lstStyle/>
                    <a:p>
                      <a:pPr algn="l" indent="0" marL="0">
                        <a:buNone/>
                      </a:pPr>
                      <a:r>
                        <a:rPr lang="ko-KR" altLang="en-US" sz="1400" b="1" dirty="0">
                          <a:solidFill>
                            <a:srgbClr val="FFFFFF"/>
                          </a:solidFill>
                          <a:latin typeface="맑은 고딕" pitchFamily="34" charset="0"/>
                          <a:ea typeface="맑은 고딕" pitchFamily="34" charset="-122"/>
                          <a:cs typeface="맑은 고딕" pitchFamily="34" charset="-120"/>
                        </a:rPr>
                        <a:t>주요 콘텐츠</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14284B"/>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입국 서류·규칙 검토</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E6ECF4"/>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이메일 식별</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E6ECF4"/>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보안 과제</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E6ECF4"/>
                    </a:solidFill>
                  </a:tcPr>
                </a:tc>
                <a:tc>
                  <a:txBody>
                    <a:bodyPr/>
                    <a:lstStyle/>
                    <a:p>
                      <a:pPr algn="ctr" indent="0" marL="0">
                        <a:buNone/>
                      </a:pPr>
                      <a:r>
                        <a:rPr lang="ko-KR" altLang="en-US" sz="1400" b="1" dirty="0">
                          <a:solidFill>
                            <a:srgbClr val="FFFFFF"/>
                          </a:solidFill>
                          <a:latin typeface="맑은 고딕" pitchFamily="34" charset="0"/>
                          <a:ea typeface="맑은 고딕" pitchFamily="34" charset="-122"/>
                          <a:cs typeface="맑은 고딕" pitchFamily="34" charset="-120"/>
                        </a:rPr>
                        <a:t>메시지·계정·파일·권한</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0E7C7B"/>
                    </a:solidFill>
                  </a:tcPr>
                </a:tc>
              </a:tr>
              <a:tr h="484632">
                <a:tc>
                  <a:txBody>
                    <a:bodyPr/>
                    <a:lstStyle/>
                    <a:p>
                      <a:pPr algn="l" indent="0" marL="0">
                        <a:buNone/>
                      </a:pPr>
                      <a:r>
                        <a:rPr lang="ko-KR" altLang="en-US" sz="1400" b="1" dirty="0">
                          <a:solidFill>
                            <a:srgbClr val="FFFFFF"/>
                          </a:solidFill>
                          <a:latin typeface="맑은 고딕" pitchFamily="34" charset="0"/>
                          <a:ea typeface="맑은 고딕" pitchFamily="34" charset="-122"/>
                          <a:cs typeface="맑은 고딕" pitchFamily="34" charset="-120"/>
                        </a:rPr>
                        <a:t>정보 대조</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14284B"/>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핵심</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제한적 (메일 단위)</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과제별 상이</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b="1" dirty="0">
                          <a:solidFill>
                            <a:srgbClr val="FFFFFF"/>
                          </a:solidFill>
                          <a:latin typeface="맑은 고딕" pitchFamily="34" charset="0"/>
                          <a:ea typeface="맑은 고딕" pitchFamily="34" charset="-122"/>
                          <a:cs typeface="맑은 고딕" pitchFamily="34" charset="-120"/>
                        </a:rPr>
                        <a:t>핵심 (복수 문서)</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0E7C7B"/>
                    </a:solidFill>
                  </a:tcPr>
                </a:tc>
              </a:tr>
              <a:tr h="484632">
                <a:tc>
                  <a:txBody>
                    <a:bodyPr/>
                    <a:lstStyle/>
                    <a:p>
                      <a:pPr algn="l" indent="0" marL="0">
                        <a:buNone/>
                      </a:pPr>
                      <a:r>
                        <a:rPr lang="ko-KR" altLang="en-US" sz="1400" b="1" dirty="0">
                          <a:solidFill>
                            <a:srgbClr val="FFFFFF"/>
                          </a:solidFill>
                          <a:latin typeface="맑은 고딕" pitchFamily="34" charset="0"/>
                          <a:ea typeface="맑은 고딕" pitchFamily="34" charset="-122"/>
                          <a:cs typeface="맑은 고딕" pitchFamily="34" charset="-120"/>
                        </a:rPr>
                        <a:t>판정 방식</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14284B"/>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승인·거부</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E6ECF4"/>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정상·피싱 분류</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E6ECF4"/>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과제별 상이</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E6ECF4"/>
                    </a:solidFill>
                  </a:tcPr>
                </a:tc>
                <a:tc>
                  <a:txBody>
                    <a:bodyPr/>
                    <a:lstStyle/>
                    <a:p>
                      <a:pPr algn="ctr" indent="0" marL="0">
                        <a:buNone/>
                      </a:pPr>
                      <a:r>
                        <a:rPr lang="ko-KR" altLang="en-US" sz="1400" b="1" dirty="0">
                          <a:solidFill>
                            <a:srgbClr val="FFFFFF"/>
                          </a:solidFill>
                          <a:latin typeface="맑은 고딕" pitchFamily="34" charset="0"/>
                          <a:ea typeface="맑은 고딕" pitchFamily="34" charset="-122"/>
                          <a:cs typeface="맑은 고딕" pitchFamily="34" charset="-120"/>
                        </a:rPr>
                        <a:t>승인·거부·추가 확인</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0E7C7B"/>
                    </a:solidFill>
                  </a:tcPr>
                </a:tc>
              </a:tr>
              <a:tr h="484632">
                <a:tc>
                  <a:txBody>
                    <a:bodyPr/>
                    <a:lstStyle/>
                    <a:p>
                      <a:pPr algn="l" indent="0" marL="0">
                        <a:buNone/>
                      </a:pPr>
                      <a:r>
                        <a:rPr lang="ko-KR" altLang="en-US" sz="1400" b="1" dirty="0">
                          <a:solidFill>
                            <a:srgbClr val="FFFFFF"/>
                          </a:solidFill>
                          <a:latin typeface="맑은 고딕" pitchFamily="34" charset="0"/>
                          <a:ea typeface="맑은 고딕" pitchFamily="34" charset="-122"/>
                          <a:cs typeface="맑은 고딕" pitchFamily="34" charset="-120"/>
                        </a:rPr>
                        <a:t>대상 및 목적</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14284B"/>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성인 중심 서사 시뮬레이션</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일반 이용자 피싱 인식</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학생 대상 보안 기술 학습</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b="1" dirty="0">
                          <a:solidFill>
                            <a:srgbClr val="FFFFFF"/>
                          </a:solidFill>
                          <a:latin typeface="맑은 고딕" pitchFamily="34" charset="0"/>
                          <a:ea typeface="맑은 고딕" pitchFamily="34" charset="-122"/>
                          <a:cs typeface="맑은 고딕" pitchFamily="34" charset="-120"/>
                        </a:rPr>
                        <a:t>전연령 디지털 안전 판단</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0E7C7B"/>
                    </a:solidFill>
                  </a:tcPr>
                </a:tc>
              </a:tr>
              <a:tr h="484632">
                <a:tc>
                  <a:txBody>
                    <a:bodyPr/>
                    <a:lstStyle/>
                    <a:p>
                      <a:pPr algn="l" indent="0" marL="0">
                        <a:buNone/>
                      </a:pPr>
                      <a:r>
                        <a:rPr lang="ko-KR" altLang="en-US" sz="1400" b="1" dirty="0">
                          <a:solidFill>
                            <a:srgbClr val="FFFFFF"/>
                          </a:solidFill>
                          <a:latin typeface="맑은 고딕" pitchFamily="34" charset="0"/>
                          <a:ea typeface="맑은 고딕" pitchFamily="34" charset="-122"/>
                          <a:cs typeface="맑은 고딕" pitchFamily="34" charset="-120"/>
                        </a:rPr>
                        <a:t>모바일 UX</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14284B"/>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공식 모바일 (2022, 세로)</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E6ECF4"/>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웹 브라우저 퀴즈</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E6ECF4"/>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웹 기반</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E6ECF4"/>
                    </a:solidFill>
                  </a:tcPr>
                </a:tc>
                <a:tc>
                  <a:txBody>
                    <a:bodyPr/>
                    <a:lstStyle/>
                    <a:p>
                      <a:pPr algn="ctr" indent="0" marL="0">
                        <a:buNone/>
                      </a:pPr>
                      <a:r>
                        <a:rPr lang="ko-KR" altLang="en-US" sz="1400" b="1" dirty="0">
                          <a:solidFill>
                            <a:srgbClr val="FFFFFF"/>
                          </a:solidFill>
                          <a:latin typeface="맑은 고딕" pitchFamily="34" charset="0"/>
                          <a:ea typeface="맑은 고딕" pitchFamily="34" charset="-122"/>
                          <a:cs typeface="맑은 고딕" pitchFamily="34" charset="-120"/>
                        </a:rPr>
                        <a:t>세로 화면·터치 조작 지향</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0E7C7B"/>
                    </a:solidFill>
                  </a:tcPr>
                </a:tc>
              </a:tr>
              <a:tr h="484632">
                <a:tc>
                  <a:txBody>
                    <a:bodyPr/>
                    <a:lstStyle/>
                    <a:p>
                      <a:pPr algn="l" indent="0" marL="0">
                        <a:buNone/>
                      </a:pPr>
                      <a:r>
                        <a:rPr lang="ko-KR" altLang="en-US" sz="1400" b="1" dirty="0">
                          <a:solidFill>
                            <a:srgbClr val="FFFFFF"/>
                          </a:solidFill>
                          <a:latin typeface="맑은 고딕" pitchFamily="34" charset="0"/>
                          <a:ea typeface="맑은 고딕" pitchFamily="34" charset="-122"/>
                          <a:cs typeface="맑은 고딕" pitchFamily="34" charset="-120"/>
                        </a:rPr>
                        <a:t>서비스 상태</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14284B"/>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PC·모바일 출시</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2019년 웹 공개</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dirty="0">
                          <a:solidFill>
                            <a:srgbClr val="1C2433"/>
                          </a:solidFill>
                          <a:latin typeface="맑은 고딕" pitchFamily="34" charset="0"/>
                          <a:ea typeface="맑은 고딕" pitchFamily="34" charset="-122"/>
                          <a:cs typeface="맑은 고딕" pitchFamily="34" charset="-120"/>
                        </a:rPr>
                        <a:t>2024년 종료</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F4F6FA"/>
                    </a:solidFill>
                  </a:tcPr>
                </a:tc>
                <a:tc>
                  <a:txBody>
                    <a:bodyPr/>
                    <a:lstStyle/>
                    <a:p>
                      <a:pPr algn="ctr" indent="0" marL="0">
                        <a:buNone/>
                      </a:pPr>
                      <a:r>
                        <a:rPr lang="ko-KR" altLang="en-US" sz="1400" b="1" dirty="0">
                          <a:solidFill>
                            <a:srgbClr val="FFFFFF"/>
                          </a:solidFill>
                          <a:latin typeface="맑은 고딕" pitchFamily="34" charset="0"/>
                          <a:ea typeface="맑은 고딕" pitchFamily="34" charset="-122"/>
                          <a:cs typeface="맑은 고딕" pitchFamily="34" charset="-120"/>
                        </a:rPr>
                        <a:t>기획 단계</a:t>
                      </a:r>
                      <a:endParaRPr lang="ko-KR" sz="1400" dirty="0">
                        <a:latin typeface="맑은 고딕" charset="0"/>
                        <a:ea typeface="맑은 고딕" charset="0"/>
                        <a:cs typeface="맑은 고딕" charset="0"/>
                      </a:endParaRPr>
                    </a:p>
                  </a:txBody>
                  <a:tcPr marL="76200" marR="76200" marT="25400" marB="25400" anchor="ctr">
                    <a:lnL w="19050" cap="flat" cmpd="sng" algn="ctr">
                      <a:solidFill>
                        <a:srgbClr val="0B1A33"/>
                      </a:solidFill>
                      <a:prstDash val="solid"/>
                      <a:round/>
                      <a:headEnd type="none" w="med" len="med"/>
                      <a:tailEnd type="none" w="med" len="med"/>
                    </a:lnL>
                    <a:lnR w="19050" cap="flat" cmpd="sng" algn="ctr">
                      <a:solidFill>
                        <a:srgbClr val="0B1A33"/>
                      </a:solidFill>
                      <a:prstDash val="solid"/>
                      <a:round/>
                      <a:headEnd type="none" w="med" len="med"/>
                      <a:tailEnd type="none" w="med" len="med"/>
                    </a:lnR>
                    <a:lnT w="19050" cap="flat" cmpd="sng" algn="ctr">
                      <a:solidFill>
                        <a:srgbClr val="0B1A33"/>
                      </a:solidFill>
                      <a:prstDash val="solid"/>
                      <a:round/>
                      <a:headEnd type="none" w="med" len="med"/>
                      <a:tailEnd type="none" w="med" len="med"/>
                    </a:lnT>
                    <a:lnB w="19050" cap="flat" cmpd="sng" algn="ctr">
                      <a:solidFill>
                        <a:srgbClr val="0B1A33"/>
                      </a:solidFill>
                      <a:prstDash val="solid"/>
                      <a:round/>
                      <a:headEnd type="none" w="med" len="med"/>
                      <a:tailEnd type="none" w="med" len="med"/>
                    </a:lnB>
                    <a:solidFill>
                      <a:srgbClr val="0E7C7B"/>
                    </a:solidFill>
                  </a:tcPr>
                </a:tc>
              </a:tr>
            </a:tbl>
          </a:graphicData>
        </a:graphic>
      </p:graphicFrame>
      <p:pic>
        <p:nvPicPr>
          <p:cNvPr id="4" name="Image 0" descr="preencoded.png">    </p:cNvPr>
          <p:cNvPicPr>
            <a:picLocks noChangeAspect="1"/>
          </p:cNvPicPr>
          <p:nvPr/>
        </p:nvPicPr>
        <p:blipFill>
          <a:blip r:embed="rId1"/>
          <a:stretch>
            <a:fillRect/>
          </a:stretch>
        </p:blipFill>
        <p:spPr>
          <a:xfrm>
            <a:off x="548640" y="5193792"/>
            <a:ext cx="384048" cy="384048"/>
          </a:xfrm>
          <a:prstGeom prst="rect">
            <a:avLst/>
          </a:prstGeom>
        </p:spPr>
      </p:pic>
      <p:sp>
        <p:nvSpPr>
          <p:cNvPr id="5" name="Text 1"/>
          <p:cNvSpPr txBox="1"/>
          <p:nvPr/>
        </p:nvSpPr>
        <p:spPr>
          <a:xfrm>
            <a:off x="1051560" y="5138928"/>
            <a:ext cx="10607040" cy="512064"/>
          </a:xfrm>
          <a:prstGeom prst="rect">
            <a:avLst/>
          </a:prstGeom>
          <a:noFill/>
          <a:ln/>
        </p:spPr>
        <p:txBody>
          <a:bodyPr wrap="square" lIns="0" tIns="0" rIns="0" bIns="0" rtlCol="0" anchor="ctr"/>
          <a:lstStyle/>
          <a:p>
            <a:pPr indent="0" marL="0">
              <a:buNone/>
            </a:pPr>
            <a:r>
              <a:rPr lang="ko-KR" altLang="en-US" sz="1800" b="1" dirty="0">
                <a:solidFill>
                  <a:srgbClr val="FFFFFF"/>
                </a:solidFill>
                <a:latin typeface="맑은 고딕" pitchFamily="34" charset="0"/>
                <a:ea typeface="맑은 고딕" pitchFamily="34" charset="-122"/>
                <a:cs typeface="맑은 고딕" pitchFamily="34" charset="-120"/>
              </a:rPr>
              <a:t>핵심 차별점 — 복수 문서 대조 × 3단 판정 × 세로형 터치 UX를 모든 세대의 디지털 안전 판단에 결합</a:t>
            </a:r>
            <a:endParaRPr lang="ko-KR" sz="1800" dirty="0"/>
          </a:p>
        </p:txBody>
      </p:sp>
      <p:sp>
        <p:nvSpPr>
          <p:cNvPr id="6" name="Text 2"/>
          <p:cNvSpPr txBox="1"/>
          <p:nvPr/>
        </p:nvSpPr>
        <p:spPr>
          <a:xfrm>
            <a:off x="548640" y="5788152"/>
            <a:ext cx="11064240" cy="548640"/>
          </a:xfrm>
          <a:prstGeom prst="rect">
            <a:avLst/>
          </a:prstGeom>
          <a:noFill/>
          <a:ln/>
        </p:spPr>
        <p:txBody>
          <a:bodyPr wrap="square" lIns="0" tIns="0" rIns="0" bIns="0" rtlCol="0" anchor="t"/>
          <a:lstStyle/>
          <a:p>
            <a:pPr indent="0" marL="0">
              <a:buNone/>
            </a:pPr>
            <a:r>
              <a:rPr lang="ko-KR" altLang="en-US" sz="950" dirty="0">
                <a:solidFill>
                  <a:srgbClr val="8197B5"/>
                </a:solidFill>
                <a:latin typeface="맑은 고딕" pitchFamily="34" charset="0"/>
                <a:ea typeface="맑은 고딕" pitchFamily="34" charset="-122"/>
                <a:cs typeface="맑은 고딕" pitchFamily="34" charset="-120"/>
              </a:rPr>
              <a:t>※ 공식 정보·보도 자료를 바탕으로 한 비교이며, 각 제품의 모든 기능을 직접 검증한 결과는 아님. DIGITAL GUARD 열은 기획 목표.</a:t>
            </a:r>
            <a:endParaRPr lang="ko-KR" sz="950" dirty="0"/>
          </a:p>
          <a:p>
            <a:pPr indent="0" marL="0">
              <a:buNone/>
            </a:pPr>
            <a:r>
              <a:rPr lang="ko-KR" altLang="en-US" sz="950" dirty="0">
                <a:solidFill>
                  <a:srgbClr val="8197B5"/>
                </a:solidFill>
                <a:latin typeface="맑은 고딕" pitchFamily="34" charset="0"/>
                <a:ea typeface="맑은 고딕" pitchFamily="34" charset="-122"/>
                <a:cs typeface="맑은 고딕" pitchFamily="34" charset="-120"/>
              </a:rPr>
              <a:t>출처: Pocket Gamer(2022.07), Dark Reading(2019.01.23), HackerDNA(2026) — 세부 URL은 슬라이드 노트 참고. 2026년 10월 조사.</a:t>
            </a:r>
            <a:endParaRPr lang="ko-KR" sz="9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맑은 고딕"/>
                <a:ea typeface="맑은 고딕"/>
                <a:cs typeface="맑은 고딕"/>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658368"/>
          </a:xfrm>
          <a:prstGeom prst="rect">
            <a:avLst/>
          </a:prstGeom>
          <a:noFill/>
          <a:ln/>
        </p:spPr>
        <p:txBody>
          <a:bodyPr wrap="square" lIns="0" tIns="0" rIns="0" bIns="0" rtlCol="0" anchor="ctr"/>
          <a:lstStyle/>
          <a:p>
            <a:pPr algn="l" indent="0" marL="0">
              <a:buNone/>
            </a:pPr>
            <a:r>
              <a:rPr lang="en-US" sz="3000" b="1" dirty="0">
                <a:solidFill>
                  <a:srgbClr val="FFFFFF"/>
                </a:solidFill>
                <a:latin typeface="맑은 고딕" pitchFamily="34" charset="0"/>
                <a:ea typeface="맑은 고딕" pitchFamily="34" charset="-122"/>
                <a:cs typeface="맑은 고딕" pitchFamily="34" charset="-120"/>
              </a:rPr>
              <a:t>퀴즈를 넘어, 판단하는 게임으로</a:t>
            </a:r>
            <a:endParaRPr lang="en-US" sz="3000" dirty="0"/>
          </a:p>
        </p:txBody>
      </p:sp>
      <p:sp>
        <p:nvSpPr>
          <p:cNvPr id="3" name="Shape 1"/>
          <p:cNvSpPr/>
          <p:nvPr/>
        </p:nvSpPr>
        <p:spPr>
          <a:xfrm>
            <a:off x="4480560" y="2148840"/>
            <a:ext cx="1615745" cy="1051560"/>
          </a:xfrm>
          <a:prstGeom prst="line">
            <a:avLst/>
          </a:prstGeom>
          <a:noFill/>
          <a:ln w="15875">
            <a:solidFill>
              <a:srgbClr val="19B3B1"/>
            </a:solidFill>
            <a:prstDash val="dash"/>
          </a:ln>
        </p:spPr>
      </p:sp>
      <p:sp>
        <p:nvSpPr>
          <p:cNvPr id="4" name="Shape 2"/>
          <p:cNvSpPr/>
          <p:nvPr/>
        </p:nvSpPr>
        <p:spPr>
          <a:xfrm flipV="1">
            <a:off x="6096305" y="2148840"/>
            <a:ext cx="1612087" cy="1051560"/>
          </a:xfrm>
          <a:prstGeom prst="line">
            <a:avLst/>
          </a:prstGeom>
          <a:noFill/>
          <a:ln w="15875">
            <a:solidFill>
              <a:srgbClr val="19B3B1"/>
            </a:solidFill>
            <a:prstDash val="dash"/>
          </a:ln>
        </p:spPr>
      </p:sp>
      <p:sp>
        <p:nvSpPr>
          <p:cNvPr id="5" name="Shape 3"/>
          <p:cNvSpPr/>
          <p:nvPr/>
        </p:nvSpPr>
        <p:spPr>
          <a:xfrm flipV="1">
            <a:off x="4480560" y="3200400"/>
            <a:ext cx="1615745" cy="1005840"/>
          </a:xfrm>
          <a:prstGeom prst="line">
            <a:avLst/>
          </a:prstGeom>
          <a:noFill/>
          <a:ln w="15875">
            <a:solidFill>
              <a:srgbClr val="19B3B1"/>
            </a:solidFill>
            <a:prstDash val="dash"/>
          </a:ln>
        </p:spPr>
      </p:sp>
      <p:sp>
        <p:nvSpPr>
          <p:cNvPr id="6" name="Shape 4"/>
          <p:cNvSpPr/>
          <p:nvPr/>
        </p:nvSpPr>
        <p:spPr>
          <a:xfrm>
            <a:off x="6096305" y="3200400"/>
            <a:ext cx="1612087" cy="1005840"/>
          </a:xfrm>
          <a:prstGeom prst="line">
            <a:avLst/>
          </a:prstGeom>
          <a:noFill/>
          <a:ln w="15875">
            <a:solidFill>
              <a:srgbClr val="19B3B1"/>
            </a:solidFill>
            <a:prstDash val="dash"/>
          </a:ln>
        </p:spPr>
      </p:sp>
      <p:sp>
        <p:nvSpPr>
          <p:cNvPr id="7" name="Shape 5"/>
          <p:cNvSpPr/>
          <p:nvPr/>
        </p:nvSpPr>
        <p:spPr>
          <a:xfrm>
            <a:off x="4770425" y="1874520"/>
            <a:ext cx="2651760" cy="2651760"/>
          </a:xfrm>
          <a:prstGeom prst="ellipse">
            <a:avLst/>
          </a:prstGeom>
          <a:solidFill>
            <a:srgbClr val="14284B"/>
          </a:solidFill>
          <a:ln w="31750">
            <a:solidFill>
              <a:srgbClr val="19B3B1"/>
            </a:solidFill>
            <a:prstDash val="solid"/>
          </a:ln>
        </p:spPr>
      </p:sp>
      <p:sp>
        <p:nvSpPr>
          <p:cNvPr id="8" name="Shape 6"/>
          <p:cNvSpPr/>
          <p:nvPr/>
        </p:nvSpPr>
        <p:spPr>
          <a:xfrm>
            <a:off x="4999025" y="2103120"/>
            <a:ext cx="2194560" cy="2194560"/>
          </a:xfrm>
          <a:prstGeom prst="ellipse">
            <a:avLst/>
          </a:prstGeom>
          <a:solidFill>
            <a:srgbClr val="06122A"/>
          </a:solidFill>
          <a:ln/>
        </p:spPr>
      </p:sp>
      <p:pic>
        <p:nvPicPr>
          <p:cNvPr id="9" name="Image 0" descr="preencoded.png">    </p:cNvPr>
          <p:cNvPicPr>
            <a:picLocks noChangeAspect="1"/>
          </p:cNvPicPr>
          <p:nvPr/>
        </p:nvPicPr>
        <p:blipFill>
          <a:blip r:embed="rId1"/>
          <a:stretch>
            <a:fillRect/>
          </a:stretch>
        </p:blipFill>
        <p:spPr>
          <a:xfrm>
            <a:off x="5767121" y="2331720"/>
            <a:ext cx="658368" cy="658368"/>
          </a:xfrm>
          <a:prstGeom prst="rect">
            <a:avLst/>
          </a:prstGeom>
        </p:spPr>
      </p:pic>
      <p:sp>
        <p:nvSpPr>
          <p:cNvPr id="10" name="Text 7"/>
          <p:cNvSpPr txBox="1"/>
          <p:nvPr/>
        </p:nvSpPr>
        <p:spPr>
          <a:xfrm>
            <a:off x="5090465" y="3063240"/>
            <a:ext cx="2011680" cy="685800"/>
          </a:xfrm>
          <a:prstGeom prst="rect">
            <a:avLst/>
          </a:prstGeom>
          <a:noFill/>
          <a:ln/>
        </p:spPr>
        <p:txBody>
          <a:bodyPr wrap="square" lIns="0" tIns="0" rIns="0" bIns="0" rtlCol="0" anchor="t"/>
          <a:lstStyle/>
          <a:p>
            <a:pPr algn="ctr" indent="0" marL="0">
              <a:lnSpc>
                <a:spcPct val="90000"/>
              </a:lnSpc>
              <a:buNone/>
            </a:pPr>
            <a:r>
              <a:rPr lang="ko-KR" altLang="en-US" sz="2000" b="1" dirty="0">
                <a:solidFill>
                  <a:srgbClr val="FFFFFF"/>
                </a:solidFill>
                <a:latin typeface="맑은 고딕" pitchFamily="34" charset="0"/>
                <a:ea typeface="맑은 고딕" pitchFamily="34" charset="-122"/>
                <a:cs typeface="맑은 고딕" pitchFamily="34" charset="-120"/>
              </a:rPr>
              <a:t>DIGITAL</a:t>
            </a:r>
            <a:endParaRPr lang="ko-KR" sz="2000" dirty="0"/>
          </a:p>
          <a:p>
            <a:pPr algn="ctr" indent="0" marL="0">
              <a:lnSpc>
                <a:spcPct val="90000"/>
              </a:lnSpc>
              <a:buNone/>
            </a:pPr>
            <a:r>
              <a:rPr lang="ko-KR" altLang="en-US" sz="2000" b="1" dirty="0">
                <a:solidFill>
                  <a:srgbClr val="FFFFFF"/>
                </a:solidFill>
                <a:latin typeface="맑은 고딕" pitchFamily="34" charset="0"/>
                <a:ea typeface="맑은 고딕" pitchFamily="34" charset="-122"/>
                <a:cs typeface="맑은 고딕" pitchFamily="34" charset="-120"/>
              </a:rPr>
              <a:t>GUARD</a:t>
            </a:r>
            <a:endParaRPr lang="ko-KR" sz="2000" dirty="0"/>
          </a:p>
        </p:txBody>
      </p:sp>
      <p:sp>
        <p:nvSpPr>
          <p:cNvPr id="11" name="Text 8"/>
          <p:cNvSpPr txBox="1"/>
          <p:nvPr/>
        </p:nvSpPr>
        <p:spPr>
          <a:xfrm>
            <a:off x="5090465" y="3767328"/>
            <a:ext cx="2011680" cy="274320"/>
          </a:xfrm>
          <a:prstGeom prst="rect">
            <a:avLst/>
          </a:prstGeom>
          <a:noFill/>
          <a:ln/>
        </p:spPr>
        <p:txBody>
          <a:bodyPr wrap="square" lIns="0" tIns="0" rIns="0" bIns="0" rtlCol="0" anchor="t"/>
          <a:lstStyle/>
          <a:p>
            <a:pPr algn="ctr" indent="0" marL="0">
              <a:buNone/>
            </a:pPr>
            <a:r>
              <a:rPr lang="ko-KR" altLang="en-US" sz="1100" dirty="0">
                <a:solidFill>
                  <a:srgbClr val="19B3B1"/>
                </a:solidFill>
                <a:latin typeface="맑은 고딕" pitchFamily="34" charset="0"/>
                <a:ea typeface="맑은 고딕" pitchFamily="34" charset="-122"/>
                <a:cs typeface="맑은 고딕" pitchFamily="34" charset="-120"/>
              </a:rPr>
              <a:t>모바일 심사 시뮬레이션</a:t>
            </a:r>
            <a:endParaRPr lang="ko-KR" sz="1100" dirty="0"/>
          </a:p>
        </p:txBody>
      </p:sp>
      <p:sp>
        <p:nvSpPr>
          <p:cNvPr id="12" name="diff-01"/>
          <p:cNvSpPr/>
          <p:nvPr/>
        </p:nvSpPr>
        <p:spPr>
          <a:xfrm>
            <a:off x="548640" y="1234440"/>
            <a:ext cx="3931920" cy="1828800"/>
          </a:xfrm>
          <a:prstGeom prst="roundRect">
            <a:avLst>
              <a:gd name="adj" fmla="val 7000"/>
            </a:avLst>
          </a:prstGeom>
          <a:solidFill>
            <a:srgbClr val="14284B"/>
          </a:solidFill>
          <a:ln w="12700">
            <a:solidFill>
              <a:srgbClr val="1E3A66"/>
            </a:solidFill>
            <a:prstDash val="solid"/>
          </a:ln>
        </p:spPr>
      </p:sp>
      <p:sp>
        <p:nvSpPr>
          <p:cNvPr id="13" name="Shape 10"/>
          <p:cNvSpPr/>
          <p:nvPr/>
        </p:nvSpPr>
        <p:spPr>
          <a:xfrm>
            <a:off x="822960" y="1527048"/>
            <a:ext cx="731520" cy="731520"/>
          </a:xfrm>
          <a:prstGeom prst="ellipse">
            <a:avLst/>
          </a:prstGeom>
          <a:solidFill>
            <a:srgbClr val="19B3B1"/>
          </a:solidFill>
          <a:ln/>
        </p:spPr>
      </p:sp>
      <p:pic>
        <p:nvPicPr>
          <p:cNvPr id="14" name="Image 1" descr="preencoded.png">    </p:cNvPr>
          <p:cNvPicPr>
            <a:picLocks noChangeAspect="1"/>
          </p:cNvPicPr>
          <p:nvPr/>
        </p:nvPicPr>
        <p:blipFill>
          <a:blip r:embed="rId2"/>
          <a:stretch>
            <a:fillRect/>
          </a:stretch>
        </p:blipFill>
        <p:spPr>
          <a:xfrm>
            <a:off x="1005840" y="1709928"/>
            <a:ext cx="365760" cy="365760"/>
          </a:xfrm>
          <a:prstGeom prst="rect">
            <a:avLst/>
          </a:prstGeom>
        </p:spPr>
      </p:pic>
      <p:sp>
        <p:nvSpPr>
          <p:cNvPr id="15" name="Text 11"/>
          <p:cNvSpPr txBox="1"/>
          <p:nvPr/>
        </p:nvSpPr>
        <p:spPr>
          <a:xfrm>
            <a:off x="1737360" y="1508760"/>
            <a:ext cx="731520" cy="320040"/>
          </a:xfrm>
          <a:prstGeom prst="rect">
            <a:avLst/>
          </a:prstGeom>
          <a:noFill/>
          <a:ln/>
        </p:spPr>
        <p:txBody>
          <a:bodyPr wrap="square" lIns="0" tIns="0" rIns="0" bIns="0" rtlCol="0" anchor="t"/>
          <a:lstStyle/>
          <a:p>
            <a:pPr indent="0" marL="0">
              <a:buNone/>
            </a:pPr>
            <a:r>
              <a:rPr lang="ko-KR" altLang="en-US" sz="1600" b="1" dirty="0">
                <a:solidFill>
                  <a:srgbClr val="19B3B1"/>
                </a:solidFill>
                <a:latin typeface="맑은 고딕" pitchFamily="34" charset="0"/>
                <a:ea typeface="맑은 고딕" pitchFamily="34" charset="-122"/>
                <a:cs typeface="맑은 고딕" pitchFamily="34" charset="-120"/>
              </a:rPr>
              <a:t>01</a:t>
            </a:r>
            <a:endParaRPr lang="ko-KR" sz="1600" dirty="0"/>
          </a:p>
        </p:txBody>
      </p:sp>
      <p:sp>
        <p:nvSpPr>
          <p:cNvPr id="16" name="Text 12"/>
          <p:cNvSpPr txBox="1"/>
          <p:nvPr/>
        </p:nvSpPr>
        <p:spPr>
          <a:xfrm>
            <a:off x="1737360" y="1828800"/>
            <a:ext cx="2606040" cy="411480"/>
          </a:xfrm>
          <a:prstGeom prst="rect">
            <a:avLst/>
          </a:prstGeom>
          <a:noFill/>
          <a:ln/>
        </p:spPr>
        <p:txBody>
          <a:bodyPr wrap="square" lIns="0" tIns="0" rIns="0" bIns="0" rtlCol="0" anchor="t"/>
          <a:lstStyle/>
          <a:p>
            <a:pPr indent="0" marL="0">
              <a:buNone/>
            </a:pPr>
            <a:r>
              <a:rPr lang="ko-KR" altLang="en-US" sz="2100" b="1" dirty="0">
                <a:solidFill>
                  <a:srgbClr val="FFFFFF"/>
                </a:solidFill>
                <a:latin typeface="맑은 고딕" pitchFamily="34" charset="0"/>
                <a:ea typeface="맑은 고딕" pitchFamily="34" charset="-122"/>
                <a:cs typeface="맑은 고딕" pitchFamily="34" charset="-120"/>
              </a:rPr>
              <a:t>복수 문서 대조</a:t>
            </a:r>
            <a:endParaRPr lang="ko-KR" sz="2100" dirty="0"/>
          </a:p>
        </p:txBody>
      </p:sp>
      <p:sp>
        <p:nvSpPr>
          <p:cNvPr id="17" name="Text 13"/>
          <p:cNvSpPr txBox="1"/>
          <p:nvPr/>
        </p:nvSpPr>
        <p:spPr>
          <a:xfrm>
            <a:off x="1737360" y="2286000"/>
            <a:ext cx="2651760" cy="685800"/>
          </a:xfrm>
          <a:prstGeom prst="rect">
            <a:avLst/>
          </a:prstGeom>
          <a:noFill/>
          <a:ln/>
        </p:spPr>
        <p:txBody>
          <a:bodyPr wrap="square" lIns="0" tIns="0" rIns="0" bIns="0" rtlCol="0" anchor="t"/>
          <a:lstStyle/>
          <a:p>
            <a:pPr indent="0" marL="0">
              <a:buNone/>
            </a:pPr>
            <a:r>
              <a:rPr lang="ko-KR" altLang="en-US" sz="1500" dirty="0">
                <a:solidFill>
                  <a:srgbClr val="A9BCD3"/>
                </a:solidFill>
                <a:latin typeface="맑은 고딕" pitchFamily="34" charset="0"/>
                <a:ea typeface="맑은 고딕" pitchFamily="34" charset="-122"/>
                <a:cs typeface="맑은 고딕" pitchFamily="34" charset="-120"/>
              </a:rPr>
              <a:t>프로필·요청서·권한 정보를</a:t>
            </a:r>
            <a:endParaRPr lang="ko-KR" sz="1500" dirty="0"/>
          </a:p>
          <a:p>
            <a:pPr indent="0" marL="0">
              <a:buNone/>
            </a:pPr>
            <a:r>
              <a:rPr lang="ko-KR" altLang="en-US" sz="1500" dirty="0">
                <a:solidFill>
                  <a:srgbClr val="A9BCD3"/>
                </a:solidFill>
                <a:latin typeface="맑은 고딕" pitchFamily="34" charset="0"/>
                <a:ea typeface="맑은 고딕" pitchFamily="34" charset="-122"/>
                <a:cs typeface="맑은 고딕" pitchFamily="34" charset="-120"/>
              </a:rPr>
              <a:t>함께 검토한다</a:t>
            </a:r>
            <a:endParaRPr lang="ko-KR" sz="1500" dirty="0"/>
          </a:p>
        </p:txBody>
      </p:sp>
      <p:sp>
        <p:nvSpPr>
          <p:cNvPr id="18" name="diff-02"/>
          <p:cNvSpPr/>
          <p:nvPr/>
        </p:nvSpPr>
        <p:spPr>
          <a:xfrm>
            <a:off x="7708392" y="1234440"/>
            <a:ext cx="3931920" cy="1828800"/>
          </a:xfrm>
          <a:prstGeom prst="roundRect">
            <a:avLst>
              <a:gd name="adj" fmla="val 7000"/>
            </a:avLst>
          </a:prstGeom>
          <a:solidFill>
            <a:srgbClr val="14284B"/>
          </a:solidFill>
          <a:ln w="12700">
            <a:solidFill>
              <a:srgbClr val="1E3A66"/>
            </a:solidFill>
            <a:prstDash val="solid"/>
          </a:ln>
        </p:spPr>
      </p:sp>
      <p:sp>
        <p:nvSpPr>
          <p:cNvPr id="19" name="Shape 15"/>
          <p:cNvSpPr/>
          <p:nvPr/>
        </p:nvSpPr>
        <p:spPr>
          <a:xfrm>
            <a:off x="7982712" y="1527048"/>
            <a:ext cx="731520" cy="731520"/>
          </a:xfrm>
          <a:prstGeom prst="ellipse">
            <a:avLst/>
          </a:prstGeom>
          <a:solidFill>
            <a:srgbClr val="19B3B1"/>
          </a:solidFill>
          <a:ln/>
        </p:spPr>
      </p:sp>
      <p:pic>
        <p:nvPicPr>
          <p:cNvPr id="20" name="Image 2" descr="preencoded.png">    </p:cNvPr>
          <p:cNvPicPr>
            <a:picLocks noChangeAspect="1"/>
          </p:cNvPicPr>
          <p:nvPr/>
        </p:nvPicPr>
        <p:blipFill>
          <a:blip r:embed="rId3"/>
          <a:stretch>
            <a:fillRect/>
          </a:stretch>
        </p:blipFill>
        <p:spPr>
          <a:xfrm>
            <a:off x="8165592" y="1709928"/>
            <a:ext cx="365760" cy="365760"/>
          </a:xfrm>
          <a:prstGeom prst="rect">
            <a:avLst/>
          </a:prstGeom>
        </p:spPr>
      </p:pic>
      <p:sp>
        <p:nvSpPr>
          <p:cNvPr id="21" name="Text 16"/>
          <p:cNvSpPr txBox="1"/>
          <p:nvPr/>
        </p:nvSpPr>
        <p:spPr>
          <a:xfrm>
            <a:off x="8897112" y="1508760"/>
            <a:ext cx="731520" cy="320040"/>
          </a:xfrm>
          <a:prstGeom prst="rect">
            <a:avLst/>
          </a:prstGeom>
          <a:noFill/>
          <a:ln/>
        </p:spPr>
        <p:txBody>
          <a:bodyPr wrap="square" lIns="0" tIns="0" rIns="0" bIns="0" rtlCol="0" anchor="t"/>
          <a:lstStyle/>
          <a:p>
            <a:pPr indent="0" marL="0">
              <a:buNone/>
            </a:pPr>
            <a:r>
              <a:rPr lang="ko-KR" altLang="en-US" sz="1600" b="1" dirty="0">
                <a:solidFill>
                  <a:srgbClr val="19B3B1"/>
                </a:solidFill>
                <a:latin typeface="맑은 고딕" pitchFamily="34" charset="0"/>
                <a:ea typeface="맑은 고딕" pitchFamily="34" charset="-122"/>
                <a:cs typeface="맑은 고딕" pitchFamily="34" charset="-120"/>
              </a:rPr>
              <a:t>02</a:t>
            </a:r>
            <a:endParaRPr lang="ko-KR" sz="1600" dirty="0"/>
          </a:p>
        </p:txBody>
      </p:sp>
      <p:sp>
        <p:nvSpPr>
          <p:cNvPr id="22" name="Text 17"/>
          <p:cNvSpPr txBox="1"/>
          <p:nvPr/>
        </p:nvSpPr>
        <p:spPr>
          <a:xfrm>
            <a:off x="8897112" y="1828800"/>
            <a:ext cx="2606040" cy="411480"/>
          </a:xfrm>
          <a:prstGeom prst="rect">
            <a:avLst/>
          </a:prstGeom>
          <a:noFill/>
          <a:ln/>
        </p:spPr>
        <p:txBody>
          <a:bodyPr wrap="square" lIns="0" tIns="0" rIns="0" bIns="0" rtlCol="0" anchor="t"/>
          <a:lstStyle/>
          <a:p>
            <a:pPr indent="0" marL="0">
              <a:buNone/>
            </a:pPr>
            <a:r>
              <a:rPr lang="ko-KR" altLang="en-US" sz="2100" b="1" dirty="0">
                <a:solidFill>
                  <a:srgbClr val="FFFFFF"/>
                </a:solidFill>
                <a:latin typeface="맑은 고딕" pitchFamily="34" charset="0"/>
                <a:ea typeface="맑은 고딕" pitchFamily="34" charset="-122"/>
                <a:cs typeface="맑은 고딕" pitchFamily="34" charset="-120"/>
              </a:rPr>
              <a:t>세 가지 판단</a:t>
            </a:r>
            <a:endParaRPr lang="ko-KR" sz="2100" dirty="0"/>
          </a:p>
        </p:txBody>
      </p:sp>
      <p:sp>
        <p:nvSpPr>
          <p:cNvPr id="23" name="Text 18"/>
          <p:cNvSpPr txBox="1"/>
          <p:nvPr/>
        </p:nvSpPr>
        <p:spPr>
          <a:xfrm>
            <a:off x="8897112" y="2286000"/>
            <a:ext cx="2651760" cy="685800"/>
          </a:xfrm>
          <a:prstGeom prst="rect">
            <a:avLst/>
          </a:prstGeom>
          <a:noFill/>
          <a:ln/>
        </p:spPr>
        <p:txBody>
          <a:bodyPr wrap="square" lIns="0" tIns="0" rIns="0" bIns="0" rtlCol="0" anchor="t"/>
          <a:lstStyle/>
          <a:p>
            <a:pPr indent="0" marL="0">
              <a:buNone/>
            </a:pPr>
            <a:r>
              <a:rPr lang="ko-KR" altLang="en-US" sz="1500" dirty="0">
                <a:solidFill>
                  <a:srgbClr val="A9BCD3"/>
                </a:solidFill>
                <a:latin typeface="맑은 고딕" pitchFamily="34" charset="0"/>
                <a:ea typeface="맑은 고딕" pitchFamily="34" charset="-122"/>
                <a:cs typeface="맑은 고딕" pitchFamily="34" charset="-120"/>
              </a:rPr>
              <a:t>정상은 승인, 위험은 거부,</a:t>
            </a:r>
            <a:endParaRPr lang="ko-KR" sz="1500" dirty="0"/>
          </a:p>
          <a:p>
            <a:pPr indent="0" marL="0">
              <a:buNone/>
            </a:pPr>
            <a:r>
              <a:rPr lang="ko-KR" altLang="en-US" sz="1500" dirty="0">
                <a:solidFill>
                  <a:srgbClr val="A9BCD3"/>
                </a:solidFill>
                <a:latin typeface="맑은 고딕" pitchFamily="34" charset="0"/>
                <a:ea typeface="맑은 고딕" pitchFamily="34" charset="-122"/>
                <a:cs typeface="맑은 고딕" pitchFamily="34" charset="-120"/>
              </a:rPr>
              <a:t>증거가 부족하면 추가 확인</a:t>
            </a:r>
            <a:endParaRPr lang="ko-KR" sz="1500" dirty="0"/>
          </a:p>
        </p:txBody>
      </p:sp>
      <p:sp>
        <p:nvSpPr>
          <p:cNvPr id="24" name="diff-03"/>
          <p:cNvSpPr/>
          <p:nvPr/>
        </p:nvSpPr>
        <p:spPr>
          <a:xfrm>
            <a:off x="548640" y="3291840"/>
            <a:ext cx="3931920" cy="1828800"/>
          </a:xfrm>
          <a:prstGeom prst="roundRect">
            <a:avLst>
              <a:gd name="adj" fmla="val 7000"/>
            </a:avLst>
          </a:prstGeom>
          <a:solidFill>
            <a:srgbClr val="14284B"/>
          </a:solidFill>
          <a:ln w="12700">
            <a:solidFill>
              <a:srgbClr val="1E3A66"/>
            </a:solidFill>
            <a:prstDash val="solid"/>
          </a:ln>
        </p:spPr>
      </p:sp>
      <p:sp>
        <p:nvSpPr>
          <p:cNvPr id="25" name="Shape 20"/>
          <p:cNvSpPr/>
          <p:nvPr/>
        </p:nvSpPr>
        <p:spPr>
          <a:xfrm>
            <a:off x="822960" y="3584448"/>
            <a:ext cx="731520" cy="731520"/>
          </a:xfrm>
          <a:prstGeom prst="ellipse">
            <a:avLst/>
          </a:prstGeom>
          <a:solidFill>
            <a:srgbClr val="19B3B1"/>
          </a:solidFill>
          <a:ln/>
        </p:spPr>
      </p:sp>
      <p:pic>
        <p:nvPicPr>
          <p:cNvPr id="26" name="Image 3" descr="preencoded.png">    </p:cNvPr>
          <p:cNvPicPr>
            <a:picLocks noChangeAspect="1"/>
          </p:cNvPicPr>
          <p:nvPr/>
        </p:nvPicPr>
        <p:blipFill>
          <a:blip r:embed="rId4"/>
          <a:stretch>
            <a:fillRect/>
          </a:stretch>
        </p:blipFill>
        <p:spPr>
          <a:xfrm>
            <a:off x="1005840" y="3767328"/>
            <a:ext cx="365760" cy="365760"/>
          </a:xfrm>
          <a:prstGeom prst="rect">
            <a:avLst/>
          </a:prstGeom>
        </p:spPr>
      </p:pic>
      <p:sp>
        <p:nvSpPr>
          <p:cNvPr id="27" name="Text 21"/>
          <p:cNvSpPr txBox="1"/>
          <p:nvPr/>
        </p:nvSpPr>
        <p:spPr>
          <a:xfrm>
            <a:off x="1737360" y="3566160"/>
            <a:ext cx="731520" cy="320040"/>
          </a:xfrm>
          <a:prstGeom prst="rect">
            <a:avLst/>
          </a:prstGeom>
          <a:noFill/>
          <a:ln/>
        </p:spPr>
        <p:txBody>
          <a:bodyPr wrap="square" lIns="0" tIns="0" rIns="0" bIns="0" rtlCol="0" anchor="t"/>
          <a:lstStyle/>
          <a:p>
            <a:pPr indent="0" marL="0">
              <a:buNone/>
            </a:pPr>
            <a:r>
              <a:rPr lang="ko-KR" altLang="en-US" sz="1600" b="1" dirty="0">
                <a:solidFill>
                  <a:srgbClr val="19B3B1"/>
                </a:solidFill>
                <a:latin typeface="맑은 고딕" pitchFamily="34" charset="0"/>
                <a:ea typeface="맑은 고딕" pitchFamily="34" charset="-122"/>
                <a:cs typeface="맑은 고딕" pitchFamily="34" charset="-120"/>
              </a:rPr>
              <a:t>03</a:t>
            </a:r>
            <a:endParaRPr lang="ko-KR" sz="1600" dirty="0"/>
          </a:p>
        </p:txBody>
      </p:sp>
      <p:sp>
        <p:nvSpPr>
          <p:cNvPr id="28" name="Text 22"/>
          <p:cNvSpPr txBox="1"/>
          <p:nvPr/>
        </p:nvSpPr>
        <p:spPr>
          <a:xfrm>
            <a:off x="1737360" y="3886200"/>
            <a:ext cx="2606040" cy="411480"/>
          </a:xfrm>
          <a:prstGeom prst="rect">
            <a:avLst/>
          </a:prstGeom>
          <a:noFill/>
          <a:ln/>
        </p:spPr>
        <p:txBody>
          <a:bodyPr wrap="square" lIns="0" tIns="0" rIns="0" bIns="0" rtlCol="0" anchor="t"/>
          <a:lstStyle/>
          <a:p>
            <a:pPr indent="0" marL="0">
              <a:buNone/>
            </a:pPr>
            <a:r>
              <a:rPr lang="ko-KR" altLang="en-US" sz="2100" b="1" dirty="0">
                <a:solidFill>
                  <a:srgbClr val="FFFFFF"/>
                </a:solidFill>
                <a:latin typeface="맑은 고딕" pitchFamily="34" charset="0"/>
                <a:ea typeface="맑은 고딕" pitchFamily="34" charset="-122"/>
                <a:cs typeface="맑은 고딕" pitchFamily="34" charset="-120"/>
              </a:rPr>
              <a:t>모바일 우선 설계</a:t>
            </a:r>
            <a:endParaRPr lang="ko-KR" sz="2100" dirty="0"/>
          </a:p>
        </p:txBody>
      </p:sp>
      <p:sp>
        <p:nvSpPr>
          <p:cNvPr id="29" name="Text 23"/>
          <p:cNvSpPr txBox="1"/>
          <p:nvPr/>
        </p:nvSpPr>
        <p:spPr>
          <a:xfrm>
            <a:off x="1737360" y="4343400"/>
            <a:ext cx="2651760" cy="685800"/>
          </a:xfrm>
          <a:prstGeom prst="rect">
            <a:avLst/>
          </a:prstGeom>
          <a:noFill/>
          <a:ln/>
        </p:spPr>
        <p:txBody>
          <a:bodyPr wrap="square" lIns="0" tIns="0" rIns="0" bIns="0" rtlCol="0" anchor="t"/>
          <a:lstStyle/>
          <a:p>
            <a:pPr indent="0" marL="0">
              <a:buNone/>
            </a:pPr>
            <a:r>
              <a:rPr lang="ko-KR" altLang="en-US" sz="1500" dirty="0">
                <a:solidFill>
                  <a:srgbClr val="A9BCD3"/>
                </a:solidFill>
                <a:latin typeface="맑은 고딕" pitchFamily="34" charset="0"/>
                <a:ea typeface="맑은 고딕" pitchFamily="34" charset="-122"/>
                <a:cs typeface="맑은 고딕" pitchFamily="34" charset="-120"/>
              </a:rPr>
              <a:t>알림·문서를 탭으로 열고</a:t>
            </a:r>
            <a:endParaRPr lang="ko-KR" sz="1500" dirty="0"/>
          </a:p>
          <a:p>
            <a:pPr indent="0" marL="0">
              <a:buNone/>
            </a:pPr>
            <a:r>
              <a:rPr lang="ko-KR" altLang="en-US" sz="1500" dirty="0">
                <a:solidFill>
                  <a:srgbClr val="A9BCD3"/>
                </a:solidFill>
                <a:latin typeface="맑은 고딕" pitchFamily="34" charset="0"/>
                <a:ea typeface="맑은 고딕" pitchFamily="34" charset="-122"/>
                <a:cs typeface="맑은 고딕" pitchFamily="34" charset="-120"/>
              </a:rPr>
              <a:t>하단 버튼으로 판정한다</a:t>
            </a:r>
            <a:endParaRPr lang="ko-KR" sz="1500" dirty="0"/>
          </a:p>
        </p:txBody>
      </p:sp>
      <p:sp>
        <p:nvSpPr>
          <p:cNvPr id="30" name="diff-04"/>
          <p:cNvSpPr/>
          <p:nvPr/>
        </p:nvSpPr>
        <p:spPr>
          <a:xfrm>
            <a:off x="7708392" y="3291840"/>
            <a:ext cx="3931920" cy="1828800"/>
          </a:xfrm>
          <a:prstGeom prst="roundRect">
            <a:avLst>
              <a:gd name="adj" fmla="val 7000"/>
            </a:avLst>
          </a:prstGeom>
          <a:solidFill>
            <a:srgbClr val="14284B"/>
          </a:solidFill>
          <a:ln w="12700">
            <a:solidFill>
              <a:srgbClr val="1E3A66"/>
            </a:solidFill>
            <a:prstDash val="solid"/>
          </a:ln>
        </p:spPr>
      </p:sp>
      <p:sp>
        <p:nvSpPr>
          <p:cNvPr id="31" name="Shape 25"/>
          <p:cNvSpPr/>
          <p:nvPr/>
        </p:nvSpPr>
        <p:spPr>
          <a:xfrm>
            <a:off x="7982712" y="3584448"/>
            <a:ext cx="731520" cy="731520"/>
          </a:xfrm>
          <a:prstGeom prst="ellipse">
            <a:avLst/>
          </a:prstGeom>
          <a:solidFill>
            <a:srgbClr val="19B3B1"/>
          </a:solidFill>
          <a:ln/>
        </p:spPr>
      </p:sp>
      <p:pic>
        <p:nvPicPr>
          <p:cNvPr id="32" name="Image 4" descr="preencoded.png">    </p:cNvPr>
          <p:cNvPicPr>
            <a:picLocks noChangeAspect="1"/>
          </p:cNvPicPr>
          <p:nvPr/>
        </p:nvPicPr>
        <p:blipFill>
          <a:blip r:embed="rId5"/>
          <a:stretch>
            <a:fillRect/>
          </a:stretch>
        </p:blipFill>
        <p:spPr>
          <a:xfrm>
            <a:off x="8165592" y="3767328"/>
            <a:ext cx="365760" cy="365760"/>
          </a:xfrm>
          <a:prstGeom prst="rect">
            <a:avLst/>
          </a:prstGeom>
        </p:spPr>
      </p:pic>
      <p:sp>
        <p:nvSpPr>
          <p:cNvPr id="33" name="Text 26"/>
          <p:cNvSpPr txBox="1"/>
          <p:nvPr/>
        </p:nvSpPr>
        <p:spPr>
          <a:xfrm>
            <a:off x="8897112" y="3566160"/>
            <a:ext cx="731520" cy="320040"/>
          </a:xfrm>
          <a:prstGeom prst="rect">
            <a:avLst/>
          </a:prstGeom>
          <a:noFill/>
          <a:ln/>
        </p:spPr>
        <p:txBody>
          <a:bodyPr wrap="square" lIns="0" tIns="0" rIns="0" bIns="0" rtlCol="0" anchor="t"/>
          <a:lstStyle/>
          <a:p>
            <a:pPr indent="0" marL="0">
              <a:buNone/>
            </a:pPr>
            <a:r>
              <a:rPr lang="ko-KR" altLang="en-US" sz="1600" b="1" dirty="0">
                <a:solidFill>
                  <a:srgbClr val="19B3B1"/>
                </a:solidFill>
                <a:latin typeface="맑은 고딕" pitchFamily="34" charset="0"/>
                <a:ea typeface="맑은 고딕" pitchFamily="34" charset="-122"/>
                <a:cs typeface="맑은 고딕" pitchFamily="34" charset="-120"/>
              </a:rPr>
              <a:t>04</a:t>
            </a:r>
            <a:endParaRPr lang="ko-KR" sz="1600" dirty="0"/>
          </a:p>
        </p:txBody>
      </p:sp>
      <p:sp>
        <p:nvSpPr>
          <p:cNvPr id="34" name="Text 27"/>
          <p:cNvSpPr txBox="1"/>
          <p:nvPr/>
        </p:nvSpPr>
        <p:spPr>
          <a:xfrm>
            <a:off x="8897112" y="3886200"/>
            <a:ext cx="2606040" cy="411480"/>
          </a:xfrm>
          <a:prstGeom prst="rect">
            <a:avLst/>
          </a:prstGeom>
          <a:noFill/>
          <a:ln/>
        </p:spPr>
        <p:txBody>
          <a:bodyPr wrap="square" lIns="0" tIns="0" rIns="0" bIns="0" rtlCol="0" anchor="t"/>
          <a:lstStyle/>
          <a:p>
            <a:pPr indent="0" marL="0">
              <a:buNone/>
            </a:pPr>
            <a:r>
              <a:rPr lang="ko-KR" altLang="en-US" sz="2100" b="1" dirty="0">
                <a:solidFill>
                  <a:srgbClr val="FFFFFF"/>
                </a:solidFill>
                <a:latin typeface="맑은 고딕" pitchFamily="34" charset="0"/>
                <a:ea typeface="맑은 고딕" pitchFamily="34" charset="-122"/>
                <a:cs typeface="맑은 고딕" pitchFamily="34" charset="-120"/>
              </a:rPr>
              <a:t>실생활 중심 교육</a:t>
            </a:r>
            <a:endParaRPr lang="ko-KR" sz="2100" dirty="0"/>
          </a:p>
        </p:txBody>
      </p:sp>
      <p:sp>
        <p:nvSpPr>
          <p:cNvPr id="35" name="Text 28"/>
          <p:cNvSpPr txBox="1"/>
          <p:nvPr/>
        </p:nvSpPr>
        <p:spPr>
          <a:xfrm>
            <a:off x="8897112" y="4343400"/>
            <a:ext cx="2651760" cy="685800"/>
          </a:xfrm>
          <a:prstGeom prst="rect">
            <a:avLst/>
          </a:prstGeom>
          <a:noFill/>
          <a:ln/>
        </p:spPr>
        <p:txBody>
          <a:bodyPr wrap="square" lIns="0" tIns="0" rIns="0" bIns="0" rtlCol="0" anchor="t"/>
          <a:lstStyle/>
          <a:p>
            <a:pPr indent="0" marL="0">
              <a:buNone/>
            </a:pPr>
            <a:r>
              <a:rPr lang="ko-KR" altLang="en-US" sz="1500" dirty="0">
                <a:solidFill>
                  <a:srgbClr val="A9BCD3"/>
                </a:solidFill>
                <a:latin typeface="맑은 고딕" pitchFamily="34" charset="0"/>
                <a:ea typeface="맑은 고딕" pitchFamily="34" charset="-122"/>
                <a:cs typeface="맑은 고딕" pitchFamily="34" charset="-120"/>
              </a:rPr>
              <a:t>택배·가족 사칭부터 공유 권한</a:t>
            </a:r>
            <a:endParaRPr lang="ko-KR" sz="1500" dirty="0"/>
          </a:p>
          <a:p>
            <a:pPr indent="0" marL="0">
              <a:buNone/>
            </a:pPr>
            <a:r>
              <a:rPr lang="ko-KR" altLang="en-US" sz="1500" dirty="0">
                <a:solidFill>
                  <a:srgbClr val="A9BCD3"/>
                </a:solidFill>
                <a:latin typeface="맑은 고딕" pitchFamily="34" charset="0"/>
                <a:ea typeface="맑은 고딕" pitchFamily="34" charset="-122"/>
                <a:cs typeface="맑은 고딕" pitchFamily="34" charset="-120"/>
              </a:rPr>
              <a:t>까지 생활 속 사건으로 익힌다</a:t>
            </a:r>
            <a:endParaRPr lang="ko-KR" sz="1500" dirty="0"/>
          </a:p>
        </p:txBody>
      </p:sp>
      <p:sp>
        <p:nvSpPr>
          <p:cNvPr id="36" name="Shape 29"/>
          <p:cNvSpPr/>
          <p:nvPr/>
        </p:nvSpPr>
        <p:spPr>
          <a:xfrm>
            <a:off x="548640" y="5349240"/>
            <a:ext cx="11091672" cy="868680"/>
          </a:xfrm>
          <a:prstGeom prst="roundRect">
            <a:avLst>
              <a:gd name="adj" fmla="val 14737"/>
            </a:avLst>
          </a:prstGeom>
          <a:solidFill>
            <a:srgbClr val="F4F6FA"/>
          </a:solidFill>
          <a:ln/>
        </p:spPr>
      </p:sp>
      <p:sp>
        <p:nvSpPr>
          <p:cNvPr id="37" name="Text 30"/>
          <p:cNvSpPr txBox="1"/>
          <p:nvPr/>
        </p:nvSpPr>
        <p:spPr>
          <a:xfrm>
            <a:off x="868680" y="5394960"/>
            <a:ext cx="10469880" cy="777240"/>
          </a:xfrm>
          <a:prstGeom prst="rect">
            <a:avLst/>
          </a:prstGeom>
          <a:noFill/>
          <a:ln/>
        </p:spPr>
        <p:txBody>
          <a:bodyPr wrap="square" lIns="0" tIns="0" rIns="0" bIns="0" rtlCol="0" anchor="ctr"/>
          <a:lstStyle/>
          <a:p>
            <a:pPr algn="ctr" indent="0" marL="0">
              <a:buNone/>
            </a:pPr>
            <a:r>
              <a:rPr lang="ko-KR" altLang="en-US" sz="1700" b="1" i="1" dirty="0">
                <a:solidFill>
                  <a:srgbClr val="0B1A33"/>
                </a:solidFill>
                <a:latin typeface="맑은 고딕" pitchFamily="34" charset="0"/>
                <a:ea typeface="맑은 고딕" pitchFamily="34" charset="-122"/>
                <a:cs typeface="맑은 고딕" pitchFamily="34" charset="-120"/>
              </a:rPr>
              <a:t>“DIGITAL GUARD는 디지털 보안 지식을 퀴즈로 맞히는 게임이 아니라, 여러 정보를 대조해 안전한 결정을 내리는 모바일 심사 시뮬레이션이다.”</a:t>
            </a:r>
            <a:endParaRPr lang="ko-KR" sz="17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맑은 고딕"/>
                <a:ea typeface="맑은 고딕"/>
                <a:cs typeface="맑은 고딕"/>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658368"/>
          </a:xfrm>
          <a:prstGeom prst="rect">
            <a:avLst/>
          </a:prstGeom>
          <a:noFill/>
          <a:ln/>
        </p:spPr>
        <p:txBody>
          <a:bodyPr wrap="square" lIns="0" tIns="0" rIns="0" bIns="0" rtlCol="0" anchor="ctr"/>
          <a:lstStyle/>
          <a:p>
            <a:pPr algn="l" indent="0" marL="0">
              <a:buNone/>
            </a:pPr>
            <a:r>
              <a:rPr lang="en-US" sz="3000" b="1" dirty="0">
                <a:solidFill>
                  <a:srgbClr val="FFFFFF"/>
                </a:solidFill>
                <a:latin typeface="맑은 고딕" pitchFamily="34" charset="0"/>
                <a:ea typeface="맑은 고딕" pitchFamily="34" charset="-122"/>
                <a:cs typeface="맑은 고딕" pitchFamily="34" charset="-120"/>
              </a:rPr>
              <a:t>사건을 해결하는 5단계 플레이 루프</a:t>
            </a:r>
            <a:endParaRPr lang="en-US" sz="3000" dirty="0"/>
          </a:p>
        </p:txBody>
      </p:sp>
      <p:sp>
        <p:nvSpPr>
          <p:cNvPr id="3" name="Shape 1"/>
          <p:cNvSpPr/>
          <p:nvPr/>
        </p:nvSpPr>
        <p:spPr>
          <a:xfrm>
            <a:off x="8988552" y="521208"/>
            <a:ext cx="2651760" cy="310896"/>
          </a:xfrm>
          <a:prstGeom prst="roundRect">
            <a:avLst>
              <a:gd name="adj" fmla="val 50000"/>
            </a:avLst>
          </a:prstGeom>
          <a:solidFill>
            <a:srgbClr val="F2B33D"/>
          </a:solidFill>
          <a:ln/>
        </p:spPr>
      </p:sp>
      <p:sp>
        <p:nvSpPr>
          <p:cNvPr id="4" name="Text 2"/>
          <p:cNvSpPr txBox="1"/>
          <p:nvPr/>
        </p:nvSpPr>
        <p:spPr>
          <a:xfrm>
            <a:off x="8988552" y="521208"/>
            <a:ext cx="2651760" cy="310896"/>
          </a:xfrm>
          <a:prstGeom prst="rect">
            <a:avLst/>
          </a:prstGeom>
          <a:noFill/>
          <a:ln/>
        </p:spPr>
        <p:txBody>
          <a:bodyPr wrap="square" lIns="0" tIns="0" rIns="0" bIns="0" rtlCol="0" anchor="ctr"/>
          <a:lstStyle/>
          <a:p>
            <a:pPr algn="ctr" indent="0" marL="0">
              <a:buNone/>
            </a:pPr>
            <a:r>
              <a:rPr lang="ko-KR" altLang="en-US" sz="1100" b="1" dirty="0">
                <a:solidFill>
                  <a:srgbClr val="0B1A33"/>
                </a:solidFill>
                <a:latin typeface="맑은 고딕" pitchFamily="34" charset="0"/>
                <a:ea typeface="맑은 고딕" pitchFamily="34" charset="-122"/>
                <a:cs typeface="맑은 고딕" pitchFamily="34" charset="-120"/>
              </a:rPr>
              <a:t>HTML 시제품 화면 · Unity 구현 전</a:t>
            </a:r>
            <a:endParaRPr lang="ko-KR" sz="1100" dirty="0"/>
          </a:p>
        </p:txBody>
      </p:sp>
      <p:sp>
        <p:nvSpPr>
          <p:cNvPr id="5" name="Shape 3"/>
          <p:cNvSpPr/>
          <p:nvPr/>
        </p:nvSpPr>
        <p:spPr>
          <a:xfrm>
            <a:off x="1248156" y="1188720"/>
            <a:ext cx="658368" cy="658368"/>
          </a:xfrm>
          <a:prstGeom prst="ellipse">
            <a:avLst/>
          </a:prstGeom>
          <a:solidFill>
            <a:srgbClr val="19B3B1"/>
          </a:solidFill>
          <a:ln/>
        </p:spPr>
      </p:sp>
      <p:pic>
        <p:nvPicPr>
          <p:cNvPr id="6" name="Image 0" descr="preencoded.png">    </p:cNvPr>
          <p:cNvPicPr>
            <a:picLocks noChangeAspect="1"/>
          </p:cNvPicPr>
          <p:nvPr/>
        </p:nvPicPr>
        <p:blipFill>
          <a:blip r:embed="rId1"/>
          <a:stretch>
            <a:fillRect/>
          </a:stretch>
        </p:blipFill>
        <p:spPr>
          <a:xfrm>
            <a:off x="1412748" y="1353312"/>
            <a:ext cx="329184" cy="329184"/>
          </a:xfrm>
          <a:prstGeom prst="rect">
            <a:avLst/>
          </a:prstGeom>
        </p:spPr>
      </p:pic>
      <p:sp>
        <p:nvSpPr>
          <p:cNvPr id="7" name="Shape 4"/>
          <p:cNvSpPr/>
          <p:nvPr/>
        </p:nvSpPr>
        <p:spPr>
          <a:xfrm>
            <a:off x="1741932" y="1133856"/>
            <a:ext cx="274320" cy="274320"/>
          </a:xfrm>
          <a:prstGeom prst="roundRect">
            <a:avLst>
              <a:gd name="adj" fmla="val 50000"/>
            </a:avLst>
          </a:prstGeom>
          <a:solidFill>
            <a:srgbClr val="F2B33D"/>
          </a:solidFill>
          <a:ln/>
        </p:spPr>
      </p:sp>
      <p:sp>
        <p:nvSpPr>
          <p:cNvPr id="8" name="Text 5"/>
          <p:cNvSpPr txBox="1"/>
          <p:nvPr/>
        </p:nvSpPr>
        <p:spPr>
          <a:xfrm>
            <a:off x="1741932" y="1133856"/>
            <a:ext cx="274320" cy="274320"/>
          </a:xfrm>
          <a:prstGeom prst="rect">
            <a:avLst/>
          </a:prstGeom>
          <a:noFill/>
          <a:ln/>
        </p:spPr>
        <p:txBody>
          <a:bodyPr wrap="square" lIns="0" tIns="0" rIns="0" bIns="0" rtlCol="0" anchor="ctr"/>
          <a:lstStyle/>
          <a:p>
            <a:pPr algn="ctr" indent="0" marL="0">
              <a:buNone/>
            </a:pPr>
            <a:r>
              <a:rPr lang="ko-KR" altLang="en-US" sz="1100" b="1" dirty="0">
                <a:solidFill>
                  <a:srgbClr val="0B1A33"/>
                </a:solidFill>
                <a:latin typeface="맑은 고딕" pitchFamily="34" charset="0"/>
                <a:ea typeface="맑은 고딕" pitchFamily="34" charset="-122"/>
                <a:cs typeface="맑은 고딕" pitchFamily="34" charset="-120"/>
              </a:rPr>
              <a:t>1</a:t>
            </a:r>
            <a:endParaRPr lang="ko-KR" sz="1100" dirty="0"/>
          </a:p>
        </p:txBody>
      </p:sp>
      <p:sp>
        <p:nvSpPr>
          <p:cNvPr id="9" name="Text 6"/>
          <p:cNvSpPr txBox="1"/>
          <p:nvPr/>
        </p:nvSpPr>
        <p:spPr>
          <a:xfrm>
            <a:off x="548640" y="1920240"/>
            <a:ext cx="2057400" cy="347472"/>
          </a:xfrm>
          <a:prstGeom prst="rect">
            <a:avLst/>
          </a:prstGeom>
          <a:noFill/>
          <a:ln/>
        </p:spPr>
        <p:txBody>
          <a:bodyPr wrap="square" lIns="0" tIns="0" rIns="0" bIns="0" rtlCol="0" anchor="t"/>
          <a:lstStyle/>
          <a:p>
            <a:pPr algn="ctr" indent="0" marL="0">
              <a:buNone/>
            </a:pPr>
            <a:r>
              <a:rPr lang="ko-KR" altLang="en-US" sz="1700" b="1" dirty="0">
                <a:solidFill>
                  <a:srgbClr val="FFFFFF"/>
                </a:solidFill>
                <a:latin typeface="맑은 고딕" pitchFamily="34" charset="0"/>
                <a:ea typeface="맑은 고딕" pitchFamily="34" charset="-122"/>
                <a:cs typeface="맑은 고딕" pitchFamily="34" charset="-120"/>
              </a:rPr>
              <a:t>사건 접수</a:t>
            </a:r>
            <a:endParaRPr lang="ko-KR" sz="1700" dirty="0"/>
          </a:p>
        </p:txBody>
      </p:sp>
      <p:sp>
        <p:nvSpPr>
          <p:cNvPr id="10" name="Text 7"/>
          <p:cNvSpPr txBox="1"/>
          <p:nvPr/>
        </p:nvSpPr>
        <p:spPr>
          <a:xfrm>
            <a:off x="548640" y="2286000"/>
            <a:ext cx="2057400" cy="502920"/>
          </a:xfrm>
          <a:prstGeom prst="rect">
            <a:avLst/>
          </a:prstGeom>
          <a:noFill/>
          <a:ln/>
        </p:spPr>
        <p:txBody>
          <a:bodyPr wrap="square" lIns="0" tIns="0" rIns="0" bIns="0" rtlCol="0" anchor="t"/>
          <a:lstStyle/>
          <a:p>
            <a:pPr algn="ctr" indent="0" marL="0">
              <a:buNone/>
            </a:pPr>
            <a:r>
              <a:rPr lang="ko-KR" altLang="en-US" sz="1300" dirty="0">
                <a:solidFill>
                  <a:srgbClr val="A9BCD3"/>
                </a:solidFill>
                <a:latin typeface="맑은 고딕" pitchFamily="34" charset="0"/>
                <a:ea typeface="맑은 고딕" pitchFamily="34" charset="-122"/>
                <a:cs typeface="맑은 고딕" pitchFamily="34" charset="-120"/>
              </a:rPr>
              <a:t>브리핑 후 요청 카드가</a:t>
            </a:r>
            <a:endParaRPr lang="ko-KR" sz="1300" dirty="0"/>
          </a:p>
          <a:p>
            <a:pPr algn="ctr" indent="0" marL="0">
              <a:buNone/>
            </a:pPr>
            <a:r>
              <a:rPr lang="ko-KR" altLang="en-US" sz="1300" dirty="0">
                <a:solidFill>
                  <a:srgbClr val="A9BCD3"/>
                </a:solidFill>
                <a:latin typeface="맑은 고딕" pitchFamily="34" charset="0"/>
                <a:ea typeface="맑은 고딕" pitchFamily="34" charset="-122"/>
                <a:cs typeface="맑은 고딕" pitchFamily="34" charset="-120"/>
              </a:rPr>
              <a:t>데스크에 도착</a:t>
            </a:r>
            <a:endParaRPr lang="ko-KR" sz="1300" dirty="0"/>
          </a:p>
        </p:txBody>
      </p:sp>
      <p:sp>
        <p:nvSpPr>
          <p:cNvPr id="11" name="Shape 8"/>
          <p:cNvSpPr/>
          <p:nvPr/>
        </p:nvSpPr>
        <p:spPr>
          <a:xfrm>
            <a:off x="2642616" y="1389888"/>
            <a:ext cx="128016" cy="256032"/>
          </a:xfrm>
          <a:prstGeom prst="chevron">
            <a:avLst/>
          </a:prstGeom>
          <a:solidFill>
            <a:srgbClr val="19B3B1"/>
          </a:solidFill>
          <a:ln/>
        </p:spPr>
      </p:sp>
      <p:sp>
        <p:nvSpPr>
          <p:cNvPr id="12" name="Shape 9"/>
          <p:cNvSpPr/>
          <p:nvPr/>
        </p:nvSpPr>
        <p:spPr>
          <a:xfrm>
            <a:off x="594360" y="2907792"/>
            <a:ext cx="1965960" cy="2514600"/>
          </a:xfrm>
          <a:prstGeom prst="roundRect">
            <a:avLst>
              <a:gd name="adj" fmla="val 8372"/>
            </a:avLst>
          </a:prstGeom>
          <a:solidFill>
            <a:srgbClr val="040B17"/>
          </a:solidFill>
          <a:ln w="12700">
            <a:solidFill>
              <a:srgbClr val="3A5478"/>
            </a:solidFill>
            <a:prstDash val="solid"/>
          </a:ln>
        </p:spPr>
      </p:sp>
      <p:pic>
        <p:nvPicPr>
          <p:cNvPr id="13" name="Image 1" descr="HTML 시제품 화면: 사건 접수">    </p:cNvPr>
          <p:cNvPicPr>
            <a:picLocks noChangeAspect="1"/>
          </p:cNvPicPr>
          <p:nvPr/>
        </p:nvPicPr>
        <p:blipFill>
          <a:blip r:embed="rId2"/>
          <a:stretch>
            <a:fillRect/>
          </a:stretch>
        </p:blipFill>
        <p:spPr>
          <a:xfrm>
            <a:off x="667512" y="2980944"/>
            <a:ext cx="1819656" cy="2368296"/>
          </a:xfrm>
          <a:prstGeom prst="rect">
            <a:avLst/>
          </a:prstGeom>
        </p:spPr>
      </p:pic>
      <p:sp>
        <p:nvSpPr>
          <p:cNvPr id="14" name="Shape 10"/>
          <p:cNvSpPr/>
          <p:nvPr/>
        </p:nvSpPr>
        <p:spPr>
          <a:xfrm>
            <a:off x="3506724" y="1188720"/>
            <a:ext cx="658368" cy="658368"/>
          </a:xfrm>
          <a:prstGeom prst="ellipse">
            <a:avLst/>
          </a:prstGeom>
          <a:solidFill>
            <a:srgbClr val="19B3B1"/>
          </a:solidFill>
          <a:ln/>
        </p:spPr>
      </p:sp>
      <p:pic>
        <p:nvPicPr>
          <p:cNvPr id="15" name="Image 2" descr="preencoded.png">    </p:cNvPr>
          <p:cNvPicPr>
            <a:picLocks noChangeAspect="1"/>
          </p:cNvPicPr>
          <p:nvPr/>
        </p:nvPicPr>
        <p:blipFill>
          <a:blip r:embed="rId3"/>
          <a:stretch>
            <a:fillRect/>
          </a:stretch>
        </p:blipFill>
        <p:spPr>
          <a:xfrm>
            <a:off x="3671316" y="1353312"/>
            <a:ext cx="329184" cy="329184"/>
          </a:xfrm>
          <a:prstGeom prst="rect">
            <a:avLst/>
          </a:prstGeom>
        </p:spPr>
      </p:pic>
      <p:sp>
        <p:nvSpPr>
          <p:cNvPr id="16" name="Shape 11"/>
          <p:cNvSpPr/>
          <p:nvPr/>
        </p:nvSpPr>
        <p:spPr>
          <a:xfrm>
            <a:off x="4000500" y="1133856"/>
            <a:ext cx="274320" cy="274320"/>
          </a:xfrm>
          <a:prstGeom prst="roundRect">
            <a:avLst>
              <a:gd name="adj" fmla="val 50000"/>
            </a:avLst>
          </a:prstGeom>
          <a:solidFill>
            <a:srgbClr val="F2B33D"/>
          </a:solidFill>
          <a:ln/>
        </p:spPr>
      </p:sp>
      <p:sp>
        <p:nvSpPr>
          <p:cNvPr id="17" name="Text 12"/>
          <p:cNvSpPr txBox="1"/>
          <p:nvPr/>
        </p:nvSpPr>
        <p:spPr>
          <a:xfrm>
            <a:off x="4000500" y="1133856"/>
            <a:ext cx="274320" cy="274320"/>
          </a:xfrm>
          <a:prstGeom prst="rect">
            <a:avLst/>
          </a:prstGeom>
          <a:noFill/>
          <a:ln/>
        </p:spPr>
        <p:txBody>
          <a:bodyPr wrap="square" lIns="0" tIns="0" rIns="0" bIns="0" rtlCol="0" anchor="ctr"/>
          <a:lstStyle/>
          <a:p>
            <a:pPr algn="ctr" indent="0" marL="0">
              <a:buNone/>
            </a:pPr>
            <a:r>
              <a:rPr lang="ko-KR" altLang="en-US" sz="1100" b="1" dirty="0">
                <a:solidFill>
                  <a:srgbClr val="0B1A33"/>
                </a:solidFill>
                <a:latin typeface="맑은 고딕" pitchFamily="34" charset="0"/>
                <a:ea typeface="맑은 고딕" pitchFamily="34" charset="-122"/>
                <a:cs typeface="맑은 고딕" pitchFamily="34" charset="-120"/>
              </a:rPr>
              <a:t>2</a:t>
            </a:r>
            <a:endParaRPr lang="ko-KR" sz="1100" dirty="0"/>
          </a:p>
        </p:txBody>
      </p:sp>
      <p:sp>
        <p:nvSpPr>
          <p:cNvPr id="18" name="Text 13"/>
          <p:cNvSpPr txBox="1"/>
          <p:nvPr/>
        </p:nvSpPr>
        <p:spPr>
          <a:xfrm>
            <a:off x="2807208" y="1920240"/>
            <a:ext cx="2057400" cy="347472"/>
          </a:xfrm>
          <a:prstGeom prst="rect">
            <a:avLst/>
          </a:prstGeom>
          <a:noFill/>
          <a:ln/>
        </p:spPr>
        <p:txBody>
          <a:bodyPr wrap="square" lIns="0" tIns="0" rIns="0" bIns="0" rtlCol="0" anchor="t"/>
          <a:lstStyle/>
          <a:p>
            <a:pPr algn="ctr" indent="0" marL="0">
              <a:buNone/>
            </a:pPr>
            <a:r>
              <a:rPr lang="ko-KR" altLang="en-US" sz="1700" b="1" dirty="0">
                <a:solidFill>
                  <a:srgbClr val="FFFFFF"/>
                </a:solidFill>
                <a:latin typeface="맑은 고딕" pitchFamily="34" charset="0"/>
                <a:ea typeface="맑은 고딕" pitchFamily="34" charset="-122"/>
                <a:cs typeface="맑은 고딕" pitchFamily="34" charset="-120"/>
              </a:rPr>
              <a:t>문서·메시지 확인</a:t>
            </a:r>
            <a:endParaRPr lang="ko-KR" sz="1700" dirty="0"/>
          </a:p>
        </p:txBody>
      </p:sp>
      <p:sp>
        <p:nvSpPr>
          <p:cNvPr id="19" name="Text 14"/>
          <p:cNvSpPr txBox="1"/>
          <p:nvPr/>
        </p:nvSpPr>
        <p:spPr>
          <a:xfrm>
            <a:off x="2807208" y="2286000"/>
            <a:ext cx="2057400" cy="502920"/>
          </a:xfrm>
          <a:prstGeom prst="rect">
            <a:avLst/>
          </a:prstGeom>
          <a:noFill/>
          <a:ln/>
        </p:spPr>
        <p:txBody>
          <a:bodyPr wrap="square" lIns="0" tIns="0" rIns="0" bIns="0" rtlCol="0" anchor="t"/>
          <a:lstStyle/>
          <a:p>
            <a:pPr algn="ctr" indent="0" marL="0">
              <a:buNone/>
            </a:pPr>
            <a:r>
              <a:rPr lang="ko-KR" altLang="en-US" sz="1300" dirty="0">
                <a:solidFill>
                  <a:srgbClr val="A9BCD3"/>
                </a:solidFill>
                <a:latin typeface="맑은 고딕" pitchFamily="34" charset="0"/>
                <a:ea typeface="맑은 고딕" pitchFamily="34" charset="-122"/>
                <a:cs typeface="맑은 고딕" pitchFamily="34" charset="-120"/>
              </a:rPr>
              <a:t>문서 탭과 내 기록을</a:t>
            </a:r>
            <a:endParaRPr lang="ko-KR" sz="1300" dirty="0"/>
          </a:p>
          <a:p>
            <a:pPr algn="ctr" indent="0" marL="0">
              <a:buNone/>
            </a:pPr>
            <a:r>
              <a:rPr lang="ko-KR" altLang="en-US" sz="1300" dirty="0">
                <a:solidFill>
                  <a:srgbClr val="A9BCD3"/>
                </a:solidFill>
                <a:latin typeface="맑은 고딕" pitchFamily="34" charset="0"/>
                <a:ea typeface="맑은 고딕" pitchFamily="34" charset="-122"/>
                <a:cs typeface="맑은 고딕" pitchFamily="34" charset="-120"/>
              </a:rPr>
              <a:t>열어 요청 확인</a:t>
            </a:r>
            <a:endParaRPr lang="ko-KR" sz="1300" dirty="0"/>
          </a:p>
        </p:txBody>
      </p:sp>
      <p:sp>
        <p:nvSpPr>
          <p:cNvPr id="20" name="Shape 15"/>
          <p:cNvSpPr/>
          <p:nvPr/>
        </p:nvSpPr>
        <p:spPr>
          <a:xfrm>
            <a:off x="4901184" y="1389888"/>
            <a:ext cx="128016" cy="256032"/>
          </a:xfrm>
          <a:prstGeom prst="chevron">
            <a:avLst/>
          </a:prstGeom>
          <a:solidFill>
            <a:srgbClr val="19B3B1"/>
          </a:solidFill>
          <a:ln/>
        </p:spPr>
      </p:sp>
      <p:sp>
        <p:nvSpPr>
          <p:cNvPr id="21" name="Shape 16"/>
          <p:cNvSpPr/>
          <p:nvPr/>
        </p:nvSpPr>
        <p:spPr>
          <a:xfrm>
            <a:off x="2852928" y="2907792"/>
            <a:ext cx="1965960" cy="2514600"/>
          </a:xfrm>
          <a:prstGeom prst="roundRect">
            <a:avLst>
              <a:gd name="adj" fmla="val 8372"/>
            </a:avLst>
          </a:prstGeom>
          <a:solidFill>
            <a:srgbClr val="040B17"/>
          </a:solidFill>
          <a:ln w="12700">
            <a:solidFill>
              <a:srgbClr val="3A5478"/>
            </a:solidFill>
            <a:prstDash val="solid"/>
          </a:ln>
        </p:spPr>
      </p:sp>
      <p:pic>
        <p:nvPicPr>
          <p:cNvPr id="22" name="Image 3" descr="HTML 시제품 화면: 문서·메시지 확인">    </p:cNvPr>
          <p:cNvPicPr>
            <a:picLocks noChangeAspect="1"/>
          </p:cNvPicPr>
          <p:nvPr/>
        </p:nvPicPr>
        <p:blipFill>
          <a:blip r:embed="rId4"/>
          <a:stretch>
            <a:fillRect/>
          </a:stretch>
        </p:blipFill>
        <p:spPr>
          <a:xfrm>
            <a:off x="2926080" y="2980944"/>
            <a:ext cx="1819656" cy="2368296"/>
          </a:xfrm>
          <a:prstGeom prst="rect">
            <a:avLst/>
          </a:prstGeom>
        </p:spPr>
      </p:pic>
      <p:sp>
        <p:nvSpPr>
          <p:cNvPr id="23" name="Shape 17"/>
          <p:cNvSpPr/>
          <p:nvPr/>
        </p:nvSpPr>
        <p:spPr>
          <a:xfrm>
            <a:off x="5765292" y="1188720"/>
            <a:ext cx="658368" cy="658368"/>
          </a:xfrm>
          <a:prstGeom prst="ellipse">
            <a:avLst/>
          </a:prstGeom>
          <a:solidFill>
            <a:srgbClr val="19B3B1"/>
          </a:solidFill>
          <a:ln/>
        </p:spPr>
      </p:sp>
      <p:pic>
        <p:nvPicPr>
          <p:cNvPr id="24" name="Image 4" descr="preencoded.png">    </p:cNvPr>
          <p:cNvPicPr>
            <a:picLocks noChangeAspect="1"/>
          </p:cNvPicPr>
          <p:nvPr/>
        </p:nvPicPr>
        <p:blipFill>
          <a:blip r:embed="rId5"/>
          <a:stretch>
            <a:fillRect/>
          </a:stretch>
        </p:blipFill>
        <p:spPr>
          <a:xfrm>
            <a:off x="5929884" y="1353312"/>
            <a:ext cx="329184" cy="329184"/>
          </a:xfrm>
          <a:prstGeom prst="rect">
            <a:avLst/>
          </a:prstGeom>
        </p:spPr>
      </p:pic>
      <p:sp>
        <p:nvSpPr>
          <p:cNvPr id="25" name="Shape 18"/>
          <p:cNvSpPr/>
          <p:nvPr/>
        </p:nvSpPr>
        <p:spPr>
          <a:xfrm>
            <a:off x="6259068" y="1133856"/>
            <a:ext cx="274320" cy="274320"/>
          </a:xfrm>
          <a:prstGeom prst="roundRect">
            <a:avLst>
              <a:gd name="adj" fmla="val 50000"/>
            </a:avLst>
          </a:prstGeom>
          <a:solidFill>
            <a:srgbClr val="F2B33D"/>
          </a:solidFill>
          <a:ln/>
        </p:spPr>
      </p:sp>
      <p:sp>
        <p:nvSpPr>
          <p:cNvPr id="26" name="Text 19"/>
          <p:cNvSpPr txBox="1"/>
          <p:nvPr/>
        </p:nvSpPr>
        <p:spPr>
          <a:xfrm>
            <a:off x="6259068" y="1133856"/>
            <a:ext cx="274320" cy="274320"/>
          </a:xfrm>
          <a:prstGeom prst="rect">
            <a:avLst/>
          </a:prstGeom>
          <a:noFill/>
          <a:ln/>
        </p:spPr>
        <p:txBody>
          <a:bodyPr wrap="square" lIns="0" tIns="0" rIns="0" bIns="0" rtlCol="0" anchor="ctr"/>
          <a:lstStyle/>
          <a:p>
            <a:pPr algn="ctr" indent="0" marL="0">
              <a:buNone/>
            </a:pPr>
            <a:r>
              <a:rPr lang="ko-KR" altLang="en-US" sz="1100" b="1" dirty="0">
                <a:solidFill>
                  <a:srgbClr val="0B1A33"/>
                </a:solidFill>
                <a:latin typeface="맑은 고딕" pitchFamily="34" charset="0"/>
                <a:ea typeface="맑은 고딕" pitchFamily="34" charset="-122"/>
                <a:cs typeface="맑은 고딕" pitchFamily="34" charset="-120"/>
              </a:rPr>
              <a:t>3</a:t>
            </a:r>
            <a:endParaRPr lang="ko-KR" sz="1100" dirty="0"/>
          </a:p>
        </p:txBody>
      </p:sp>
      <p:sp>
        <p:nvSpPr>
          <p:cNvPr id="27" name="Text 20"/>
          <p:cNvSpPr txBox="1"/>
          <p:nvPr/>
        </p:nvSpPr>
        <p:spPr>
          <a:xfrm>
            <a:off x="5065776" y="1920240"/>
            <a:ext cx="2057400" cy="347472"/>
          </a:xfrm>
          <a:prstGeom prst="rect">
            <a:avLst/>
          </a:prstGeom>
          <a:noFill/>
          <a:ln/>
        </p:spPr>
        <p:txBody>
          <a:bodyPr wrap="square" lIns="0" tIns="0" rIns="0" bIns="0" rtlCol="0" anchor="t"/>
          <a:lstStyle/>
          <a:p>
            <a:pPr algn="ctr" indent="0" marL="0">
              <a:buNone/>
            </a:pPr>
            <a:r>
              <a:rPr lang="ko-KR" altLang="en-US" sz="1700" b="1" dirty="0">
                <a:solidFill>
                  <a:srgbClr val="FFFFFF"/>
                </a:solidFill>
                <a:latin typeface="맑은 고딕" pitchFamily="34" charset="0"/>
                <a:ea typeface="맑은 고딕" pitchFamily="34" charset="-122"/>
                <a:cs typeface="맑은 고딕" pitchFamily="34" charset="-120"/>
              </a:rPr>
              <a:t>단서 비교·위험 탐지</a:t>
            </a:r>
            <a:endParaRPr lang="ko-KR" sz="1700" dirty="0"/>
          </a:p>
        </p:txBody>
      </p:sp>
      <p:sp>
        <p:nvSpPr>
          <p:cNvPr id="28" name="Text 21"/>
          <p:cNvSpPr txBox="1"/>
          <p:nvPr/>
        </p:nvSpPr>
        <p:spPr>
          <a:xfrm>
            <a:off x="5065776" y="2286000"/>
            <a:ext cx="2057400" cy="502920"/>
          </a:xfrm>
          <a:prstGeom prst="rect">
            <a:avLst/>
          </a:prstGeom>
          <a:noFill/>
          <a:ln/>
        </p:spPr>
        <p:txBody>
          <a:bodyPr wrap="square" lIns="0" tIns="0" rIns="0" bIns="0" rtlCol="0" anchor="t"/>
          <a:lstStyle/>
          <a:p>
            <a:pPr algn="ctr" indent="0" marL="0">
              <a:buNone/>
            </a:pPr>
            <a:r>
              <a:rPr lang="ko-KR" altLang="en-US" sz="1300" dirty="0">
                <a:solidFill>
                  <a:srgbClr val="A9BCD3"/>
                </a:solidFill>
                <a:latin typeface="맑은 고딕" pitchFamily="34" charset="0"/>
                <a:ea typeface="맑은 고딕" pitchFamily="34" charset="-122"/>
                <a:cs typeface="맑은 고딕" pitchFamily="34" charset="-120"/>
              </a:rPr>
              <a:t>두 정보를 대조하고</a:t>
            </a:r>
            <a:endParaRPr lang="ko-KR" sz="1300" dirty="0"/>
          </a:p>
          <a:p>
            <a:pPr algn="ctr" indent="0" marL="0">
              <a:buNone/>
            </a:pPr>
            <a:r>
              <a:rPr lang="ko-KR" altLang="en-US" sz="1300" dirty="0">
                <a:solidFill>
                  <a:srgbClr val="A9BCD3"/>
                </a:solidFill>
                <a:latin typeface="맑은 고딕" pitchFamily="34" charset="0"/>
                <a:ea typeface="맑은 고딕" pitchFamily="34" charset="-122"/>
                <a:cs typeface="맑은 고딕" pitchFamily="34" charset="-120"/>
              </a:rPr>
              <a:t>의심 칸에 깃발</a:t>
            </a:r>
            <a:endParaRPr lang="ko-KR" sz="1300" dirty="0"/>
          </a:p>
        </p:txBody>
      </p:sp>
      <p:sp>
        <p:nvSpPr>
          <p:cNvPr id="29" name="Shape 22"/>
          <p:cNvSpPr/>
          <p:nvPr/>
        </p:nvSpPr>
        <p:spPr>
          <a:xfrm>
            <a:off x="7159752" y="1389888"/>
            <a:ext cx="128016" cy="256032"/>
          </a:xfrm>
          <a:prstGeom prst="chevron">
            <a:avLst/>
          </a:prstGeom>
          <a:solidFill>
            <a:srgbClr val="19B3B1"/>
          </a:solidFill>
          <a:ln/>
        </p:spPr>
      </p:sp>
      <p:sp>
        <p:nvSpPr>
          <p:cNvPr id="30" name="Shape 23"/>
          <p:cNvSpPr/>
          <p:nvPr/>
        </p:nvSpPr>
        <p:spPr>
          <a:xfrm>
            <a:off x="5111496" y="2907792"/>
            <a:ext cx="1965960" cy="2514600"/>
          </a:xfrm>
          <a:prstGeom prst="roundRect">
            <a:avLst>
              <a:gd name="adj" fmla="val 8372"/>
            </a:avLst>
          </a:prstGeom>
          <a:solidFill>
            <a:srgbClr val="040B17"/>
          </a:solidFill>
          <a:ln w="12700">
            <a:solidFill>
              <a:srgbClr val="3A5478"/>
            </a:solidFill>
            <a:prstDash val="solid"/>
          </a:ln>
        </p:spPr>
      </p:sp>
      <p:pic>
        <p:nvPicPr>
          <p:cNvPr id="31" name="Image 5" descr="HTML 시제품 화면: 단서 비교·위험 탐지">    </p:cNvPr>
          <p:cNvPicPr>
            <a:picLocks noChangeAspect="1"/>
          </p:cNvPicPr>
          <p:nvPr/>
        </p:nvPicPr>
        <p:blipFill>
          <a:blip r:embed="rId6"/>
          <a:stretch>
            <a:fillRect/>
          </a:stretch>
        </p:blipFill>
        <p:spPr>
          <a:xfrm>
            <a:off x="5184648" y="2980944"/>
            <a:ext cx="1819656" cy="2368296"/>
          </a:xfrm>
          <a:prstGeom prst="rect">
            <a:avLst/>
          </a:prstGeom>
        </p:spPr>
      </p:pic>
      <p:sp>
        <p:nvSpPr>
          <p:cNvPr id="32" name="Shape 24"/>
          <p:cNvSpPr/>
          <p:nvPr/>
        </p:nvSpPr>
        <p:spPr>
          <a:xfrm>
            <a:off x="8023860" y="1188720"/>
            <a:ext cx="658368" cy="658368"/>
          </a:xfrm>
          <a:prstGeom prst="ellipse">
            <a:avLst/>
          </a:prstGeom>
          <a:solidFill>
            <a:srgbClr val="19B3B1"/>
          </a:solidFill>
          <a:ln/>
        </p:spPr>
      </p:sp>
      <p:pic>
        <p:nvPicPr>
          <p:cNvPr id="33" name="Image 6" descr="preencoded.png">    </p:cNvPr>
          <p:cNvPicPr>
            <a:picLocks noChangeAspect="1"/>
          </p:cNvPicPr>
          <p:nvPr/>
        </p:nvPicPr>
        <p:blipFill>
          <a:blip r:embed="rId7"/>
          <a:stretch>
            <a:fillRect/>
          </a:stretch>
        </p:blipFill>
        <p:spPr>
          <a:xfrm>
            <a:off x="8188452" y="1353312"/>
            <a:ext cx="329184" cy="329184"/>
          </a:xfrm>
          <a:prstGeom prst="rect">
            <a:avLst/>
          </a:prstGeom>
        </p:spPr>
      </p:pic>
      <p:sp>
        <p:nvSpPr>
          <p:cNvPr id="34" name="Shape 25"/>
          <p:cNvSpPr/>
          <p:nvPr/>
        </p:nvSpPr>
        <p:spPr>
          <a:xfrm>
            <a:off x="8517636" y="1133856"/>
            <a:ext cx="274320" cy="274320"/>
          </a:xfrm>
          <a:prstGeom prst="roundRect">
            <a:avLst>
              <a:gd name="adj" fmla="val 50000"/>
            </a:avLst>
          </a:prstGeom>
          <a:solidFill>
            <a:srgbClr val="F2B33D"/>
          </a:solidFill>
          <a:ln/>
        </p:spPr>
      </p:sp>
      <p:sp>
        <p:nvSpPr>
          <p:cNvPr id="35" name="Text 26"/>
          <p:cNvSpPr txBox="1"/>
          <p:nvPr/>
        </p:nvSpPr>
        <p:spPr>
          <a:xfrm>
            <a:off x="8517636" y="1133856"/>
            <a:ext cx="274320" cy="274320"/>
          </a:xfrm>
          <a:prstGeom prst="rect">
            <a:avLst/>
          </a:prstGeom>
          <a:noFill/>
          <a:ln/>
        </p:spPr>
        <p:txBody>
          <a:bodyPr wrap="square" lIns="0" tIns="0" rIns="0" bIns="0" rtlCol="0" anchor="ctr"/>
          <a:lstStyle/>
          <a:p>
            <a:pPr algn="ctr" indent="0" marL="0">
              <a:buNone/>
            </a:pPr>
            <a:r>
              <a:rPr lang="ko-KR" altLang="en-US" sz="1100" b="1" dirty="0">
                <a:solidFill>
                  <a:srgbClr val="0B1A33"/>
                </a:solidFill>
                <a:latin typeface="맑은 고딕" pitchFamily="34" charset="0"/>
                <a:ea typeface="맑은 고딕" pitchFamily="34" charset="-122"/>
                <a:cs typeface="맑은 고딕" pitchFamily="34" charset="-120"/>
              </a:rPr>
              <a:t>4</a:t>
            </a:r>
            <a:endParaRPr lang="ko-KR" sz="1100" dirty="0"/>
          </a:p>
        </p:txBody>
      </p:sp>
      <p:sp>
        <p:nvSpPr>
          <p:cNvPr id="36" name="Text 27"/>
          <p:cNvSpPr txBox="1"/>
          <p:nvPr/>
        </p:nvSpPr>
        <p:spPr>
          <a:xfrm>
            <a:off x="7324344" y="1920240"/>
            <a:ext cx="2057400" cy="347472"/>
          </a:xfrm>
          <a:prstGeom prst="rect">
            <a:avLst/>
          </a:prstGeom>
          <a:noFill/>
          <a:ln/>
        </p:spPr>
        <p:txBody>
          <a:bodyPr wrap="square" lIns="0" tIns="0" rIns="0" bIns="0" rtlCol="0" anchor="t"/>
          <a:lstStyle/>
          <a:p>
            <a:pPr algn="ctr" indent="0" marL="0">
              <a:buNone/>
            </a:pPr>
            <a:r>
              <a:rPr lang="ko-KR" altLang="en-US" sz="1700" b="1" dirty="0">
                <a:solidFill>
                  <a:srgbClr val="FFFFFF"/>
                </a:solidFill>
                <a:latin typeface="맑은 고딕" pitchFamily="34" charset="0"/>
                <a:ea typeface="맑은 고딕" pitchFamily="34" charset="-122"/>
                <a:cs typeface="맑은 고딕" pitchFamily="34" charset="-120"/>
              </a:rPr>
              <a:t>판정</a:t>
            </a:r>
            <a:endParaRPr lang="ko-KR" sz="1700" dirty="0"/>
          </a:p>
        </p:txBody>
      </p:sp>
      <p:sp>
        <p:nvSpPr>
          <p:cNvPr id="37" name="Text 28"/>
          <p:cNvSpPr txBox="1"/>
          <p:nvPr/>
        </p:nvSpPr>
        <p:spPr>
          <a:xfrm>
            <a:off x="7324344" y="2286000"/>
            <a:ext cx="2057400" cy="502920"/>
          </a:xfrm>
          <a:prstGeom prst="rect">
            <a:avLst/>
          </a:prstGeom>
          <a:noFill/>
          <a:ln/>
        </p:spPr>
        <p:txBody>
          <a:bodyPr wrap="square" lIns="0" tIns="0" rIns="0" bIns="0" rtlCol="0" anchor="t"/>
          <a:lstStyle/>
          <a:p>
            <a:pPr algn="ctr" indent="0" marL="0">
              <a:buNone/>
            </a:pPr>
            <a:r>
              <a:rPr lang="ko-KR" altLang="en-US" sz="1300" dirty="0">
                <a:solidFill>
                  <a:srgbClr val="A9BCD3"/>
                </a:solidFill>
                <a:latin typeface="맑은 고딕" pitchFamily="34" charset="0"/>
                <a:ea typeface="맑은 고딕" pitchFamily="34" charset="-122"/>
                <a:cs typeface="맑은 고딕" pitchFamily="34" charset="-120"/>
              </a:rPr>
              <a:t>승인·거부·추가 확인</a:t>
            </a:r>
            <a:endParaRPr lang="ko-KR" sz="1300" dirty="0"/>
          </a:p>
          <a:p>
            <a:pPr algn="ctr" indent="0" marL="0">
              <a:buNone/>
            </a:pPr>
            <a:r>
              <a:rPr lang="ko-KR" altLang="en-US" sz="1300" dirty="0">
                <a:solidFill>
                  <a:srgbClr val="A9BCD3"/>
                </a:solidFill>
                <a:latin typeface="맑은 고딕" pitchFamily="34" charset="0"/>
                <a:ea typeface="맑은 고딕" pitchFamily="34" charset="-122"/>
                <a:cs typeface="맑은 고딕" pitchFamily="34" charset="-120"/>
              </a:rPr>
              <a:t>거부면 신고 여부까지</a:t>
            </a:r>
            <a:endParaRPr lang="ko-KR" sz="1300" dirty="0"/>
          </a:p>
        </p:txBody>
      </p:sp>
      <p:sp>
        <p:nvSpPr>
          <p:cNvPr id="38" name="Shape 29"/>
          <p:cNvSpPr/>
          <p:nvPr/>
        </p:nvSpPr>
        <p:spPr>
          <a:xfrm>
            <a:off x="9418320" y="1389888"/>
            <a:ext cx="128016" cy="256032"/>
          </a:xfrm>
          <a:prstGeom prst="chevron">
            <a:avLst/>
          </a:prstGeom>
          <a:solidFill>
            <a:srgbClr val="19B3B1"/>
          </a:solidFill>
          <a:ln/>
        </p:spPr>
      </p:sp>
      <p:sp>
        <p:nvSpPr>
          <p:cNvPr id="39" name="Shape 30"/>
          <p:cNvSpPr/>
          <p:nvPr/>
        </p:nvSpPr>
        <p:spPr>
          <a:xfrm>
            <a:off x="7370064" y="2907792"/>
            <a:ext cx="1965960" cy="2514600"/>
          </a:xfrm>
          <a:prstGeom prst="roundRect">
            <a:avLst>
              <a:gd name="adj" fmla="val 8372"/>
            </a:avLst>
          </a:prstGeom>
          <a:solidFill>
            <a:srgbClr val="040B17"/>
          </a:solidFill>
          <a:ln w="12700">
            <a:solidFill>
              <a:srgbClr val="3A5478"/>
            </a:solidFill>
            <a:prstDash val="solid"/>
          </a:ln>
        </p:spPr>
      </p:sp>
      <p:pic>
        <p:nvPicPr>
          <p:cNvPr id="40" name="Image 7" descr="HTML 시제품 화면: 판정">    </p:cNvPr>
          <p:cNvPicPr>
            <a:picLocks noChangeAspect="1"/>
          </p:cNvPicPr>
          <p:nvPr/>
        </p:nvPicPr>
        <p:blipFill>
          <a:blip r:embed="rId8"/>
          <a:stretch>
            <a:fillRect/>
          </a:stretch>
        </p:blipFill>
        <p:spPr>
          <a:xfrm>
            <a:off x="7443216" y="2980944"/>
            <a:ext cx="1819656" cy="2368296"/>
          </a:xfrm>
          <a:prstGeom prst="rect">
            <a:avLst/>
          </a:prstGeom>
        </p:spPr>
      </p:pic>
      <p:sp>
        <p:nvSpPr>
          <p:cNvPr id="41" name="Shape 31"/>
          <p:cNvSpPr/>
          <p:nvPr/>
        </p:nvSpPr>
        <p:spPr>
          <a:xfrm>
            <a:off x="10282428" y="1188720"/>
            <a:ext cx="658368" cy="658368"/>
          </a:xfrm>
          <a:prstGeom prst="ellipse">
            <a:avLst/>
          </a:prstGeom>
          <a:solidFill>
            <a:srgbClr val="19B3B1"/>
          </a:solidFill>
          <a:ln/>
        </p:spPr>
      </p:sp>
      <p:pic>
        <p:nvPicPr>
          <p:cNvPr id="42" name="Image 8" descr="preencoded.png">    </p:cNvPr>
          <p:cNvPicPr>
            <a:picLocks noChangeAspect="1"/>
          </p:cNvPicPr>
          <p:nvPr/>
        </p:nvPicPr>
        <p:blipFill>
          <a:blip r:embed="rId9"/>
          <a:stretch>
            <a:fillRect/>
          </a:stretch>
        </p:blipFill>
        <p:spPr>
          <a:xfrm>
            <a:off x="10447020" y="1353312"/>
            <a:ext cx="329184" cy="329184"/>
          </a:xfrm>
          <a:prstGeom prst="rect">
            <a:avLst/>
          </a:prstGeom>
        </p:spPr>
      </p:pic>
      <p:sp>
        <p:nvSpPr>
          <p:cNvPr id="43" name="Shape 32"/>
          <p:cNvSpPr/>
          <p:nvPr/>
        </p:nvSpPr>
        <p:spPr>
          <a:xfrm>
            <a:off x="10776204" y="1133856"/>
            <a:ext cx="274320" cy="274320"/>
          </a:xfrm>
          <a:prstGeom prst="roundRect">
            <a:avLst>
              <a:gd name="adj" fmla="val 50000"/>
            </a:avLst>
          </a:prstGeom>
          <a:solidFill>
            <a:srgbClr val="F2B33D"/>
          </a:solidFill>
          <a:ln/>
        </p:spPr>
      </p:sp>
      <p:sp>
        <p:nvSpPr>
          <p:cNvPr id="44" name="Text 33"/>
          <p:cNvSpPr txBox="1"/>
          <p:nvPr/>
        </p:nvSpPr>
        <p:spPr>
          <a:xfrm>
            <a:off x="10776204" y="1133856"/>
            <a:ext cx="274320" cy="274320"/>
          </a:xfrm>
          <a:prstGeom prst="rect">
            <a:avLst/>
          </a:prstGeom>
          <a:noFill/>
          <a:ln/>
        </p:spPr>
        <p:txBody>
          <a:bodyPr wrap="square" lIns="0" tIns="0" rIns="0" bIns="0" rtlCol="0" anchor="ctr"/>
          <a:lstStyle/>
          <a:p>
            <a:pPr algn="ctr" indent="0" marL="0">
              <a:buNone/>
            </a:pPr>
            <a:r>
              <a:rPr lang="ko-KR" altLang="en-US" sz="1100" b="1" dirty="0">
                <a:solidFill>
                  <a:srgbClr val="0B1A33"/>
                </a:solidFill>
                <a:latin typeface="맑은 고딕" pitchFamily="34" charset="0"/>
                <a:ea typeface="맑은 고딕" pitchFamily="34" charset="-122"/>
                <a:cs typeface="맑은 고딕" pitchFamily="34" charset="-120"/>
              </a:rPr>
              <a:t>5</a:t>
            </a:r>
            <a:endParaRPr lang="ko-KR" sz="1100" dirty="0"/>
          </a:p>
        </p:txBody>
      </p:sp>
      <p:sp>
        <p:nvSpPr>
          <p:cNvPr id="45" name="Text 34"/>
          <p:cNvSpPr txBox="1"/>
          <p:nvPr/>
        </p:nvSpPr>
        <p:spPr>
          <a:xfrm>
            <a:off x="9582912" y="1920240"/>
            <a:ext cx="2057400" cy="347472"/>
          </a:xfrm>
          <a:prstGeom prst="rect">
            <a:avLst/>
          </a:prstGeom>
          <a:noFill/>
          <a:ln/>
        </p:spPr>
        <p:txBody>
          <a:bodyPr wrap="square" lIns="0" tIns="0" rIns="0" bIns="0" rtlCol="0" anchor="t"/>
          <a:lstStyle/>
          <a:p>
            <a:pPr algn="ctr" indent="0" marL="0">
              <a:buNone/>
            </a:pPr>
            <a:r>
              <a:rPr lang="ko-KR" altLang="en-US" sz="1700" b="1" dirty="0">
                <a:solidFill>
                  <a:srgbClr val="FFFFFF"/>
                </a:solidFill>
                <a:latin typeface="맑은 고딕" pitchFamily="34" charset="0"/>
                <a:ea typeface="맑은 고딕" pitchFamily="34" charset="-122"/>
                <a:cs typeface="맑은 고딕" pitchFamily="34" charset="-120"/>
              </a:rPr>
              <a:t>결과 해설·성장</a:t>
            </a:r>
            <a:endParaRPr lang="ko-KR" sz="1700" dirty="0"/>
          </a:p>
        </p:txBody>
      </p:sp>
      <p:sp>
        <p:nvSpPr>
          <p:cNvPr id="46" name="Text 35"/>
          <p:cNvSpPr txBox="1"/>
          <p:nvPr/>
        </p:nvSpPr>
        <p:spPr>
          <a:xfrm>
            <a:off x="9582912" y="2286000"/>
            <a:ext cx="2057400" cy="502920"/>
          </a:xfrm>
          <a:prstGeom prst="rect">
            <a:avLst/>
          </a:prstGeom>
          <a:noFill/>
          <a:ln/>
        </p:spPr>
        <p:txBody>
          <a:bodyPr wrap="square" lIns="0" tIns="0" rIns="0" bIns="0" rtlCol="0" anchor="t"/>
          <a:lstStyle/>
          <a:p>
            <a:pPr algn="ctr" indent="0" marL="0">
              <a:buNone/>
            </a:pPr>
            <a:r>
              <a:rPr lang="ko-KR" altLang="en-US" sz="1300" dirty="0">
                <a:solidFill>
                  <a:srgbClr val="A9BCD3"/>
                </a:solidFill>
                <a:latin typeface="맑은 고딕" pitchFamily="34" charset="0"/>
                <a:ea typeface="맑은 고딕" pitchFamily="34" charset="-122"/>
                <a:cs typeface="맑은 고딕" pitchFamily="34" charset="-120"/>
              </a:rPr>
              <a:t>정답 해설과 점수,</a:t>
            </a:r>
            <a:endParaRPr lang="ko-KR" sz="1300" dirty="0"/>
          </a:p>
          <a:p>
            <a:pPr algn="ctr" indent="0" marL="0">
              <a:buNone/>
            </a:pPr>
            <a:r>
              <a:rPr lang="ko-KR" altLang="en-US" sz="1300" dirty="0">
                <a:solidFill>
                  <a:srgbClr val="A9BCD3"/>
                </a:solidFill>
                <a:latin typeface="맑은 고딕" pitchFamily="34" charset="0"/>
                <a:ea typeface="맑은 고딕" pitchFamily="34" charset="-122"/>
                <a:cs typeface="맑은 고딕" pitchFamily="34" charset="-120"/>
              </a:rPr>
              <a:t>숙달도 상승</a:t>
            </a:r>
            <a:endParaRPr lang="ko-KR" sz="1300" dirty="0"/>
          </a:p>
        </p:txBody>
      </p:sp>
      <p:sp>
        <p:nvSpPr>
          <p:cNvPr id="47" name="Shape 36"/>
          <p:cNvSpPr/>
          <p:nvPr/>
        </p:nvSpPr>
        <p:spPr>
          <a:xfrm>
            <a:off x="9628632" y="2907792"/>
            <a:ext cx="1965960" cy="2514600"/>
          </a:xfrm>
          <a:prstGeom prst="roundRect">
            <a:avLst>
              <a:gd name="adj" fmla="val 8372"/>
            </a:avLst>
          </a:prstGeom>
          <a:solidFill>
            <a:srgbClr val="040B17"/>
          </a:solidFill>
          <a:ln w="12700">
            <a:solidFill>
              <a:srgbClr val="3A5478"/>
            </a:solidFill>
            <a:prstDash val="solid"/>
          </a:ln>
        </p:spPr>
      </p:sp>
      <p:pic>
        <p:nvPicPr>
          <p:cNvPr id="48" name="Image 9" descr="HTML 시제품 화면: 결과 해설·성장">    </p:cNvPr>
          <p:cNvPicPr>
            <a:picLocks noChangeAspect="1"/>
          </p:cNvPicPr>
          <p:nvPr/>
        </p:nvPicPr>
        <p:blipFill>
          <a:blip r:embed="rId10"/>
          <a:stretch>
            <a:fillRect/>
          </a:stretch>
        </p:blipFill>
        <p:spPr>
          <a:xfrm>
            <a:off x="9701784" y="2980944"/>
            <a:ext cx="1819656" cy="2368296"/>
          </a:xfrm>
          <a:prstGeom prst="rect">
            <a:avLst/>
          </a:prstGeom>
        </p:spPr>
      </p:pic>
      <p:sp>
        <p:nvSpPr>
          <p:cNvPr id="49" name="Shape 37"/>
          <p:cNvSpPr/>
          <p:nvPr/>
        </p:nvSpPr>
        <p:spPr>
          <a:xfrm>
            <a:off x="548640" y="5577840"/>
            <a:ext cx="11091672" cy="713232"/>
          </a:xfrm>
          <a:prstGeom prst="roundRect">
            <a:avLst>
              <a:gd name="adj" fmla="val 15385"/>
            </a:avLst>
          </a:prstGeom>
          <a:solidFill>
            <a:srgbClr val="14284B"/>
          </a:solidFill>
          <a:ln w="12700">
            <a:solidFill>
              <a:srgbClr val="1E3A66"/>
            </a:solidFill>
            <a:prstDash val="solid"/>
          </a:ln>
        </p:spPr>
      </p:sp>
      <p:sp>
        <p:nvSpPr>
          <p:cNvPr id="50" name="Text 38"/>
          <p:cNvSpPr txBox="1"/>
          <p:nvPr/>
        </p:nvSpPr>
        <p:spPr>
          <a:xfrm>
            <a:off x="777240" y="5577840"/>
            <a:ext cx="10698480" cy="713232"/>
          </a:xfrm>
          <a:prstGeom prst="rect">
            <a:avLst/>
          </a:prstGeom>
          <a:noFill/>
          <a:ln/>
        </p:spPr>
        <p:txBody>
          <a:bodyPr wrap="square" lIns="0" tIns="0" rIns="0" bIns="0" rtlCol="0" anchor="ctr"/>
          <a:lstStyle/>
          <a:p>
            <a:pPr indent="0" marL="0">
              <a:buNone/>
            </a:pPr>
            <a:r>
              <a:rPr lang="ko-KR" altLang="en-US" sz="1400" b="1" dirty="0">
                <a:solidFill>
                  <a:srgbClr val="F2B33D"/>
                </a:solidFill>
                <a:latin typeface="맑은 고딕" pitchFamily="34" charset="0"/>
                <a:ea typeface="맑은 고딕" pitchFamily="34" charset="-122"/>
                <a:cs typeface="맑은 고딕" pitchFamily="34" charset="-120"/>
              </a:rPr>
              <a:t>플레이 예시  </a:t>
            </a:r>
            <a:pPr indent="0" marL="0">
              <a:buNone/>
            </a:pPr>
            <a:r>
              <a:rPr lang="ko-KR" altLang="en-US" sz="1400" dirty="0">
                <a:solidFill>
                  <a:srgbClr val="FFFFFF"/>
                </a:solidFill>
                <a:latin typeface="맑은 고딕" pitchFamily="34" charset="0"/>
                <a:ea typeface="맑은 고딕" pitchFamily="34" charset="-122"/>
                <a:cs typeface="맑은 고딕" pitchFamily="34" charset="-120"/>
              </a:rPr>
              <a:t>택배회사를 사칭한 문자 도착 → 링크 주소를 공식 연락처와 대조 → 할머니의 기록에 기다리는 택배가 없음을 확인 → 거부하고 신고 → 해설로 안전한 대응법 학습</a:t>
            </a:r>
            <a:endParaRPr lang="ko-KR" sz="14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맑은 고딕"/>
                <a:ea typeface="맑은 고딕"/>
                <a:cs typeface="맑은 고딕"/>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658368"/>
          </a:xfrm>
          <a:prstGeom prst="rect">
            <a:avLst/>
          </a:prstGeom>
          <a:noFill/>
          <a:ln/>
        </p:spPr>
        <p:txBody>
          <a:bodyPr wrap="square" lIns="0" tIns="0" rIns="0" bIns="0" rtlCol="0" anchor="ctr"/>
          <a:lstStyle/>
          <a:p>
            <a:pPr algn="l" indent="0" marL="0">
              <a:buNone/>
            </a:pPr>
            <a:r>
              <a:rPr lang="en-US" sz="3000" b="1" dirty="0">
                <a:solidFill>
                  <a:srgbClr val="FFFFFF"/>
                </a:solidFill>
                <a:latin typeface="맑은 고딕" pitchFamily="34" charset="0"/>
                <a:ea typeface="맑은 고딕" pitchFamily="34" charset="-122"/>
                <a:cs typeface="맑은 고딕" pitchFamily="34" charset="-120"/>
              </a:rPr>
              <a:t>실제 스마트폰에서는 이렇게 플레이한다</a:t>
            </a:r>
            <a:endParaRPr lang="en-US" sz="3000" dirty="0"/>
          </a:p>
        </p:txBody>
      </p:sp>
      <p:sp>
        <p:nvSpPr>
          <p:cNvPr id="3" name="Shape 1"/>
          <p:cNvSpPr/>
          <p:nvPr/>
        </p:nvSpPr>
        <p:spPr>
          <a:xfrm>
            <a:off x="8988552" y="521208"/>
            <a:ext cx="2651760" cy="310896"/>
          </a:xfrm>
          <a:prstGeom prst="roundRect">
            <a:avLst>
              <a:gd name="adj" fmla="val 50000"/>
            </a:avLst>
          </a:prstGeom>
          <a:solidFill>
            <a:srgbClr val="F2B33D"/>
          </a:solidFill>
          <a:ln/>
        </p:spPr>
      </p:sp>
      <p:sp>
        <p:nvSpPr>
          <p:cNvPr id="4" name="Text 2"/>
          <p:cNvSpPr txBox="1"/>
          <p:nvPr/>
        </p:nvSpPr>
        <p:spPr>
          <a:xfrm>
            <a:off x="8988552" y="521208"/>
            <a:ext cx="2651760" cy="310896"/>
          </a:xfrm>
          <a:prstGeom prst="rect">
            <a:avLst/>
          </a:prstGeom>
          <a:noFill/>
          <a:ln/>
        </p:spPr>
        <p:txBody>
          <a:bodyPr wrap="square" lIns="0" tIns="0" rIns="0" bIns="0" rtlCol="0" anchor="ctr"/>
          <a:lstStyle/>
          <a:p>
            <a:pPr algn="ctr" indent="0" marL="0">
              <a:buNone/>
            </a:pPr>
            <a:r>
              <a:rPr lang="ko-KR" altLang="en-US" sz="1100" b="1" dirty="0">
                <a:solidFill>
                  <a:srgbClr val="0B1A33"/>
                </a:solidFill>
                <a:latin typeface="맑은 고딕" pitchFamily="34" charset="0"/>
                <a:ea typeface="맑은 고딕" pitchFamily="34" charset="-122"/>
                <a:cs typeface="맑은 고딕" pitchFamily="34" charset="-120"/>
              </a:rPr>
              <a:t>HTML 시제품 화면 · Unity 구현 전</a:t>
            </a:r>
            <a:endParaRPr lang="ko-KR" sz="1100" dirty="0"/>
          </a:p>
        </p:txBody>
      </p:sp>
      <p:sp>
        <p:nvSpPr>
          <p:cNvPr id="5" name="Shape 3"/>
          <p:cNvSpPr/>
          <p:nvPr/>
        </p:nvSpPr>
        <p:spPr>
          <a:xfrm>
            <a:off x="850392" y="1078992"/>
            <a:ext cx="1554480" cy="310896"/>
          </a:xfrm>
          <a:prstGeom prst="roundRect">
            <a:avLst>
              <a:gd name="adj" fmla="val 50000"/>
            </a:avLst>
          </a:prstGeom>
          <a:solidFill>
            <a:srgbClr val="19B3B1"/>
          </a:solidFill>
          <a:ln/>
        </p:spPr>
      </p:sp>
      <p:sp>
        <p:nvSpPr>
          <p:cNvPr id="6" name="Text 4"/>
          <p:cNvSpPr txBox="1"/>
          <p:nvPr/>
        </p:nvSpPr>
        <p:spPr>
          <a:xfrm>
            <a:off x="850392" y="1078992"/>
            <a:ext cx="1554480" cy="310896"/>
          </a:xfrm>
          <a:prstGeom prst="rect">
            <a:avLst/>
          </a:prstGeom>
          <a:noFill/>
          <a:ln/>
        </p:spPr>
        <p:txBody>
          <a:bodyPr wrap="square" lIns="0" tIns="0" rIns="0" bIns="0" rtlCol="0" anchor="ctr"/>
          <a:lstStyle/>
          <a:p>
            <a:pPr algn="ctr" indent="0" marL="0">
              <a:buNone/>
            </a:pPr>
            <a:r>
              <a:rPr lang="ko-KR" altLang="en-US" sz="1300" b="1" dirty="0">
                <a:solidFill>
                  <a:srgbClr val="06122A"/>
                </a:solidFill>
                <a:latin typeface="맑은 고딕" pitchFamily="34" charset="0"/>
                <a:ea typeface="맑은 고딕" pitchFamily="34" charset="-122"/>
                <a:cs typeface="맑은 고딕" pitchFamily="34" charset="-120"/>
              </a:rPr>
              <a:t>A  사건 접수</a:t>
            </a:r>
            <a:endParaRPr lang="ko-KR" sz="1300" dirty="0"/>
          </a:p>
        </p:txBody>
      </p:sp>
      <p:sp>
        <p:nvSpPr>
          <p:cNvPr id="7" name="Shape 5"/>
          <p:cNvSpPr/>
          <p:nvPr/>
        </p:nvSpPr>
        <p:spPr>
          <a:xfrm>
            <a:off x="3025140" y="3575304"/>
            <a:ext cx="182880" cy="365760"/>
          </a:xfrm>
          <a:prstGeom prst="chevron">
            <a:avLst/>
          </a:prstGeom>
          <a:solidFill>
            <a:srgbClr val="19B3B1"/>
          </a:solidFill>
          <a:ln/>
        </p:spPr>
      </p:sp>
      <p:sp>
        <p:nvSpPr>
          <p:cNvPr id="8" name="Text 6"/>
          <p:cNvSpPr txBox="1"/>
          <p:nvPr/>
        </p:nvSpPr>
        <p:spPr>
          <a:xfrm>
            <a:off x="365760" y="6108192"/>
            <a:ext cx="2523744" cy="274320"/>
          </a:xfrm>
          <a:prstGeom prst="rect">
            <a:avLst/>
          </a:prstGeom>
          <a:noFill/>
          <a:ln/>
        </p:spPr>
        <p:txBody>
          <a:bodyPr wrap="square" lIns="0" tIns="0" rIns="0" bIns="0" rtlCol="0" anchor="t"/>
          <a:lstStyle/>
          <a:p>
            <a:pPr algn="ctr" indent="0" marL="0">
              <a:buNone/>
            </a:pPr>
            <a:r>
              <a:rPr lang="ko-KR" altLang="en-US" sz="1200" dirty="0">
                <a:solidFill>
                  <a:srgbClr val="A9BCD3"/>
                </a:solidFill>
                <a:latin typeface="맑은 고딕" pitchFamily="34" charset="0"/>
                <a:ea typeface="맑은 고딕" pitchFamily="34" charset="-122"/>
                <a:cs typeface="맑은 고딕" pitchFamily="34" charset="-120"/>
              </a:rPr>
              <a:t>오늘의 소식·조건 → [업무 시작]</a:t>
            </a:r>
            <a:endParaRPr lang="ko-KR" sz="1200" dirty="0"/>
          </a:p>
        </p:txBody>
      </p:sp>
      <p:sp>
        <p:nvSpPr>
          <p:cNvPr id="9" name="Shape 7"/>
          <p:cNvSpPr/>
          <p:nvPr/>
        </p:nvSpPr>
        <p:spPr>
          <a:xfrm>
            <a:off x="548640" y="1481328"/>
            <a:ext cx="2157984" cy="4553712"/>
          </a:xfrm>
          <a:prstGeom prst="roundRect">
            <a:avLst>
              <a:gd name="adj" fmla="val 14000"/>
            </a:avLst>
          </a:prstGeom>
          <a:solidFill>
            <a:srgbClr val="040B17"/>
          </a:solidFill>
          <a:ln w="15875">
            <a:solidFill>
              <a:srgbClr val="3A5478"/>
            </a:solidFill>
            <a:prstDash val="solid"/>
          </a:ln>
          <a:effectLst>
            <a:outerShdw sx="100000" sy="100000" kx="0" ky="0" algn="bl" rotWithShape="0" blurRad="127000" dist="38100" dir="5400000">
              <a:srgbClr val="000000">
                <a:alpha val="35000"/>
              </a:srgbClr>
            </a:outerShdw>
          </a:effectLst>
        </p:spPr>
      </p:sp>
      <p:sp>
        <p:nvSpPr>
          <p:cNvPr id="10" name="Shape 8"/>
          <p:cNvSpPr/>
          <p:nvPr/>
        </p:nvSpPr>
        <p:spPr>
          <a:xfrm>
            <a:off x="634959" y="1589227"/>
            <a:ext cx="1985345" cy="4337914"/>
          </a:xfrm>
          <a:prstGeom prst="roundRect">
            <a:avLst>
              <a:gd name="adj" fmla="val 10870"/>
            </a:avLst>
          </a:prstGeom>
          <a:solidFill>
            <a:srgbClr val="0B1A33"/>
          </a:solidFill>
          <a:ln/>
        </p:spPr>
      </p:sp>
      <p:pic>
        <p:nvPicPr>
          <p:cNvPr id="11" name="Image 0" descr="HTML 시제품 화면: 사건 접수">    </p:cNvPr>
          <p:cNvPicPr>
            <a:picLocks noChangeAspect="1"/>
          </p:cNvPicPr>
          <p:nvPr/>
        </p:nvPicPr>
        <p:blipFill>
          <a:blip r:embed="rId1"/>
          <a:stretch>
            <a:fillRect/>
          </a:stretch>
        </p:blipFill>
        <p:spPr>
          <a:xfrm>
            <a:off x="693748" y="1680667"/>
            <a:ext cx="1867768" cy="4155034"/>
          </a:xfrm>
          <a:prstGeom prst="rect">
            <a:avLst/>
          </a:prstGeom>
        </p:spPr>
      </p:pic>
      <p:sp>
        <p:nvSpPr>
          <p:cNvPr id="12" name="Shape 9"/>
          <p:cNvSpPr/>
          <p:nvPr/>
        </p:nvSpPr>
        <p:spPr>
          <a:xfrm>
            <a:off x="3828288" y="1078992"/>
            <a:ext cx="1554480" cy="310896"/>
          </a:xfrm>
          <a:prstGeom prst="roundRect">
            <a:avLst>
              <a:gd name="adj" fmla="val 50000"/>
            </a:avLst>
          </a:prstGeom>
          <a:solidFill>
            <a:srgbClr val="19B3B1"/>
          </a:solidFill>
          <a:ln/>
        </p:spPr>
      </p:sp>
      <p:sp>
        <p:nvSpPr>
          <p:cNvPr id="13" name="Text 10"/>
          <p:cNvSpPr txBox="1"/>
          <p:nvPr/>
        </p:nvSpPr>
        <p:spPr>
          <a:xfrm>
            <a:off x="3828288" y="1078992"/>
            <a:ext cx="1554480" cy="310896"/>
          </a:xfrm>
          <a:prstGeom prst="rect">
            <a:avLst/>
          </a:prstGeom>
          <a:noFill/>
          <a:ln/>
        </p:spPr>
        <p:txBody>
          <a:bodyPr wrap="square" lIns="0" tIns="0" rIns="0" bIns="0" rtlCol="0" anchor="ctr"/>
          <a:lstStyle/>
          <a:p>
            <a:pPr algn="ctr" indent="0" marL="0">
              <a:buNone/>
            </a:pPr>
            <a:r>
              <a:rPr lang="ko-KR" altLang="en-US" sz="1300" b="1" dirty="0">
                <a:solidFill>
                  <a:srgbClr val="06122A"/>
                </a:solidFill>
                <a:latin typeface="맑은 고딕" pitchFamily="34" charset="0"/>
                <a:ea typeface="맑은 고딕" pitchFamily="34" charset="-122"/>
                <a:cs typeface="맑은 고딕" pitchFamily="34" charset="-120"/>
              </a:rPr>
              <a:t>B  문서 확인</a:t>
            </a:r>
            <a:endParaRPr lang="ko-KR" sz="1300" dirty="0"/>
          </a:p>
        </p:txBody>
      </p:sp>
      <p:sp>
        <p:nvSpPr>
          <p:cNvPr id="14" name="Shape 11"/>
          <p:cNvSpPr/>
          <p:nvPr/>
        </p:nvSpPr>
        <p:spPr>
          <a:xfrm>
            <a:off x="6003036" y="3575304"/>
            <a:ext cx="182880" cy="365760"/>
          </a:xfrm>
          <a:prstGeom prst="chevron">
            <a:avLst/>
          </a:prstGeom>
          <a:solidFill>
            <a:srgbClr val="19B3B1"/>
          </a:solidFill>
          <a:ln/>
        </p:spPr>
      </p:sp>
      <p:sp>
        <p:nvSpPr>
          <p:cNvPr id="15" name="Text 12"/>
          <p:cNvSpPr txBox="1"/>
          <p:nvPr/>
        </p:nvSpPr>
        <p:spPr>
          <a:xfrm>
            <a:off x="3343656" y="6108192"/>
            <a:ext cx="2523744" cy="274320"/>
          </a:xfrm>
          <a:prstGeom prst="rect">
            <a:avLst/>
          </a:prstGeom>
          <a:noFill/>
          <a:ln/>
        </p:spPr>
        <p:txBody>
          <a:bodyPr wrap="square" lIns="0" tIns="0" rIns="0" bIns="0" rtlCol="0" anchor="t"/>
          <a:lstStyle/>
          <a:p>
            <a:pPr algn="ctr" indent="0" marL="0">
              <a:buNone/>
            </a:pPr>
            <a:r>
              <a:rPr lang="ko-KR" altLang="en-US" sz="1200" dirty="0">
                <a:solidFill>
                  <a:srgbClr val="A9BCD3"/>
                </a:solidFill>
                <a:latin typeface="맑은 고딕" pitchFamily="34" charset="0"/>
                <a:ea typeface="맑은 고딕" pitchFamily="34" charset="-122"/>
                <a:cs typeface="맑은 고딕" pitchFamily="34" charset="-120"/>
              </a:rPr>
              <a:t>요청 카드 · 문서 탭 · 내 기록</a:t>
            </a:r>
            <a:endParaRPr lang="ko-KR" sz="1200" dirty="0"/>
          </a:p>
        </p:txBody>
      </p:sp>
      <p:sp>
        <p:nvSpPr>
          <p:cNvPr id="16" name="Shape 13"/>
          <p:cNvSpPr/>
          <p:nvPr/>
        </p:nvSpPr>
        <p:spPr>
          <a:xfrm>
            <a:off x="3526536" y="1481328"/>
            <a:ext cx="2157984" cy="4553712"/>
          </a:xfrm>
          <a:prstGeom prst="roundRect">
            <a:avLst>
              <a:gd name="adj" fmla="val 14000"/>
            </a:avLst>
          </a:prstGeom>
          <a:solidFill>
            <a:srgbClr val="040B17"/>
          </a:solidFill>
          <a:ln w="15875">
            <a:solidFill>
              <a:srgbClr val="3A5478"/>
            </a:solidFill>
            <a:prstDash val="solid"/>
          </a:ln>
          <a:effectLst>
            <a:outerShdw sx="100000" sy="100000" kx="0" ky="0" algn="bl" rotWithShape="0" blurRad="127000" dist="38100" dir="5400000">
              <a:srgbClr val="000000">
                <a:alpha val="35000"/>
              </a:srgbClr>
            </a:outerShdw>
          </a:effectLst>
        </p:spPr>
      </p:sp>
      <p:sp>
        <p:nvSpPr>
          <p:cNvPr id="17" name="Shape 14"/>
          <p:cNvSpPr/>
          <p:nvPr/>
        </p:nvSpPr>
        <p:spPr>
          <a:xfrm>
            <a:off x="3612855" y="1589227"/>
            <a:ext cx="1985345" cy="4337914"/>
          </a:xfrm>
          <a:prstGeom prst="roundRect">
            <a:avLst>
              <a:gd name="adj" fmla="val 10870"/>
            </a:avLst>
          </a:prstGeom>
          <a:solidFill>
            <a:srgbClr val="0B1A33"/>
          </a:solidFill>
          <a:ln/>
        </p:spPr>
      </p:sp>
      <p:pic>
        <p:nvPicPr>
          <p:cNvPr id="18" name="Image 1" descr="HTML 시제품 화면: 문서 확인">    </p:cNvPr>
          <p:cNvPicPr>
            <a:picLocks noChangeAspect="1"/>
          </p:cNvPicPr>
          <p:nvPr/>
        </p:nvPicPr>
        <p:blipFill>
          <a:blip r:embed="rId2"/>
          <a:stretch>
            <a:fillRect/>
          </a:stretch>
        </p:blipFill>
        <p:spPr>
          <a:xfrm>
            <a:off x="3671644" y="1680667"/>
            <a:ext cx="1867768" cy="4155034"/>
          </a:xfrm>
          <a:prstGeom prst="rect">
            <a:avLst/>
          </a:prstGeom>
        </p:spPr>
      </p:pic>
      <p:sp>
        <p:nvSpPr>
          <p:cNvPr id="19" name="Shape 15"/>
          <p:cNvSpPr/>
          <p:nvPr/>
        </p:nvSpPr>
        <p:spPr>
          <a:xfrm>
            <a:off x="6806184" y="1078992"/>
            <a:ext cx="1554480" cy="310896"/>
          </a:xfrm>
          <a:prstGeom prst="roundRect">
            <a:avLst>
              <a:gd name="adj" fmla="val 50000"/>
            </a:avLst>
          </a:prstGeom>
          <a:solidFill>
            <a:srgbClr val="19B3B1"/>
          </a:solidFill>
          <a:ln/>
        </p:spPr>
      </p:sp>
      <p:sp>
        <p:nvSpPr>
          <p:cNvPr id="20" name="Text 16"/>
          <p:cNvSpPr txBox="1"/>
          <p:nvPr/>
        </p:nvSpPr>
        <p:spPr>
          <a:xfrm>
            <a:off x="6806184" y="1078992"/>
            <a:ext cx="1554480" cy="310896"/>
          </a:xfrm>
          <a:prstGeom prst="rect">
            <a:avLst/>
          </a:prstGeom>
          <a:noFill/>
          <a:ln/>
        </p:spPr>
        <p:txBody>
          <a:bodyPr wrap="square" lIns="0" tIns="0" rIns="0" bIns="0" rtlCol="0" anchor="ctr"/>
          <a:lstStyle/>
          <a:p>
            <a:pPr algn="ctr" indent="0" marL="0">
              <a:buNone/>
            </a:pPr>
            <a:r>
              <a:rPr lang="ko-KR" altLang="en-US" sz="1300" b="1" dirty="0">
                <a:solidFill>
                  <a:srgbClr val="06122A"/>
                </a:solidFill>
                <a:latin typeface="맑은 고딕" pitchFamily="34" charset="0"/>
                <a:ea typeface="맑은 고딕" pitchFamily="34" charset="-122"/>
                <a:cs typeface="맑은 고딕" pitchFamily="34" charset="-120"/>
              </a:rPr>
              <a:t>C  정보 대조</a:t>
            </a:r>
            <a:endParaRPr lang="ko-KR" sz="1300" dirty="0"/>
          </a:p>
        </p:txBody>
      </p:sp>
      <p:sp>
        <p:nvSpPr>
          <p:cNvPr id="21" name="Shape 17"/>
          <p:cNvSpPr/>
          <p:nvPr/>
        </p:nvSpPr>
        <p:spPr>
          <a:xfrm>
            <a:off x="8980932" y="3575304"/>
            <a:ext cx="182880" cy="365760"/>
          </a:xfrm>
          <a:prstGeom prst="chevron">
            <a:avLst/>
          </a:prstGeom>
          <a:solidFill>
            <a:srgbClr val="19B3B1"/>
          </a:solidFill>
          <a:ln/>
        </p:spPr>
      </p:sp>
      <p:sp>
        <p:nvSpPr>
          <p:cNvPr id="22" name="Text 18"/>
          <p:cNvSpPr txBox="1"/>
          <p:nvPr/>
        </p:nvSpPr>
        <p:spPr>
          <a:xfrm>
            <a:off x="6321552" y="6108192"/>
            <a:ext cx="2523744" cy="274320"/>
          </a:xfrm>
          <a:prstGeom prst="rect">
            <a:avLst/>
          </a:prstGeom>
          <a:noFill/>
          <a:ln/>
        </p:spPr>
        <p:txBody>
          <a:bodyPr wrap="square" lIns="0" tIns="0" rIns="0" bIns="0" rtlCol="0" anchor="t"/>
          <a:lstStyle/>
          <a:p>
            <a:pPr algn="ctr" indent="0" marL="0">
              <a:buNone/>
            </a:pPr>
            <a:r>
              <a:rPr lang="ko-KR" altLang="en-US" sz="1200" dirty="0">
                <a:solidFill>
                  <a:srgbClr val="A9BCD3"/>
                </a:solidFill>
                <a:latin typeface="맑은 고딕" pitchFamily="34" charset="0"/>
                <a:ea typeface="맑은 고딕" pitchFamily="34" charset="-122"/>
                <a:cs typeface="맑은 고딕" pitchFamily="34" charset="-120"/>
              </a:rPr>
              <a:t>대조 단서 + 의심 깃발</a:t>
            </a:r>
            <a:endParaRPr lang="ko-KR" sz="1200" dirty="0"/>
          </a:p>
        </p:txBody>
      </p:sp>
      <p:sp>
        <p:nvSpPr>
          <p:cNvPr id="23" name="Shape 19"/>
          <p:cNvSpPr/>
          <p:nvPr/>
        </p:nvSpPr>
        <p:spPr>
          <a:xfrm>
            <a:off x="6504432" y="1481328"/>
            <a:ext cx="2157984" cy="4553712"/>
          </a:xfrm>
          <a:prstGeom prst="roundRect">
            <a:avLst>
              <a:gd name="adj" fmla="val 14000"/>
            </a:avLst>
          </a:prstGeom>
          <a:solidFill>
            <a:srgbClr val="040B17"/>
          </a:solidFill>
          <a:ln w="15875">
            <a:solidFill>
              <a:srgbClr val="3A5478"/>
            </a:solidFill>
            <a:prstDash val="solid"/>
          </a:ln>
          <a:effectLst>
            <a:outerShdw sx="100000" sy="100000" kx="0" ky="0" algn="bl" rotWithShape="0" blurRad="127000" dist="38100" dir="5400000">
              <a:srgbClr val="000000">
                <a:alpha val="35000"/>
              </a:srgbClr>
            </a:outerShdw>
          </a:effectLst>
        </p:spPr>
      </p:sp>
      <p:sp>
        <p:nvSpPr>
          <p:cNvPr id="24" name="Shape 20"/>
          <p:cNvSpPr/>
          <p:nvPr/>
        </p:nvSpPr>
        <p:spPr>
          <a:xfrm>
            <a:off x="6590751" y="1589227"/>
            <a:ext cx="1985345" cy="4337914"/>
          </a:xfrm>
          <a:prstGeom prst="roundRect">
            <a:avLst>
              <a:gd name="adj" fmla="val 10870"/>
            </a:avLst>
          </a:prstGeom>
          <a:solidFill>
            <a:srgbClr val="0B1A33"/>
          </a:solidFill>
          <a:ln/>
        </p:spPr>
      </p:sp>
      <p:pic>
        <p:nvPicPr>
          <p:cNvPr id="25" name="Image 2" descr="HTML 시제품 화면: 정보 대조">    </p:cNvPr>
          <p:cNvPicPr>
            <a:picLocks noChangeAspect="1"/>
          </p:cNvPicPr>
          <p:nvPr/>
        </p:nvPicPr>
        <p:blipFill>
          <a:blip r:embed="rId3"/>
          <a:stretch>
            <a:fillRect/>
          </a:stretch>
        </p:blipFill>
        <p:spPr>
          <a:xfrm>
            <a:off x="6649540" y="1680667"/>
            <a:ext cx="1867768" cy="4155034"/>
          </a:xfrm>
          <a:prstGeom prst="rect">
            <a:avLst/>
          </a:prstGeom>
        </p:spPr>
      </p:pic>
      <p:sp>
        <p:nvSpPr>
          <p:cNvPr id="26" name="Shape 21"/>
          <p:cNvSpPr/>
          <p:nvPr/>
        </p:nvSpPr>
        <p:spPr>
          <a:xfrm>
            <a:off x="9784080" y="1078992"/>
            <a:ext cx="1554480" cy="310896"/>
          </a:xfrm>
          <a:prstGeom prst="roundRect">
            <a:avLst>
              <a:gd name="adj" fmla="val 50000"/>
            </a:avLst>
          </a:prstGeom>
          <a:solidFill>
            <a:srgbClr val="19B3B1"/>
          </a:solidFill>
          <a:ln/>
        </p:spPr>
      </p:sp>
      <p:sp>
        <p:nvSpPr>
          <p:cNvPr id="27" name="Text 22"/>
          <p:cNvSpPr txBox="1"/>
          <p:nvPr/>
        </p:nvSpPr>
        <p:spPr>
          <a:xfrm>
            <a:off x="9784080" y="1078992"/>
            <a:ext cx="1554480" cy="310896"/>
          </a:xfrm>
          <a:prstGeom prst="rect">
            <a:avLst/>
          </a:prstGeom>
          <a:noFill/>
          <a:ln/>
        </p:spPr>
        <p:txBody>
          <a:bodyPr wrap="square" lIns="0" tIns="0" rIns="0" bIns="0" rtlCol="0" anchor="ctr"/>
          <a:lstStyle/>
          <a:p>
            <a:pPr algn="ctr" indent="0" marL="0">
              <a:buNone/>
            </a:pPr>
            <a:r>
              <a:rPr lang="ko-KR" altLang="en-US" sz="1300" b="1" dirty="0">
                <a:solidFill>
                  <a:srgbClr val="06122A"/>
                </a:solidFill>
                <a:latin typeface="맑은 고딕" pitchFamily="34" charset="0"/>
                <a:ea typeface="맑은 고딕" pitchFamily="34" charset="-122"/>
                <a:cs typeface="맑은 고딕" pitchFamily="34" charset="-120"/>
              </a:rPr>
              <a:t>D  최종 판정</a:t>
            </a:r>
            <a:endParaRPr lang="ko-KR" sz="1300" dirty="0"/>
          </a:p>
        </p:txBody>
      </p:sp>
      <p:sp>
        <p:nvSpPr>
          <p:cNvPr id="28" name="Text 23"/>
          <p:cNvSpPr txBox="1"/>
          <p:nvPr/>
        </p:nvSpPr>
        <p:spPr>
          <a:xfrm>
            <a:off x="9299448" y="6108192"/>
            <a:ext cx="2523744" cy="274320"/>
          </a:xfrm>
          <a:prstGeom prst="rect">
            <a:avLst/>
          </a:prstGeom>
          <a:noFill/>
          <a:ln/>
        </p:spPr>
        <p:txBody>
          <a:bodyPr wrap="square" lIns="0" tIns="0" rIns="0" bIns="0" rtlCol="0" anchor="t"/>
          <a:lstStyle/>
          <a:p>
            <a:pPr algn="ctr" indent="0" marL="0">
              <a:buNone/>
            </a:pPr>
            <a:r>
              <a:rPr lang="ko-KR" altLang="en-US" sz="1200" dirty="0">
                <a:solidFill>
                  <a:srgbClr val="A9BCD3"/>
                </a:solidFill>
                <a:latin typeface="맑은 고딕" pitchFamily="34" charset="0"/>
                <a:ea typeface="맑은 고딕" pitchFamily="34" charset="-122"/>
                <a:cs typeface="맑은 고딕" pitchFamily="34" charset="-120"/>
              </a:rPr>
              <a:t>판정 → 신고 → 결과·해설</a:t>
            </a:r>
            <a:endParaRPr lang="ko-KR" sz="1200" dirty="0"/>
          </a:p>
        </p:txBody>
      </p:sp>
      <p:sp>
        <p:nvSpPr>
          <p:cNvPr id="29" name="Shape 24"/>
          <p:cNvSpPr/>
          <p:nvPr/>
        </p:nvSpPr>
        <p:spPr>
          <a:xfrm>
            <a:off x="9482328" y="1481328"/>
            <a:ext cx="2157984" cy="4553712"/>
          </a:xfrm>
          <a:prstGeom prst="roundRect">
            <a:avLst>
              <a:gd name="adj" fmla="val 14000"/>
            </a:avLst>
          </a:prstGeom>
          <a:solidFill>
            <a:srgbClr val="040B17"/>
          </a:solidFill>
          <a:ln w="15875">
            <a:solidFill>
              <a:srgbClr val="3A5478"/>
            </a:solidFill>
            <a:prstDash val="solid"/>
          </a:ln>
          <a:effectLst>
            <a:outerShdw sx="100000" sy="100000" kx="0" ky="0" algn="bl" rotWithShape="0" blurRad="127000" dist="38100" dir="5400000">
              <a:srgbClr val="000000">
                <a:alpha val="35000"/>
              </a:srgbClr>
            </a:outerShdw>
          </a:effectLst>
        </p:spPr>
      </p:sp>
      <p:sp>
        <p:nvSpPr>
          <p:cNvPr id="30" name="Shape 25"/>
          <p:cNvSpPr/>
          <p:nvPr/>
        </p:nvSpPr>
        <p:spPr>
          <a:xfrm>
            <a:off x="9568647" y="1589227"/>
            <a:ext cx="1985345" cy="4337914"/>
          </a:xfrm>
          <a:prstGeom prst="roundRect">
            <a:avLst>
              <a:gd name="adj" fmla="val 10870"/>
            </a:avLst>
          </a:prstGeom>
          <a:solidFill>
            <a:srgbClr val="0B1A33"/>
          </a:solidFill>
          <a:ln/>
        </p:spPr>
      </p:sp>
      <p:pic>
        <p:nvPicPr>
          <p:cNvPr id="31" name="Image 3" descr="HTML 시제품 화면: 최종 판정">    </p:cNvPr>
          <p:cNvPicPr>
            <a:picLocks noChangeAspect="1"/>
          </p:cNvPicPr>
          <p:nvPr/>
        </p:nvPicPr>
        <p:blipFill>
          <a:blip r:embed="rId4"/>
          <a:stretch>
            <a:fillRect/>
          </a:stretch>
        </p:blipFill>
        <p:spPr>
          <a:xfrm>
            <a:off x="9627436" y="1680667"/>
            <a:ext cx="1867768" cy="4155034"/>
          </a:xfrm>
          <a:prstGeom prst="rect">
            <a:avLst/>
          </a:prstGeom>
        </p:spPr>
      </p:pic>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맑은 고딕"/>
                <a:ea typeface="맑은 고딕"/>
                <a:cs typeface="맑은 고딕"/>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658368"/>
          </a:xfrm>
          <a:prstGeom prst="rect">
            <a:avLst/>
          </a:prstGeom>
          <a:noFill/>
          <a:ln/>
        </p:spPr>
        <p:txBody>
          <a:bodyPr wrap="square" lIns="0" tIns="0" rIns="0" bIns="0" rtlCol="0" anchor="ctr"/>
          <a:lstStyle/>
          <a:p>
            <a:pPr algn="l" indent="0" marL="0">
              <a:buNone/>
            </a:pPr>
            <a:r>
              <a:rPr lang="en-US" sz="3000" b="1" dirty="0">
                <a:solidFill>
                  <a:srgbClr val="FFFFFF"/>
                </a:solidFill>
                <a:latin typeface="맑은 고딕" pitchFamily="34" charset="0"/>
                <a:ea typeface="맑은 고딕" pitchFamily="34" charset="-122"/>
                <a:cs typeface="맑은 고딕" pitchFamily="34" charset="-120"/>
              </a:rPr>
              <a:t>사건이 복잡해질수록 심사관도 성장한다</a:t>
            </a:r>
            <a:endParaRPr lang="en-US" sz="3000" dirty="0"/>
          </a:p>
        </p:txBody>
      </p:sp>
      <p:sp>
        <p:nvSpPr>
          <p:cNvPr id="3" name="Shape 1"/>
          <p:cNvSpPr/>
          <p:nvPr/>
        </p:nvSpPr>
        <p:spPr>
          <a:xfrm flipV="1">
            <a:off x="1851660" y="1636776"/>
            <a:ext cx="8485632" cy="603504"/>
          </a:xfrm>
          <a:prstGeom prst="line">
            <a:avLst/>
          </a:prstGeom>
          <a:noFill/>
          <a:ln w="25400">
            <a:solidFill>
              <a:srgbClr val="19B3B1"/>
            </a:solidFill>
            <a:prstDash val="dash"/>
            <a:tailEnd type="triangle"/>
          </a:ln>
        </p:spPr>
      </p:sp>
      <p:sp>
        <p:nvSpPr>
          <p:cNvPr id="4" name="level-0"/>
          <p:cNvSpPr/>
          <p:nvPr/>
        </p:nvSpPr>
        <p:spPr>
          <a:xfrm>
            <a:off x="548640" y="2240280"/>
            <a:ext cx="2606040" cy="2788920"/>
          </a:xfrm>
          <a:prstGeom prst="roundRect">
            <a:avLst>
              <a:gd name="adj" fmla="val 4912"/>
            </a:avLst>
          </a:prstGeom>
          <a:solidFill>
            <a:srgbClr val="14284B"/>
          </a:solidFill>
          <a:ln w="12700">
            <a:solidFill>
              <a:srgbClr val="1E3A66"/>
            </a:solidFill>
            <a:prstDash val="solid"/>
          </a:ln>
        </p:spPr>
      </p:sp>
      <p:sp>
        <p:nvSpPr>
          <p:cNvPr id="5" name="Shape 3"/>
          <p:cNvSpPr/>
          <p:nvPr/>
        </p:nvSpPr>
        <p:spPr>
          <a:xfrm>
            <a:off x="777240" y="2468880"/>
            <a:ext cx="640080" cy="640080"/>
          </a:xfrm>
          <a:prstGeom prst="ellipse">
            <a:avLst/>
          </a:prstGeom>
          <a:solidFill>
            <a:srgbClr val="19B3B1"/>
          </a:solidFill>
          <a:ln/>
        </p:spPr>
      </p:sp>
      <p:pic>
        <p:nvPicPr>
          <p:cNvPr id="6" name="Image 0" descr="preencoded.png">    </p:cNvPr>
          <p:cNvPicPr>
            <a:picLocks noChangeAspect="1"/>
          </p:cNvPicPr>
          <p:nvPr/>
        </p:nvPicPr>
        <p:blipFill>
          <a:blip r:embed="rId1"/>
          <a:stretch>
            <a:fillRect/>
          </a:stretch>
        </p:blipFill>
        <p:spPr>
          <a:xfrm>
            <a:off x="937260" y="2628900"/>
            <a:ext cx="320040" cy="320040"/>
          </a:xfrm>
          <a:prstGeom prst="rect">
            <a:avLst/>
          </a:prstGeom>
        </p:spPr>
      </p:pic>
      <p:sp>
        <p:nvSpPr>
          <p:cNvPr id="7" name="Shape 4"/>
          <p:cNvSpPr/>
          <p:nvPr/>
        </p:nvSpPr>
        <p:spPr>
          <a:xfrm>
            <a:off x="1554480" y="2514600"/>
            <a:ext cx="685800" cy="274320"/>
          </a:xfrm>
          <a:prstGeom prst="roundRect">
            <a:avLst>
              <a:gd name="adj" fmla="val 50000"/>
            </a:avLst>
          </a:prstGeom>
          <a:solidFill>
            <a:srgbClr val="19B3B1"/>
          </a:solidFill>
          <a:ln/>
        </p:spPr>
      </p:sp>
      <p:sp>
        <p:nvSpPr>
          <p:cNvPr id="8" name="Text 5"/>
          <p:cNvSpPr txBox="1"/>
          <p:nvPr/>
        </p:nvSpPr>
        <p:spPr>
          <a:xfrm>
            <a:off x="1554480" y="2514600"/>
            <a:ext cx="685800" cy="274320"/>
          </a:xfrm>
          <a:prstGeom prst="rect">
            <a:avLst/>
          </a:prstGeom>
          <a:noFill/>
          <a:ln/>
        </p:spPr>
        <p:txBody>
          <a:bodyPr wrap="square" lIns="0" tIns="0" rIns="0" bIns="0" rtlCol="0" anchor="ctr"/>
          <a:lstStyle/>
          <a:p>
            <a:pPr algn="ctr" indent="0" marL="0">
              <a:buNone/>
            </a:pPr>
            <a:r>
              <a:rPr lang="ko-KR" altLang="en-US" sz="1200" b="1" dirty="0">
                <a:solidFill>
                  <a:srgbClr val="06122A"/>
                </a:solidFill>
                <a:latin typeface="맑은 고딕" pitchFamily="34" charset="0"/>
                <a:ea typeface="맑은 고딕" pitchFamily="34" charset="-122"/>
                <a:cs typeface="맑은 고딕" pitchFamily="34" charset="-120"/>
              </a:rPr>
              <a:t>초급</a:t>
            </a:r>
            <a:endParaRPr lang="ko-KR" sz="1200" dirty="0"/>
          </a:p>
        </p:txBody>
      </p:sp>
      <p:sp>
        <p:nvSpPr>
          <p:cNvPr id="9" name="Text 6"/>
          <p:cNvSpPr txBox="1"/>
          <p:nvPr/>
        </p:nvSpPr>
        <p:spPr>
          <a:xfrm>
            <a:off x="1554480" y="2807208"/>
            <a:ext cx="1554480" cy="320040"/>
          </a:xfrm>
          <a:prstGeom prst="rect">
            <a:avLst/>
          </a:prstGeom>
          <a:noFill/>
          <a:ln/>
        </p:spPr>
        <p:txBody>
          <a:bodyPr wrap="square" lIns="0" tIns="0" rIns="0" bIns="0" rtlCol="0" anchor="t"/>
          <a:lstStyle/>
          <a:p>
            <a:pPr indent="0" marL="0">
              <a:buNone/>
            </a:pPr>
            <a:r>
              <a:rPr lang="ko-KR" altLang="en-US" sz="1600" b="1" dirty="0">
                <a:solidFill>
                  <a:srgbClr val="FFFFFF"/>
                </a:solidFill>
                <a:latin typeface="맑은 고딕" pitchFamily="34" charset="0"/>
                <a:ea typeface="맑은 고딕" pitchFamily="34" charset="-122"/>
                <a:cs typeface="맑은 고딕" pitchFamily="34" charset="-120"/>
              </a:rPr>
              <a:t>견습 심사관</a:t>
            </a:r>
            <a:endParaRPr lang="ko-KR" sz="1600" dirty="0"/>
          </a:p>
        </p:txBody>
      </p:sp>
      <p:sp>
        <p:nvSpPr>
          <p:cNvPr id="10" name="Text 7"/>
          <p:cNvSpPr txBox="1"/>
          <p:nvPr/>
        </p:nvSpPr>
        <p:spPr>
          <a:xfrm>
            <a:off x="777240" y="3264408"/>
            <a:ext cx="2240280" cy="365760"/>
          </a:xfrm>
          <a:prstGeom prst="rect">
            <a:avLst/>
          </a:prstGeom>
          <a:noFill/>
          <a:ln/>
        </p:spPr>
        <p:txBody>
          <a:bodyPr wrap="square" lIns="0" tIns="0" rIns="0" bIns="0" rtlCol="0" anchor="t"/>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단일 정보 불일치 발견</a:t>
            </a:r>
            <a:endParaRPr lang="ko-KR" sz="1500" dirty="0"/>
          </a:p>
        </p:txBody>
      </p:sp>
      <p:sp>
        <p:nvSpPr>
          <p:cNvPr id="11" name="Text 8"/>
          <p:cNvSpPr txBox="1"/>
          <p:nvPr/>
        </p:nvSpPr>
        <p:spPr>
          <a:xfrm>
            <a:off x="777240" y="3721608"/>
            <a:ext cx="1371600" cy="201168"/>
          </a:xfrm>
          <a:prstGeom prst="rect">
            <a:avLst/>
          </a:prstGeom>
          <a:noFill/>
          <a:ln/>
        </p:spPr>
        <p:txBody>
          <a:bodyPr wrap="square" lIns="0" tIns="0" rIns="0" bIns="0" rtlCol="0" anchor="t"/>
          <a:lstStyle/>
          <a:p>
            <a:pPr indent="0" marL="0">
              <a:buNone/>
            </a:pPr>
            <a:r>
              <a:rPr lang="ko-KR" altLang="en-US" sz="1100" b="1" dirty="0">
                <a:solidFill>
                  <a:srgbClr val="19B3B1"/>
                </a:solidFill>
                <a:latin typeface="맑은 고딕" pitchFamily="34" charset="0"/>
                <a:ea typeface="맑은 고딕" pitchFamily="34" charset="-122"/>
                <a:cs typeface="맑은 고딕" pitchFamily="34" charset="-120"/>
              </a:rPr>
              <a:t>예시 사건</a:t>
            </a:r>
            <a:endParaRPr lang="ko-KR" sz="1100" dirty="0"/>
          </a:p>
        </p:txBody>
      </p:sp>
      <p:sp>
        <p:nvSpPr>
          <p:cNvPr id="12" name="Text 9"/>
          <p:cNvSpPr txBox="1"/>
          <p:nvPr/>
        </p:nvSpPr>
        <p:spPr>
          <a:xfrm>
            <a:off x="777240" y="3931920"/>
            <a:ext cx="2240280" cy="292608"/>
          </a:xfrm>
          <a:prstGeom prst="rect">
            <a:avLst/>
          </a:prstGeom>
          <a:noFill/>
          <a:ln/>
        </p:spPr>
        <p:txBody>
          <a:bodyPr wrap="square" lIns="0" tIns="0" rIns="0" bIns="0" rtlCol="0" anchor="t"/>
          <a:lstStyle/>
          <a:p>
            <a:pPr indent="0" marL="0">
              <a:buNone/>
            </a:pPr>
            <a:r>
              <a:rPr lang="ko-KR" altLang="en-US" sz="1300" dirty="0">
                <a:solidFill>
                  <a:srgbClr val="A9BCD3"/>
                </a:solidFill>
                <a:latin typeface="맑은 고딕" pitchFamily="34" charset="0"/>
                <a:ea typeface="맑은 고딕" pitchFamily="34" charset="-122"/>
                <a:cs typeface="맑은 고딕" pitchFamily="34" charset="-120"/>
              </a:rPr>
              <a:t>모둠 과제 공유 대상 확인</a:t>
            </a:r>
            <a:endParaRPr lang="ko-KR" sz="1300" dirty="0"/>
          </a:p>
        </p:txBody>
      </p:sp>
      <p:sp>
        <p:nvSpPr>
          <p:cNvPr id="13" name="Text 10"/>
          <p:cNvSpPr txBox="1"/>
          <p:nvPr/>
        </p:nvSpPr>
        <p:spPr>
          <a:xfrm>
            <a:off x="777240" y="4315968"/>
            <a:ext cx="914400" cy="201168"/>
          </a:xfrm>
          <a:prstGeom prst="rect">
            <a:avLst/>
          </a:prstGeom>
          <a:noFill/>
          <a:ln/>
        </p:spPr>
        <p:txBody>
          <a:bodyPr wrap="square" lIns="0" tIns="0" rIns="0" bIns="0" rtlCol="0" anchor="t"/>
          <a:lstStyle/>
          <a:p>
            <a:pPr indent="0" marL="0">
              <a:buNone/>
            </a:pPr>
            <a:r>
              <a:rPr lang="ko-KR" altLang="en-US" sz="1100" b="1" dirty="0">
                <a:solidFill>
                  <a:srgbClr val="F2B33D"/>
                </a:solidFill>
                <a:latin typeface="맑은 고딕" pitchFamily="34" charset="0"/>
                <a:ea typeface="맑은 고딕" pitchFamily="34" charset="-122"/>
                <a:cs typeface="맑은 고딕" pitchFamily="34" charset="-120"/>
              </a:rPr>
              <a:t>해금</a:t>
            </a:r>
            <a:endParaRPr lang="ko-KR" sz="1100" dirty="0"/>
          </a:p>
        </p:txBody>
      </p:sp>
      <p:sp>
        <p:nvSpPr>
          <p:cNvPr id="14" name="Text 11"/>
          <p:cNvSpPr txBox="1"/>
          <p:nvPr/>
        </p:nvSpPr>
        <p:spPr>
          <a:xfrm>
            <a:off x="777240" y="4526280"/>
            <a:ext cx="2240280" cy="411480"/>
          </a:xfrm>
          <a:prstGeom prst="rect">
            <a:avLst/>
          </a:prstGeom>
          <a:noFill/>
          <a:ln/>
        </p:spPr>
        <p:txBody>
          <a:bodyPr wrap="square" lIns="0" tIns="0" rIns="0" bIns="0" rtlCol="0" anchor="t"/>
          <a:lstStyle/>
          <a:p>
            <a:pPr indent="0" marL="0">
              <a:buNone/>
            </a:pPr>
            <a:r>
              <a:rPr lang="ko-KR" altLang="en-US" sz="1200" b="1" dirty="0">
                <a:solidFill>
                  <a:srgbClr val="FFFFFF"/>
                </a:solidFill>
                <a:latin typeface="맑은 고딕" pitchFamily="34" charset="0"/>
                <a:ea typeface="맑은 고딕" pitchFamily="34" charset="-122"/>
                <a:cs typeface="맑은 고딕" pitchFamily="34" charset="-120"/>
              </a:rPr>
              <a:t>돋보기 대조 · 의심 깃발</a:t>
            </a:r>
            <a:endParaRPr lang="ko-KR" sz="1200" dirty="0"/>
          </a:p>
        </p:txBody>
      </p:sp>
      <p:sp>
        <p:nvSpPr>
          <p:cNvPr id="15" name="level-1"/>
          <p:cNvSpPr/>
          <p:nvPr/>
        </p:nvSpPr>
        <p:spPr>
          <a:xfrm>
            <a:off x="3377184" y="2039112"/>
            <a:ext cx="2606040" cy="2990088"/>
          </a:xfrm>
          <a:prstGeom prst="roundRect">
            <a:avLst>
              <a:gd name="adj" fmla="val 4912"/>
            </a:avLst>
          </a:prstGeom>
          <a:solidFill>
            <a:srgbClr val="14284B"/>
          </a:solidFill>
          <a:ln w="12700">
            <a:solidFill>
              <a:srgbClr val="1E3A66"/>
            </a:solidFill>
            <a:prstDash val="solid"/>
          </a:ln>
        </p:spPr>
      </p:sp>
      <p:sp>
        <p:nvSpPr>
          <p:cNvPr id="16" name="Shape 13"/>
          <p:cNvSpPr/>
          <p:nvPr/>
        </p:nvSpPr>
        <p:spPr>
          <a:xfrm>
            <a:off x="3605784" y="2267712"/>
            <a:ext cx="640080" cy="640080"/>
          </a:xfrm>
          <a:prstGeom prst="ellipse">
            <a:avLst/>
          </a:prstGeom>
          <a:solidFill>
            <a:srgbClr val="4FC3D9"/>
          </a:solidFill>
          <a:ln/>
        </p:spPr>
      </p:sp>
      <p:pic>
        <p:nvPicPr>
          <p:cNvPr id="17" name="Image 1" descr="preencoded.png">    </p:cNvPr>
          <p:cNvPicPr>
            <a:picLocks noChangeAspect="1"/>
          </p:cNvPicPr>
          <p:nvPr/>
        </p:nvPicPr>
        <p:blipFill>
          <a:blip r:embed="rId2"/>
          <a:stretch>
            <a:fillRect/>
          </a:stretch>
        </p:blipFill>
        <p:spPr>
          <a:xfrm>
            <a:off x="3765804" y="2427732"/>
            <a:ext cx="320040" cy="320040"/>
          </a:xfrm>
          <a:prstGeom prst="rect">
            <a:avLst/>
          </a:prstGeom>
        </p:spPr>
      </p:pic>
      <p:sp>
        <p:nvSpPr>
          <p:cNvPr id="18" name="Shape 14"/>
          <p:cNvSpPr/>
          <p:nvPr/>
        </p:nvSpPr>
        <p:spPr>
          <a:xfrm>
            <a:off x="4383024" y="2313432"/>
            <a:ext cx="685800" cy="274320"/>
          </a:xfrm>
          <a:prstGeom prst="roundRect">
            <a:avLst>
              <a:gd name="adj" fmla="val 50000"/>
            </a:avLst>
          </a:prstGeom>
          <a:solidFill>
            <a:srgbClr val="4FC3D9"/>
          </a:solidFill>
          <a:ln/>
        </p:spPr>
      </p:sp>
      <p:sp>
        <p:nvSpPr>
          <p:cNvPr id="19" name="Text 15"/>
          <p:cNvSpPr txBox="1"/>
          <p:nvPr/>
        </p:nvSpPr>
        <p:spPr>
          <a:xfrm>
            <a:off x="4383024" y="2313432"/>
            <a:ext cx="685800" cy="274320"/>
          </a:xfrm>
          <a:prstGeom prst="rect">
            <a:avLst/>
          </a:prstGeom>
          <a:noFill/>
          <a:ln/>
        </p:spPr>
        <p:txBody>
          <a:bodyPr wrap="square" lIns="0" tIns="0" rIns="0" bIns="0" rtlCol="0" anchor="ctr"/>
          <a:lstStyle/>
          <a:p>
            <a:pPr algn="ctr" indent="0" marL="0">
              <a:buNone/>
            </a:pPr>
            <a:r>
              <a:rPr lang="ko-KR" altLang="en-US" sz="1200" b="1" dirty="0">
                <a:solidFill>
                  <a:srgbClr val="06122A"/>
                </a:solidFill>
                <a:latin typeface="맑은 고딕" pitchFamily="34" charset="0"/>
                <a:ea typeface="맑은 고딕" pitchFamily="34" charset="-122"/>
                <a:cs typeface="맑은 고딕" pitchFamily="34" charset="-120"/>
              </a:rPr>
              <a:t>중급</a:t>
            </a:r>
            <a:endParaRPr lang="ko-KR" sz="1200" dirty="0"/>
          </a:p>
        </p:txBody>
      </p:sp>
      <p:sp>
        <p:nvSpPr>
          <p:cNvPr id="20" name="Text 16"/>
          <p:cNvSpPr txBox="1"/>
          <p:nvPr/>
        </p:nvSpPr>
        <p:spPr>
          <a:xfrm>
            <a:off x="4383024" y="2606040"/>
            <a:ext cx="1554480" cy="320040"/>
          </a:xfrm>
          <a:prstGeom prst="rect">
            <a:avLst/>
          </a:prstGeom>
          <a:noFill/>
          <a:ln/>
        </p:spPr>
        <p:txBody>
          <a:bodyPr wrap="square" lIns="0" tIns="0" rIns="0" bIns="0" rtlCol="0" anchor="t"/>
          <a:lstStyle/>
          <a:p>
            <a:pPr indent="0" marL="0">
              <a:buNone/>
            </a:pPr>
            <a:r>
              <a:rPr lang="ko-KR" altLang="en-US" sz="1600" b="1" dirty="0">
                <a:solidFill>
                  <a:srgbClr val="FFFFFF"/>
                </a:solidFill>
                <a:latin typeface="맑은 고딕" pitchFamily="34" charset="0"/>
                <a:ea typeface="맑은 고딕" pitchFamily="34" charset="-122"/>
                <a:cs typeface="맑은 고딕" pitchFamily="34" charset="-120"/>
              </a:rPr>
              <a:t>정식 심사관</a:t>
            </a:r>
            <a:endParaRPr lang="ko-KR" sz="1600" dirty="0"/>
          </a:p>
        </p:txBody>
      </p:sp>
      <p:sp>
        <p:nvSpPr>
          <p:cNvPr id="21" name="Text 17"/>
          <p:cNvSpPr txBox="1"/>
          <p:nvPr/>
        </p:nvSpPr>
        <p:spPr>
          <a:xfrm>
            <a:off x="3605784" y="3063240"/>
            <a:ext cx="2240280" cy="365760"/>
          </a:xfrm>
          <a:prstGeom prst="rect">
            <a:avLst/>
          </a:prstGeom>
          <a:noFill/>
          <a:ln/>
        </p:spPr>
        <p:txBody>
          <a:bodyPr wrap="square" lIns="0" tIns="0" rIns="0" bIns="0" rtlCol="0" anchor="t"/>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두 개 이상 문서 대조</a:t>
            </a:r>
            <a:endParaRPr lang="ko-KR" sz="1500" dirty="0"/>
          </a:p>
        </p:txBody>
      </p:sp>
      <p:sp>
        <p:nvSpPr>
          <p:cNvPr id="22" name="Text 18"/>
          <p:cNvSpPr txBox="1"/>
          <p:nvPr/>
        </p:nvSpPr>
        <p:spPr>
          <a:xfrm>
            <a:off x="3605784" y="3520440"/>
            <a:ext cx="1371600" cy="201168"/>
          </a:xfrm>
          <a:prstGeom prst="rect">
            <a:avLst/>
          </a:prstGeom>
          <a:noFill/>
          <a:ln/>
        </p:spPr>
        <p:txBody>
          <a:bodyPr wrap="square" lIns="0" tIns="0" rIns="0" bIns="0" rtlCol="0" anchor="t"/>
          <a:lstStyle/>
          <a:p>
            <a:pPr indent="0" marL="0">
              <a:buNone/>
            </a:pPr>
            <a:r>
              <a:rPr lang="ko-KR" altLang="en-US" sz="1100" b="1" dirty="0">
                <a:solidFill>
                  <a:srgbClr val="19B3B1"/>
                </a:solidFill>
                <a:latin typeface="맑은 고딕" pitchFamily="34" charset="0"/>
                <a:ea typeface="맑은 고딕" pitchFamily="34" charset="-122"/>
                <a:cs typeface="맑은 고딕" pitchFamily="34" charset="-120"/>
              </a:rPr>
              <a:t>예시 사건</a:t>
            </a:r>
            <a:endParaRPr lang="ko-KR" sz="1100" dirty="0"/>
          </a:p>
        </p:txBody>
      </p:sp>
      <p:sp>
        <p:nvSpPr>
          <p:cNvPr id="23" name="Text 19"/>
          <p:cNvSpPr txBox="1"/>
          <p:nvPr/>
        </p:nvSpPr>
        <p:spPr>
          <a:xfrm>
            <a:off x="3605784" y="3730752"/>
            <a:ext cx="2240280" cy="292608"/>
          </a:xfrm>
          <a:prstGeom prst="rect">
            <a:avLst/>
          </a:prstGeom>
          <a:noFill/>
          <a:ln/>
        </p:spPr>
        <p:txBody>
          <a:bodyPr wrap="square" lIns="0" tIns="0" rIns="0" bIns="0" rtlCol="0" anchor="t"/>
          <a:lstStyle/>
          <a:p>
            <a:pPr indent="0" marL="0">
              <a:buNone/>
            </a:pPr>
            <a:r>
              <a:rPr lang="ko-KR" altLang="en-US" sz="1300" dirty="0">
                <a:solidFill>
                  <a:srgbClr val="A9BCD3"/>
                </a:solidFill>
                <a:latin typeface="맑은 고딕" pitchFamily="34" charset="0"/>
                <a:ea typeface="맑은 고딕" pitchFamily="34" charset="-122"/>
                <a:cs typeface="맑은 고딕" pitchFamily="34" charset="-120"/>
              </a:rPr>
              <a:t>가짜 택배 문자·이중 확장자</a:t>
            </a:r>
            <a:endParaRPr lang="ko-KR" sz="1300" dirty="0"/>
          </a:p>
        </p:txBody>
      </p:sp>
      <p:sp>
        <p:nvSpPr>
          <p:cNvPr id="24" name="Text 20"/>
          <p:cNvSpPr txBox="1"/>
          <p:nvPr/>
        </p:nvSpPr>
        <p:spPr>
          <a:xfrm>
            <a:off x="3605784" y="4114800"/>
            <a:ext cx="914400" cy="201168"/>
          </a:xfrm>
          <a:prstGeom prst="rect">
            <a:avLst/>
          </a:prstGeom>
          <a:noFill/>
          <a:ln/>
        </p:spPr>
        <p:txBody>
          <a:bodyPr wrap="square" lIns="0" tIns="0" rIns="0" bIns="0" rtlCol="0" anchor="t"/>
          <a:lstStyle/>
          <a:p>
            <a:pPr indent="0" marL="0">
              <a:buNone/>
            </a:pPr>
            <a:r>
              <a:rPr lang="ko-KR" altLang="en-US" sz="1100" b="1" dirty="0">
                <a:solidFill>
                  <a:srgbClr val="F2B33D"/>
                </a:solidFill>
                <a:latin typeface="맑은 고딕" pitchFamily="34" charset="0"/>
                <a:ea typeface="맑은 고딕" pitchFamily="34" charset="-122"/>
                <a:cs typeface="맑은 고딕" pitchFamily="34" charset="-120"/>
              </a:rPr>
              <a:t>해금</a:t>
            </a:r>
            <a:endParaRPr lang="ko-KR" sz="1100" dirty="0"/>
          </a:p>
        </p:txBody>
      </p:sp>
      <p:sp>
        <p:nvSpPr>
          <p:cNvPr id="25" name="Text 21"/>
          <p:cNvSpPr txBox="1"/>
          <p:nvPr/>
        </p:nvSpPr>
        <p:spPr>
          <a:xfrm>
            <a:off x="3605784" y="4325112"/>
            <a:ext cx="2240280" cy="411480"/>
          </a:xfrm>
          <a:prstGeom prst="rect">
            <a:avLst/>
          </a:prstGeom>
          <a:noFill/>
          <a:ln/>
        </p:spPr>
        <p:txBody>
          <a:bodyPr wrap="square" lIns="0" tIns="0" rIns="0" bIns="0" rtlCol="0" anchor="t"/>
          <a:lstStyle/>
          <a:p>
            <a:pPr indent="0" marL="0">
              <a:buNone/>
            </a:pPr>
            <a:r>
              <a:rPr lang="ko-KR" altLang="en-US" sz="1200" b="1" dirty="0">
                <a:solidFill>
                  <a:srgbClr val="FFFFFF"/>
                </a:solidFill>
                <a:latin typeface="맑은 고딕" pitchFamily="34" charset="0"/>
                <a:ea typeface="맑은 고딕" pitchFamily="34" charset="-122"/>
                <a:cs typeface="맑은 고딕" pitchFamily="34" charset="-120"/>
              </a:rPr>
              <a:t>내 기록 · 파일 정보 · 자료 조회</a:t>
            </a:r>
            <a:endParaRPr lang="ko-KR" sz="1200" dirty="0"/>
          </a:p>
        </p:txBody>
      </p:sp>
      <p:sp>
        <p:nvSpPr>
          <p:cNvPr id="26" name="level-2"/>
          <p:cNvSpPr/>
          <p:nvPr/>
        </p:nvSpPr>
        <p:spPr>
          <a:xfrm>
            <a:off x="6205728" y="1837944"/>
            <a:ext cx="2606040" cy="3191256"/>
          </a:xfrm>
          <a:prstGeom prst="roundRect">
            <a:avLst>
              <a:gd name="adj" fmla="val 4912"/>
            </a:avLst>
          </a:prstGeom>
          <a:solidFill>
            <a:srgbClr val="14284B"/>
          </a:solidFill>
          <a:ln w="12700">
            <a:solidFill>
              <a:srgbClr val="1E3A66"/>
            </a:solidFill>
            <a:prstDash val="solid"/>
          </a:ln>
        </p:spPr>
      </p:sp>
      <p:sp>
        <p:nvSpPr>
          <p:cNvPr id="27" name="Shape 23"/>
          <p:cNvSpPr/>
          <p:nvPr/>
        </p:nvSpPr>
        <p:spPr>
          <a:xfrm>
            <a:off x="6434328" y="2066544"/>
            <a:ext cx="640080" cy="640080"/>
          </a:xfrm>
          <a:prstGeom prst="ellipse">
            <a:avLst/>
          </a:prstGeom>
          <a:solidFill>
            <a:srgbClr val="7FA6D9"/>
          </a:solidFill>
          <a:ln/>
        </p:spPr>
      </p:sp>
      <p:pic>
        <p:nvPicPr>
          <p:cNvPr id="28" name="Image 2" descr="preencoded.png">    </p:cNvPr>
          <p:cNvPicPr>
            <a:picLocks noChangeAspect="1"/>
          </p:cNvPicPr>
          <p:nvPr/>
        </p:nvPicPr>
        <p:blipFill>
          <a:blip r:embed="rId3"/>
          <a:stretch>
            <a:fillRect/>
          </a:stretch>
        </p:blipFill>
        <p:spPr>
          <a:xfrm>
            <a:off x="6594348" y="2226564"/>
            <a:ext cx="320040" cy="320040"/>
          </a:xfrm>
          <a:prstGeom prst="rect">
            <a:avLst/>
          </a:prstGeom>
        </p:spPr>
      </p:pic>
      <p:sp>
        <p:nvSpPr>
          <p:cNvPr id="29" name="Shape 24"/>
          <p:cNvSpPr/>
          <p:nvPr/>
        </p:nvSpPr>
        <p:spPr>
          <a:xfrm>
            <a:off x="7211568" y="2112264"/>
            <a:ext cx="685800" cy="274320"/>
          </a:xfrm>
          <a:prstGeom prst="roundRect">
            <a:avLst>
              <a:gd name="adj" fmla="val 50000"/>
            </a:avLst>
          </a:prstGeom>
          <a:solidFill>
            <a:srgbClr val="7FA6D9"/>
          </a:solidFill>
          <a:ln/>
        </p:spPr>
      </p:sp>
      <p:sp>
        <p:nvSpPr>
          <p:cNvPr id="30" name="Text 25"/>
          <p:cNvSpPr txBox="1"/>
          <p:nvPr/>
        </p:nvSpPr>
        <p:spPr>
          <a:xfrm>
            <a:off x="7211568" y="2112264"/>
            <a:ext cx="685800" cy="274320"/>
          </a:xfrm>
          <a:prstGeom prst="rect">
            <a:avLst/>
          </a:prstGeom>
          <a:noFill/>
          <a:ln/>
        </p:spPr>
        <p:txBody>
          <a:bodyPr wrap="square" lIns="0" tIns="0" rIns="0" bIns="0" rtlCol="0" anchor="ctr"/>
          <a:lstStyle/>
          <a:p>
            <a:pPr algn="ctr" indent="0" marL="0">
              <a:buNone/>
            </a:pPr>
            <a:r>
              <a:rPr lang="ko-KR" altLang="en-US" sz="1200" b="1" dirty="0">
                <a:solidFill>
                  <a:srgbClr val="06122A"/>
                </a:solidFill>
                <a:latin typeface="맑은 고딕" pitchFamily="34" charset="0"/>
                <a:ea typeface="맑은 고딕" pitchFamily="34" charset="-122"/>
                <a:cs typeface="맑은 고딕" pitchFamily="34" charset="-120"/>
              </a:rPr>
              <a:t>고급</a:t>
            </a:r>
            <a:endParaRPr lang="ko-KR" sz="1200" dirty="0"/>
          </a:p>
        </p:txBody>
      </p:sp>
      <p:sp>
        <p:nvSpPr>
          <p:cNvPr id="31" name="Text 26"/>
          <p:cNvSpPr txBox="1"/>
          <p:nvPr/>
        </p:nvSpPr>
        <p:spPr>
          <a:xfrm>
            <a:off x="7211568" y="2404872"/>
            <a:ext cx="1554480" cy="320040"/>
          </a:xfrm>
          <a:prstGeom prst="rect">
            <a:avLst/>
          </a:prstGeom>
          <a:noFill/>
          <a:ln/>
        </p:spPr>
        <p:txBody>
          <a:bodyPr wrap="square" lIns="0" tIns="0" rIns="0" bIns="0" rtlCol="0" anchor="t"/>
          <a:lstStyle/>
          <a:p>
            <a:pPr indent="0" marL="0">
              <a:buNone/>
            </a:pPr>
            <a:r>
              <a:rPr lang="ko-KR" altLang="en-US" sz="1600" b="1" dirty="0">
                <a:solidFill>
                  <a:srgbClr val="FFFFFF"/>
                </a:solidFill>
                <a:latin typeface="맑은 고딕" pitchFamily="34" charset="0"/>
                <a:ea typeface="맑은 고딕" pitchFamily="34" charset="-122"/>
                <a:cs typeface="맑은 고딕" pitchFamily="34" charset="-120"/>
              </a:rPr>
              <a:t>선임 심사관</a:t>
            </a:r>
            <a:endParaRPr lang="ko-KR" sz="1600" dirty="0"/>
          </a:p>
        </p:txBody>
      </p:sp>
      <p:sp>
        <p:nvSpPr>
          <p:cNvPr id="32" name="Text 27"/>
          <p:cNvSpPr txBox="1"/>
          <p:nvPr/>
        </p:nvSpPr>
        <p:spPr>
          <a:xfrm>
            <a:off x="6434328" y="2862072"/>
            <a:ext cx="2240280" cy="365760"/>
          </a:xfrm>
          <a:prstGeom prst="rect">
            <a:avLst/>
          </a:prstGeom>
          <a:noFill/>
          <a:ln/>
        </p:spPr>
        <p:txBody>
          <a:bodyPr wrap="square" lIns="0" tIns="0" rIns="0" bIns="0" rtlCol="0" anchor="t"/>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여러 규칙·근거 종합 판정</a:t>
            </a:r>
            <a:endParaRPr lang="ko-KR" sz="1500" dirty="0"/>
          </a:p>
        </p:txBody>
      </p:sp>
      <p:sp>
        <p:nvSpPr>
          <p:cNvPr id="33" name="Text 28"/>
          <p:cNvSpPr txBox="1"/>
          <p:nvPr/>
        </p:nvSpPr>
        <p:spPr>
          <a:xfrm>
            <a:off x="6434328" y="3319272"/>
            <a:ext cx="1371600" cy="201168"/>
          </a:xfrm>
          <a:prstGeom prst="rect">
            <a:avLst/>
          </a:prstGeom>
          <a:noFill/>
          <a:ln/>
        </p:spPr>
        <p:txBody>
          <a:bodyPr wrap="square" lIns="0" tIns="0" rIns="0" bIns="0" rtlCol="0" anchor="t"/>
          <a:lstStyle/>
          <a:p>
            <a:pPr indent="0" marL="0">
              <a:buNone/>
            </a:pPr>
            <a:r>
              <a:rPr lang="ko-KR" altLang="en-US" sz="1100" b="1" dirty="0">
                <a:solidFill>
                  <a:srgbClr val="19B3B1"/>
                </a:solidFill>
                <a:latin typeface="맑은 고딕" pitchFamily="34" charset="0"/>
                <a:ea typeface="맑은 고딕" pitchFamily="34" charset="-122"/>
                <a:cs typeface="맑은 고딕" pitchFamily="34" charset="-120"/>
              </a:rPr>
              <a:t>예시 사건</a:t>
            </a:r>
            <a:endParaRPr lang="ko-KR" sz="1100" dirty="0"/>
          </a:p>
        </p:txBody>
      </p:sp>
      <p:sp>
        <p:nvSpPr>
          <p:cNvPr id="34" name="Text 29"/>
          <p:cNvSpPr txBox="1"/>
          <p:nvPr/>
        </p:nvSpPr>
        <p:spPr>
          <a:xfrm>
            <a:off x="6434328" y="3529584"/>
            <a:ext cx="2240280" cy="292608"/>
          </a:xfrm>
          <a:prstGeom prst="rect">
            <a:avLst/>
          </a:prstGeom>
          <a:noFill/>
          <a:ln/>
        </p:spPr>
        <p:txBody>
          <a:bodyPr wrap="square" lIns="0" tIns="0" rIns="0" bIns="0" rtlCol="0" anchor="t"/>
          <a:lstStyle/>
          <a:p>
            <a:pPr indent="0" marL="0">
              <a:buNone/>
            </a:pPr>
            <a:r>
              <a:rPr lang="ko-KR" altLang="en-US" sz="1300" dirty="0">
                <a:solidFill>
                  <a:srgbClr val="A9BCD3"/>
                </a:solidFill>
                <a:latin typeface="맑은 고딕" pitchFamily="34" charset="0"/>
                <a:ea typeface="맑은 고딕" pitchFamily="34" charset="-122"/>
                <a:cs typeface="맑은 고딕" pitchFamily="34" charset="-120"/>
              </a:rPr>
              <a:t>손녀를 사칭한 새 번호</a:t>
            </a:r>
            <a:endParaRPr lang="ko-KR" sz="1300" dirty="0"/>
          </a:p>
        </p:txBody>
      </p:sp>
      <p:sp>
        <p:nvSpPr>
          <p:cNvPr id="35" name="Text 30"/>
          <p:cNvSpPr txBox="1"/>
          <p:nvPr/>
        </p:nvSpPr>
        <p:spPr>
          <a:xfrm>
            <a:off x="6434328" y="3913632"/>
            <a:ext cx="914400" cy="201168"/>
          </a:xfrm>
          <a:prstGeom prst="rect">
            <a:avLst/>
          </a:prstGeom>
          <a:noFill/>
          <a:ln/>
        </p:spPr>
        <p:txBody>
          <a:bodyPr wrap="square" lIns="0" tIns="0" rIns="0" bIns="0" rtlCol="0" anchor="t"/>
          <a:lstStyle/>
          <a:p>
            <a:pPr indent="0" marL="0">
              <a:buNone/>
            </a:pPr>
            <a:r>
              <a:rPr lang="ko-KR" altLang="en-US" sz="1100" b="1" dirty="0">
                <a:solidFill>
                  <a:srgbClr val="F2B33D"/>
                </a:solidFill>
                <a:latin typeface="맑은 고딕" pitchFamily="34" charset="0"/>
                <a:ea typeface="맑은 고딕" pitchFamily="34" charset="-122"/>
                <a:cs typeface="맑은 고딕" pitchFamily="34" charset="-120"/>
              </a:rPr>
              <a:t>해금</a:t>
            </a:r>
            <a:endParaRPr lang="ko-KR" sz="1100" dirty="0"/>
          </a:p>
        </p:txBody>
      </p:sp>
      <p:sp>
        <p:nvSpPr>
          <p:cNvPr id="36" name="Text 31"/>
          <p:cNvSpPr txBox="1"/>
          <p:nvPr/>
        </p:nvSpPr>
        <p:spPr>
          <a:xfrm>
            <a:off x="6434328" y="4123944"/>
            <a:ext cx="2240280" cy="411480"/>
          </a:xfrm>
          <a:prstGeom prst="rect">
            <a:avLst/>
          </a:prstGeom>
          <a:noFill/>
          <a:ln/>
        </p:spPr>
        <p:txBody>
          <a:bodyPr wrap="square" lIns="0" tIns="0" rIns="0" bIns="0" rtlCol="0" anchor="t"/>
          <a:lstStyle/>
          <a:p>
            <a:pPr indent="0" marL="0">
              <a:buNone/>
            </a:pPr>
            <a:r>
              <a:rPr lang="ko-KR" altLang="en-US" sz="1200" b="1" dirty="0">
                <a:solidFill>
                  <a:srgbClr val="FFFFFF"/>
                </a:solidFill>
                <a:latin typeface="맑은 고딕" pitchFamily="34" charset="0"/>
                <a:ea typeface="맑은 고딕" pitchFamily="34" charset="-122"/>
                <a:cs typeface="맑은 고딕" pitchFamily="34" charset="-120"/>
              </a:rPr>
              <a:t>근거 선택</a:t>
            </a:r>
            <a:endParaRPr lang="ko-KR" sz="1200" dirty="0"/>
          </a:p>
        </p:txBody>
      </p:sp>
      <p:sp>
        <p:nvSpPr>
          <p:cNvPr id="37" name="level-3"/>
          <p:cNvSpPr/>
          <p:nvPr/>
        </p:nvSpPr>
        <p:spPr>
          <a:xfrm>
            <a:off x="9034272" y="1636776"/>
            <a:ext cx="2606040" cy="3392424"/>
          </a:xfrm>
          <a:prstGeom prst="roundRect">
            <a:avLst>
              <a:gd name="adj" fmla="val 4912"/>
            </a:avLst>
          </a:prstGeom>
          <a:solidFill>
            <a:srgbClr val="14284B"/>
          </a:solidFill>
          <a:ln w="12700">
            <a:solidFill>
              <a:srgbClr val="1E3A66"/>
            </a:solidFill>
            <a:prstDash val="solid"/>
          </a:ln>
        </p:spPr>
      </p:sp>
      <p:sp>
        <p:nvSpPr>
          <p:cNvPr id="38" name="Shape 33"/>
          <p:cNvSpPr/>
          <p:nvPr/>
        </p:nvSpPr>
        <p:spPr>
          <a:xfrm>
            <a:off x="9262872" y="1865376"/>
            <a:ext cx="640080" cy="640080"/>
          </a:xfrm>
          <a:prstGeom prst="ellipse">
            <a:avLst/>
          </a:prstGeom>
          <a:solidFill>
            <a:srgbClr val="F2B33D"/>
          </a:solidFill>
          <a:ln/>
        </p:spPr>
      </p:sp>
      <p:pic>
        <p:nvPicPr>
          <p:cNvPr id="39" name="Image 3" descr="preencoded.png">    </p:cNvPr>
          <p:cNvPicPr>
            <a:picLocks noChangeAspect="1"/>
          </p:cNvPicPr>
          <p:nvPr/>
        </p:nvPicPr>
        <p:blipFill>
          <a:blip r:embed="rId4"/>
          <a:stretch>
            <a:fillRect/>
          </a:stretch>
        </p:blipFill>
        <p:spPr>
          <a:xfrm>
            <a:off x="9422892" y="2025396"/>
            <a:ext cx="320040" cy="320040"/>
          </a:xfrm>
          <a:prstGeom prst="rect">
            <a:avLst/>
          </a:prstGeom>
        </p:spPr>
      </p:pic>
      <p:sp>
        <p:nvSpPr>
          <p:cNvPr id="40" name="Shape 34"/>
          <p:cNvSpPr/>
          <p:nvPr/>
        </p:nvSpPr>
        <p:spPr>
          <a:xfrm>
            <a:off x="10040112" y="1911096"/>
            <a:ext cx="685800" cy="274320"/>
          </a:xfrm>
          <a:prstGeom prst="roundRect">
            <a:avLst>
              <a:gd name="adj" fmla="val 50000"/>
            </a:avLst>
          </a:prstGeom>
          <a:solidFill>
            <a:srgbClr val="F2B33D"/>
          </a:solidFill>
          <a:ln/>
        </p:spPr>
      </p:sp>
      <p:sp>
        <p:nvSpPr>
          <p:cNvPr id="41" name="Text 35"/>
          <p:cNvSpPr txBox="1"/>
          <p:nvPr/>
        </p:nvSpPr>
        <p:spPr>
          <a:xfrm>
            <a:off x="10040112" y="1911096"/>
            <a:ext cx="685800" cy="274320"/>
          </a:xfrm>
          <a:prstGeom prst="rect">
            <a:avLst/>
          </a:prstGeom>
          <a:noFill/>
          <a:ln/>
        </p:spPr>
        <p:txBody>
          <a:bodyPr wrap="square" lIns="0" tIns="0" rIns="0" bIns="0" rtlCol="0" anchor="ctr"/>
          <a:lstStyle/>
          <a:p>
            <a:pPr algn="ctr" indent="0" marL="0">
              <a:buNone/>
            </a:pPr>
            <a:r>
              <a:rPr lang="ko-KR" altLang="en-US" sz="1200" b="1" dirty="0">
                <a:solidFill>
                  <a:srgbClr val="06122A"/>
                </a:solidFill>
                <a:latin typeface="맑은 고딕" pitchFamily="34" charset="0"/>
                <a:ea typeface="맑은 고딕" pitchFamily="34" charset="-122"/>
                <a:cs typeface="맑은 고딕" pitchFamily="34" charset="-120"/>
              </a:rPr>
              <a:t>심화</a:t>
            </a:r>
            <a:endParaRPr lang="ko-KR" sz="1200" dirty="0"/>
          </a:p>
        </p:txBody>
      </p:sp>
      <p:sp>
        <p:nvSpPr>
          <p:cNvPr id="42" name="Text 36"/>
          <p:cNvSpPr txBox="1"/>
          <p:nvPr/>
        </p:nvSpPr>
        <p:spPr>
          <a:xfrm>
            <a:off x="10040112" y="2203704"/>
            <a:ext cx="1554480" cy="320040"/>
          </a:xfrm>
          <a:prstGeom prst="rect">
            <a:avLst/>
          </a:prstGeom>
          <a:noFill/>
          <a:ln/>
        </p:spPr>
        <p:txBody>
          <a:bodyPr wrap="square" lIns="0" tIns="0" rIns="0" bIns="0" rtlCol="0" anchor="t"/>
          <a:lstStyle/>
          <a:p>
            <a:pPr indent="0" marL="0">
              <a:buNone/>
            </a:pPr>
            <a:r>
              <a:rPr lang="ko-KR" altLang="en-US" sz="1600" b="1" dirty="0">
                <a:solidFill>
                  <a:srgbClr val="FFFFFF"/>
                </a:solidFill>
                <a:latin typeface="맑은 고딕" pitchFamily="34" charset="0"/>
                <a:ea typeface="맑은 고딕" pitchFamily="34" charset="-122"/>
                <a:cs typeface="맑은 고딕" pitchFamily="34" charset="-120"/>
              </a:rPr>
              <a:t>책임 심사관</a:t>
            </a:r>
            <a:endParaRPr lang="ko-KR" sz="1600" dirty="0"/>
          </a:p>
        </p:txBody>
      </p:sp>
      <p:sp>
        <p:nvSpPr>
          <p:cNvPr id="43" name="Text 37"/>
          <p:cNvSpPr txBox="1"/>
          <p:nvPr/>
        </p:nvSpPr>
        <p:spPr>
          <a:xfrm>
            <a:off x="9262872" y="2660904"/>
            <a:ext cx="2240280" cy="365760"/>
          </a:xfrm>
          <a:prstGeom prst="rect">
            <a:avLst/>
          </a:prstGeom>
          <a:noFill/>
          <a:ln/>
        </p:spPr>
        <p:txBody>
          <a:bodyPr wrap="square" lIns="0" tIns="0" rIns="0" bIns="0" rtlCol="0" anchor="t"/>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긴급·사칭·불완전 정보</a:t>
            </a:r>
            <a:endParaRPr lang="ko-KR" sz="1500" dirty="0"/>
          </a:p>
        </p:txBody>
      </p:sp>
      <p:sp>
        <p:nvSpPr>
          <p:cNvPr id="44" name="Text 38"/>
          <p:cNvSpPr txBox="1"/>
          <p:nvPr/>
        </p:nvSpPr>
        <p:spPr>
          <a:xfrm>
            <a:off x="9262872" y="3118104"/>
            <a:ext cx="1371600" cy="201168"/>
          </a:xfrm>
          <a:prstGeom prst="rect">
            <a:avLst/>
          </a:prstGeom>
          <a:noFill/>
          <a:ln/>
        </p:spPr>
        <p:txBody>
          <a:bodyPr wrap="square" lIns="0" tIns="0" rIns="0" bIns="0" rtlCol="0" anchor="t"/>
          <a:lstStyle/>
          <a:p>
            <a:pPr indent="0" marL="0">
              <a:buNone/>
            </a:pPr>
            <a:r>
              <a:rPr lang="ko-KR" altLang="en-US" sz="1100" b="1" dirty="0">
                <a:solidFill>
                  <a:srgbClr val="19B3B1"/>
                </a:solidFill>
                <a:latin typeface="맑은 고딕" pitchFamily="34" charset="0"/>
                <a:ea typeface="맑은 고딕" pitchFamily="34" charset="-122"/>
                <a:cs typeface="맑은 고딕" pitchFamily="34" charset="-120"/>
              </a:rPr>
              <a:t>예시 사건</a:t>
            </a:r>
            <a:endParaRPr lang="ko-KR" sz="1100" dirty="0"/>
          </a:p>
        </p:txBody>
      </p:sp>
      <p:sp>
        <p:nvSpPr>
          <p:cNvPr id="45" name="Text 39"/>
          <p:cNvSpPr txBox="1"/>
          <p:nvPr/>
        </p:nvSpPr>
        <p:spPr>
          <a:xfrm>
            <a:off x="9262872" y="3328416"/>
            <a:ext cx="2240280" cy="292608"/>
          </a:xfrm>
          <a:prstGeom prst="rect">
            <a:avLst/>
          </a:prstGeom>
          <a:noFill/>
          <a:ln/>
        </p:spPr>
        <p:txBody>
          <a:bodyPr wrap="square" lIns="0" tIns="0" rIns="0" bIns="0" rtlCol="0" anchor="t"/>
          <a:lstStyle/>
          <a:p>
            <a:pPr indent="0" marL="0">
              <a:buNone/>
            </a:pPr>
            <a:r>
              <a:rPr lang="ko-KR" altLang="en-US" sz="1300" dirty="0">
                <a:solidFill>
                  <a:srgbClr val="A9BCD3"/>
                </a:solidFill>
                <a:latin typeface="맑은 고딕" pitchFamily="34" charset="0"/>
                <a:ea typeface="맑은 고딕" pitchFamily="34" charset="-122"/>
                <a:cs typeface="맑은 고딕" pitchFamily="34" charset="-120"/>
              </a:rPr>
              <a:t>‘선생님’의 긴급 권한 요청</a:t>
            </a:r>
            <a:endParaRPr lang="ko-KR" sz="1300" dirty="0"/>
          </a:p>
        </p:txBody>
      </p:sp>
      <p:sp>
        <p:nvSpPr>
          <p:cNvPr id="46" name="Text 40"/>
          <p:cNvSpPr txBox="1"/>
          <p:nvPr/>
        </p:nvSpPr>
        <p:spPr>
          <a:xfrm>
            <a:off x="9262872" y="3712464"/>
            <a:ext cx="914400" cy="201168"/>
          </a:xfrm>
          <a:prstGeom prst="rect">
            <a:avLst/>
          </a:prstGeom>
          <a:noFill/>
          <a:ln/>
        </p:spPr>
        <p:txBody>
          <a:bodyPr wrap="square" lIns="0" tIns="0" rIns="0" bIns="0" rtlCol="0" anchor="t"/>
          <a:lstStyle/>
          <a:p>
            <a:pPr indent="0" marL="0">
              <a:buNone/>
            </a:pPr>
            <a:r>
              <a:rPr lang="ko-KR" altLang="en-US" sz="1100" b="1" dirty="0">
                <a:solidFill>
                  <a:srgbClr val="F2B33D"/>
                </a:solidFill>
                <a:latin typeface="맑은 고딕" pitchFamily="34" charset="0"/>
                <a:ea typeface="맑은 고딕" pitchFamily="34" charset="-122"/>
                <a:cs typeface="맑은 고딕" pitchFamily="34" charset="-120"/>
              </a:rPr>
              <a:t>해금</a:t>
            </a:r>
            <a:endParaRPr lang="ko-KR" sz="1100" dirty="0"/>
          </a:p>
        </p:txBody>
      </p:sp>
      <p:sp>
        <p:nvSpPr>
          <p:cNvPr id="47" name="Text 41"/>
          <p:cNvSpPr txBox="1"/>
          <p:nvPr/>
        </p:nvSpPr>
        <p:spPr>
          <a:xfrm>
            <a:off x="9262872" y="3922776"/>
            <a:ext cx="2240280" cy="411480"/>
          </a:xfrm>
          <a:prstGeom prst="rect">
            <a:avLst/>
          </a:prstGeom>
          <a:noFill/>
          <a:ln/>
        </p:spPr>
        <p:txBody>
          <a:bodyPr wrap="square" lIns="0" tIns="0" rIns="0" bIns="0" rtlCol="0" anchor="t"/>
          <a:lstStyle/>
          <a:p>
            <a:pPr indent="0" marL="0">
              <a:buNone/>
            </a:pPr>
            <a:r>
              <a:rPr lang="ko-KR" altLang="en-US" sz="1200" b="1" dirty="0">
                <a:solidFill>
                  <a:srgbClr val="FFFFFF"/>
                </a:solidFill>
                <a:latin typeface="맑은 고딕" pitchFamily="34" charset="0"/>
                <a:ea typeface="맑은 고딕" pitchFamily="34" charset="-122"/>
                <a:cs typeface="맑은 고딕" pitchFamily="34" charset="-120"/>
              </a:rPr>
              <a:t>확인 결과 카드 · 2단계 판정</a:t>
            </a:r>
            <a:endParaRPr lang="ko-KR" sz="1200" dirty="0"/>
          </a:p>
        </p:txBody>
      </p:sp>
      <p:sp>
        <p:nvSpPr>
          <p:cNvPr id="48" name="Shape 42"/>
          <p:cNvSpPr/>
          <p:nvPr/>
        </p:nvSpPr>
        <p:spPr>
          <a:xfrm>
            <a:off x="548640" y="5230368"/>
            <a:ext cx="11091672" cy="1078992"/>
          </a:xfrm>
          <a:prstGeom prst="roundRect">
            <a:avLst>
              <a:gd name="adj" fmla="val 11864"/>
            </a:avLst>
          </a:prstGeom>
          <a:solidFill>
            <a:srgbClr val="06122A"/>
          </a:solidFill>
          <a:ln w="12700">
            <a:solidFill>
              <a:srgbClr val="1E3A66"/>
            </a:solidFill>
            <a:prstDash val="solid"/>
          </a:ln>
        </p:spPr>
      </p:sp>
      <p:sp>
        <p:nvSpPr>
          <p:cNvPr id="49" name="Shape 43"/>
          <p:cNvSpPr/>
          <p:nvPr/>
        </p:nvSpPr>
        <p:spPr>
          <a:xfrm>
            <a:off x="1124712" y="5340096"/>
            <a:ext cx="502920" cy="502920"/>
          </a:xfrm>
          <a:prstGeom prst="ellipse">
            <a:avLst/>
          </a:prstGeom>
          <a:solidFill>
            <a:srgbClr val="14284B"/>
          </a:solidFill>
          <a:ln/>
        </p:spPr>
      </p:sp>
      <p:pic>
        <p:nvPicPr>
          <p:cNvPr id="50" name="Image 4" descr="preencoded.png">    </p:cNvPr>
          <p:cNvPicPr>
            <a:picLocks noChangeAspect="1"/>
          </p:cNvPicPr>
          <p:nvPr/>
        </p:nvPicPr>
        <p:blipFill>
          <a:blip r:embed="rId5"/>
          <a:stretch>
            <a:fillRect/>
          </a:stretch>
        </p:blipFill>
        <p:spPr>
          <a:xfrm>
            <a:off x="1250442" y="5465826"/>
            <a:ext cx="251460" cy="251460"/>
          </a:xfrm>
          <a:prstGeom prst="rect">
            <a:avLst/>
          </a:prstGeom>
        </p:spPr>
      </p:pic>
      <p:sp>
        <p:nvSpPr>
          <p:cNvPr id="51" name="Text 44"/>
          <p:cNvSpPr txBox="1"/>
          <p:nvPr/>
        </p:nvSpPr>
        <p:spPr>
          <a:xfrm>
            <a:off x="731520" y="5897880"/>
            <a:ext cx="1280160" cy="274320"/>
          </a:xfrm>
          <a:prstGeom prst="rect">
            <a:avLst/>
          </a:prstGeom>
          <a:noFill/>
          <a:ln/>
        </p:spPr>
        <p:txBody>
          <a:bodyPr wrap="square" lIns="0" tIns="0" rIns="0" bIns="0" rtlCol="0" anchor="t"/>
          <a:lstStyle/>
          <a:p>
            <a:pPr algn="ctr" indent="0" marL="0">
              <a:buNone/>
            </a:pPr>
            <a:r>
              <a:rPr lang="ko-KR" altLang="en-US" sz="1200" b="1" dirty="0">
                <a:solidFill>
                  <a:srgbClr val="FFFFFF"/>
                </a:solidFill>
                <a:latin typeface="맑은 고딕" pitchFamily="34" charset="0"/>
                <a:ea typeface="맑은 고딕" pitchFamily="34" charset="-122"/>
                <a:cs typeface="맑은 고딕" pitchFamily="34" charset="-120"/>
              </a:rPr>
              <a:t>심사관 등급</a:t>
            </a:r>
            <a:endParaRPr lang="ko-KR" sz="1200" dirty="0"/>
          </a:p>
        </p:txBody>
      </p:sp>
      <p:sp>
        <p:nvSpPr>
          <p:cNvPr id="52" name="Shape 45"/>
          <p:cNvSpPr/>
          <p:nvPr/>
        </p:nvSpPr>
        <p:spPr>
          <a:xfrm>
            <a:off x="2542032" y="5340096"/>
            <a:ext cx="502920" cy="502920"/>
          </a:xfrm>
          <a:prstGeom prst="ellipse">
            <a:avLst/>
          </a:prstGeom>
          <a:solidFill>
            <a:srgbClr val="14284B"/>
          </a:solidFill>
          <a:ln/>
        </p:spPr>
      </p:sp>
      <p:pic>
        <p:nvPicPr>
          <p:cNvPr id="53" name="Image 5" descr="preencoded.png">    </p:cNvPr>
          <p:cNvPicPr>
            <a:picLocks noChangeAspect="1"/>
          </p:cNvPicPr>
          <p:nvPr/>
        </p:nvPicPr>
        <p:blipFill>
          <a:blip r:embed="rId6"/>
          <a:stretch>
            <a:fillRect/>
          </a:stretch>
        </p:blipFill>
        <p:spPr>
          <a:xfrm>
            <a:off x="2667762" y="5465826"/>
            <a:ext cx="251460" cy="251460"/>
          </a:xfrm>
          <a:prstGeom prst="rect">
            <a:avLst/>
          </a:prstGeom>
        </p:spPr>
      </p:pic>
      <p:sp>
        <p:nvSpPr>
          <p:cNvPr id="54" name="Text 46"/>
          <p:cNvSpPr txBox="1"/>
          <p:nvPr/>
        </p:nvSpPr>
        <p:spPr>
          <a:xfrm>
            <a:off x="2148840" y="5897880"/>
            <a:ext cx="1280160" cy="274320"/>
          </a:xfrm>
          <a:prstGeom prst="rect">
            <a:avLst/>
          </a:prstGeom>
          <a:noFill/>
          <a:ln/>
        </p:spPr>
        <p:txBody>
          <a:bodyPr wrap="square" lIns="0" tIns="0" rIns="0" bIns="0" rtlCol="0" anchor="t"/>
          <a:lstStyle/>
          <a:p>
            <a:pPr algn="ctr" indent="0" marL="0">
              <a:buNone/>
            </a:pPr>
            <a:r>
              <a:rPr lang="ko-KR" altLang="en-US" sz="1200" b="1" dirty="0">
                <a:solidFill>
                  <a:srgbClr val="FFFFFF"/>
                </a:solidFill>
                <a:latin typeface="맑은 고딕" pitchFamily="34" charset="0"/>
                <a:ea typeface="맑은 고딕" pitchFamily="34" charset="-122"/>
                <a:cs typeface="맑은 고딕" pitchFamily="34" charset="-120"/>
              </a:rPr>
              <a:t>신규 보안 도구</a:t>
            </a:r>
            <a:endParaRPr lang="ko-KR" sz="1200" dirty="0"/>
          </a:p>
        </p:txBody>
      </p:sp>
      <p:sp>
        <p:nvSpPr>
          <p:cNvPr id="55" name="Shape 47"/>
          <p:cNvSpPr/>
          <p:nvPr/>
        </p:nvSpPr>
        <p:spPr>
          <a:xfrm>
            <a:off x="3959352" y="5340096"/>
            <a:ext cx="502920" cy="502920"/>
          </a:xfrm>
          <a:prstGeom prst="ellipse">
            <a:avLst/>
          </a:prstGeom>
          <a:solidFill>
            <a:srgbClr val="14284B"/>
          </a:solidFill>
          <a:ln/>
        </p:spPr>
      </p:sp>
      <p:pic>
        <p:nvPicPr>
          <p:cNvPr id="56" name="Image 6" descr="preencoded.png">    </p:cNvPr>
          <p:cNvPicPr>
            <a:picLocks noChangeAspect="1"/>
          </p:cNvPicPr>
          <p:nvPr/>
        </p:nvPicPr>
        <p:blipFill>
          <a:blip r:embed="rId7"/>
          <a:stretch>
            <a:fillRect/>
          </a:stretch>
        </p:blipFill>
        <p:spPr>
          <a:xfrm>
            <a:off x="4085082" y="5465826"/>
            <a:ext cx="251460" cy="251460"/>
          </a:xfrm>
          <a:prstGeom prst="rect">
            <a:avLst/>
          </a:prstGeom>
        </p:spPr>
      </p:pic>
      <p:sp>
        <p:nvSpPr>
          <p:cNvPr id="57" name="Text 48"/>
          <p:cNvSpPr txBox="1"/>
          <p:nvPr/>
        </p:nvSpPr>
        <p:spPr>
          <a:xfrm>
            <a:off x="3566160" y="5897880"/>
            <a:ext cx="1280160" cy="274320"/>
          </a:xfrm>
          <a:prstGeom prst="rect">
            <a:avLst/>
          </a:prstGeom>
          <a:noFill/>
          <a:ln/>
        </p:spPr>
        <p:txBody>
          <a:bodyPr wrap="square" lIns="0" tIns="0" rIns="0" bIns="0" rtlCol="0" anchor="t"/>
          <a:lstStyle/>
          <a:p>
            <a:pPr algn="ctr" indent="0" marL="0">
              <a:buNone/>
            </a:pPr>
            <a:r>
              <a:rPr lang="ko-KR" altLang="en-US" sz="1200" b="1" dirty="0">
                <a:solidFill>
                  <a:srgbClr val="FFFFFF"/>
                </a:solidFill>
                <a:latin typeface="맑은 고딕" pitchFamily="34" charset="0"/>
                <a:ea typeface="맑은 고딕" pitchFamily="34" charset="-122"/>
                <a:cs typeface="맑은 고딕" pitchFamily="34" charset="-120"/>
              </a:rPr>
              <a:t>가상 배지</a:t>
            </a:r>
            <a:endParaRPr lang="ko-KR" sz="1200" dirty="0"/>
          </a:p>
        </p:txBody>
      </p:sp>
      <p:sp>
        <p:nvSpPr>
          <p:cNvPr id="58" name="Shape 49"/>
          <p:cNvSpPr/>
          <p:nvPr/>
        </p:nvSpPr>
        <p:spPr>
          <a:xfrm>
            <a:off x="5376672" y="5340096"/>
            <a:ext cx="502920" cy="502920"/>
          </a:xfrm>
          <a:prstGeom prst="ellipse">
            <a:avLst/>
          </a:prstGeom>
          <a:solidFill>
            <a:srgbClr val="14284B"/>
          </a:solidFill>
          <a:ln/>
        </p:spPr>
      </p:sp>
      <p:pic>
        <p:nvPicPr>
          <p:cNvPr id="59" name="Image 7" descr="preencoded.png">    </p:cNvPr>
          <p:cNvPicPr>
            <a:picLocks noChangeAspect="1"/>
          </p:cNvPicPr>
          <p:nvPr/>
        </p:nvPicPr>
        <p:blipFill>
          <a:blip r:embed="rId8"/>
          <a:stretch>
            <a:fillRect/>
          </a:stretch>
        </p:blipFill>
        <p:spPr>
          <a:xfrm>
            <a:off x="5502402" y="5465826"/>
            <a:ext cx="251460" cy="251460"/>
          </a:xfrm>
          <a:prstGeom prst="rect">
            <a:avLst/>
          </a:prstGeom>
        </p:spPr>
      </p:pic>
      <p:sp>
        <p:nvSpPr>
          <p:cNvPr id="60" name="Text 50"/>
          <p:cNvSpPr txBox="1"/>
          <p:nvPr/>
        </p:nvSpPr>
        <p:spPr>
          <a:xfrm>
            <a:off x="4983480" y="5897880"/>
            <a:ext cx="1280160" cy="274320"/>
          </a:xfrm>
          <a:prstGeom prst="rect">
            <a:avLst/>
          </a:prstGeom>
          <a:noFill/>
          <a:ln/>
        </p:spPr>
        <p:txBody>
          <a:bodyPr wrap="square" lIns="0" tIns="0" rIns="0" bIns="0" rtlCol="0" anchor="t"/>
          <a:lstStyle/>
          <a:p>
            <a:pPr algn="ctr" indent="0" marL="0">
              <a:buNone/>
            </a:pPr>
            <a:r>
              <a:rPr lang="ko-KR" altLang="en-US" sz="1200" b="1" dirty="0">
                <a:solidFill>
                  <a:srgbClr val="FFFFFF"/>
                </a:solidFill>
                <a:latin typeface="맑은 고딕" pitchFamily="34" charset="0"/>
                <a:ea typeface="맑은 고딕" pitchFamily="34" charset="-122"/>
                <a:cs typeface="맑은 고딕" pitchFamily="34" charset="-120"/>
              </a:rPr>
              <a:t>챕터 진행도</a:t>
            </a:r>
            <a:endParaRPr lang="ko-KR" sz="1200" dirty="0"/>
          </a:p>
        </p:txBody>
      </p:sp>
      <p:sp>
        <p:nvSpPr>
          <p:cNvPr id="61" name="Shape 51"/>
          <p:cNvSpPr/>
          <p:nvPr/>
        </p:nvSpPr>
        <p:spPr>
          <a:xfrm>
            <a:off x="6793992" y="5340096"/>
            <a:ext cx="502920" cy="502920"/>
          </a:xfrm>
          <a:prstGeom prst="ellipse">
            <a:avLst/>
          </a:prstGeom>
          <a:solidFill>
            <a:srgbClr val="14284B"/>
          </a:solidFill>
          <a:ln/>
        </p:spPr>
      </p:sp>
      <p:pic>
        <p:nvPicPr>
          <p:cNvPr id="62" name="Image 8" descr="preencoded.png">    </p:cNvPr>
          <p:cNvPicPr>
            <a:picLocks noChangeAspect="1"/>
          </p:cNvPicPr>
          <p:nvPr/>
        </p:nvPicPr>
        <p:blipFill>
          <a:blip r:embed="rId9"/>
          <a:stretch>
            <a:fillRect/>
          </a:stretch>
        </p:blipFill>
        <p:spPr>
          <a:xfrm>
            <a:off x="6919722" y="5465826"/>
            <a:ext cx="251460" cy="251460"/>
          </a:xfrm>
          <a:prstGeom prst="rect">
            <a:avLst/>
          </a:prstGeom>
        </p:spPr>
      </p:pic>
      <p:sp>
        <p:nvSpPr>
          <p:cNvPr id="63" name="Text 52"/>
          <p:cNvSpPr txBox="1"/>
          <p:nvPr/>
        </p:nvSpPr>
        <p:spPr>
          <a:xfrm>
            <a:off x="6400800" y="5897880"/>
            <a:ext cx="1280160" cy="274320"/>
          </a:xfrm>
          <a:prstGeom prst="rect">
            <a:avLst/>
          </a:prstGeom>
          <a:noFill/>
          <a:ln/>
        </p:spPr>
        <p:txBody>
          <a:bodyPr wrap="square" lIns="0" tIns="0" rIns="0" bIns="0" rtlCol="0" anchor="t"/>
          <a:lstStyle/>
          <a:p>
            <a:pPr algn="ctr" indent="0" marL="0">
              <a:buNone/>
            </a:pPr>
            <a:r>
              <a:rPr lang="ko-KR" altLang="en-US" sz="1200" b="1" dirty="0">
                <a:solidFill>
                  <a:srgbClr val="FFFFFF"/>
                </a:solidFill>
                <a:latin typeface="맑은 고딕" pitchFamily="34" charset="0"/>
                <a:ea typeface="맑은 고딕" pitchFamily="34" charset="-122"/>
                <a:cs typeface="맑은 고딕" pitchFamily="34" charset="-120"/>
              </a:rPr>
              <a:t>취약 규칙 복습</a:t>
            </a:r>
            <a:endParaRPr lang="ko-KR" sz="1200" dirty="0"/>
          </a:p>
        </p:txBody>
      </p:sp>
      <p:sp>
        <p:nvSpPr>
          <p:cNvPr id="64" name="Shape 53"/>
          <p:cNvSpPr/>
          <p:nvPr/>
        </p:nvSpPr>
        <p:spPr>
          <a:xfrm>
            <a:off x="8001000" y="5376672"/>
            <a:ext cx="3474720" cy="786384"/>
          </a:xfrm>
          <a:prstGeom prst="roundRect">
            <a:avLst>
              <a:gd name="adj" fmla="val 11628"/>
            </a:avLst>
          </a:prstGeom>
          <a:solidFill>
            <a:srgbClr val="14284B"/>
          </a:solidFill>
          <a:ln/>
        </p:spPr>
      </p:sp>
      <p:sp>
        <p:nvSpPr>
          <p:cNvPr id="65" name="Text 54"/>
          <p:cNvSpPr txBox="1"/>
          <p:nvPr/>
        </p:nvSpPr>
        <p:spPr>
          <a:xfrm>
            <a:off x="8183880" y="5376672"/>
            <a:ext cx="3200400" cy="786384"/>
          </a:xfrm>
          <a:prstGeom prst="rect">
            <a:avLst/>
          </a:prstGeom>
          <a:noFill/>
          <a:ln/>
        </p:spPr>
        <p:txBody>
          <a:bodyPr wrap="square" lIns="0" tIns="0" rIns="0" bIns="0" rtlCol="0" anchor="ctr"/>
          <a:lstStyle/>
          <a:p>
            <a:pPr indent="0" marL="0">
              <a:buNone/>
            </a:pPr>
            <a:r>
              <a:rPr lang="ko-KR" altLang="en-US" sz="1300" b="1" dirty="0">
                <a:solidFill>
                  <a:srgbClr val="19B3B1"/>
                </a:solidFill>
                <a:latin typeface="맑은 고딕" pitchFamily="34" charset="0"/>
                <a:ea typeface="맑은 고딕" pitchFamily="34" charset="-122"/>
                <a:cs typeface="맑은 고딕" pitchFamily="34" charset="-120"/>
              </a:rPr>
              <a:t>평가 원칙  </a:t>
            </a:r>
            <a:pPr indent="0" marL="0">
              <a:buNone/>
            </a:pPr>
            <a:r>
              <a:rPr lang="ko-KR" altLang="en-US" sz="1300" dirty="0">
                <a:solidFill>
                  <a:srgbClr val="FFFFFF"/>
                </a:solidFill>
                <a:latin typeface="맑은 고딕" pitchFamily="34" charset="0"/>
                <a:ea typeface="맑은 고딕" pitchFamily="34" charset="-122"/>
                <a:cs typeface="맑은 고딕" pitchFamily="34" charset="-120"/>
              </a:rPr>
              <a:t>속도보다 정확한 판정과 근거</a:t>
            </a:r>
            <a:endParaRPr lang="ko-KR" sz="1300" dirty="0"/>
          </a:p>
          <a:p>
            <a:pPr indent="0" marL="0">
              <a:buNone/>
            </a:pPr>
            <a:r>
              <a:rPr lang="ko-KR" altLang="en-US" sz="1300" b="1" dirty="0">
                <a:solidFill>
                  <a:srgbClr val="F2B33D"/>
                </a:solidFill>
                <a:latin typeface="맑은 고딕" pitchFamily="34" charset="0"/>
                <a:ea typeface="맑은 고딕" pitchFamily="34" charset="-122"/>
                <a:cs typeface="맑은 고딕" pitchFamily="34" charset="-120"/>
              </a:rPr>
              <a:t>실패하면  </a:t>
            </a:r>
            <a:pPr indent="0" marL="0">
              <a:buNone/>
            </a:pPr>
            <a:r>
              <a:rPr lang="ko-KR" altLang="en-US" sz="1300" dirty="0">
                <a:solidFill>
                  <a:srgbClr val="FFFFFF"/>
                </a:solidFill>
                <a:latin typeface="맑은 고딕" pitchFamily="34" charset="0"/>
                <a:ea typeface="맑은 고딕" pitchFamily="34" charset="-122"/>
                <a:cs typeface="맑은 고딕" pitchFamily="34" charset="-120"/>
              </a:rPr>
              <a:t>힌트 → 다시 생각하기 → 재도전</a:t>
            </a:r>
            <a:endParaRPr lang="ko-KR" sz="13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맑은 고딕"/>
                <a:ea typeface="맑은 고딕"/>
                <a:cs typeface="맑은 고딕"/>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658368"/>
          </a:xfrm>
          <a:prstGeom prst="rect">
            <a:avLst/>
          </a:prstGeom>
          <a:noFill/>
          <a:ln/>
        </p:spPr>
        <p:txBody>
          <a:bodyPr wrap="square" lIns="0" tIns="0" rIns="0" bIns="0" rtlCol="0" anchor="ctr"/>
          <a:lstStyle/>
          <a:p>
            <a:pPr algn="l" indent="0" marL="0">
              <a:buNone/>
            </a:pPr>
            <a:r>
              <a:rPr lang="en-US" sz="3000" b="1" dirty="0">
                <a:solidFill>
                  <a:srgbClr val="FFFFFF"/>
                </a:solidFill>
                <a:latin typeface="맑은 고딕" pitchFamily="34" charset="0"/>
                <a:ea typeface="맑은 고딕" pitchFamily="34" charset="-122"/>
                <a:cs typeface="맑은 고딕" pitchFamily="34" charset="-120"/>
              </a:rPr>
              <a:t>하나의 게임 시스템, 두 가지 비주얼 테마</a:t>
            </a:r>
            <a:endParaRPr lang="en-US" sz="3000" dirty="0"/>
          </a:p>
        </p:txBody>
      </p:sp>
      <p:sp>
        <p:nvSpPr>
          <p:cNvPr id="3" name="Shape 1"/>
          <p:cNvSpPr/>
          <p:nvPr/>
        </p:nvSpPr>
        <p:spPr>
          <a:xfrm>
            <a:off x="548640" y="1188720"/>
            <a:ext cx="1645920" cy="3520440"/>
          </a:xfrm>
          <a:prstGeom prst="roundRect">
            <a:avLst>
              <a:gd name="adj" fmla="val 14000"/>
            </a:avLst>
          </a:prstGeom>
          <a:solidFill>
            <a:srgbClr val="040B17"/>
          </a:solidFill>
          <a:ln w="15875">
            <a:solidFill>
              <a:srgbClr val="3A5478"/>
            </a:solidFill>
            <a:prstDash val="solid"/>
          </a:ln>
          <a:effectLst>
            <a:outerShdw sx="100000" sy="100000" kx="0" ky="0" algn="bl" rotWithShape="0" blurRad="127000" dist="38100" dir="5400000">
              <a:srgbClr val="000000">
                <a:alpha val="35000"/>
              </a:srgbClr>
            </a:outerShdw>
          </a:effectLst>
        </p:spPr>
      </p:sp>
      <p:sp>
        <p:nvSpPr>
          <p:cNvPr id="4" name="Shape 2"/>
          <p:cNvSpPr/>
          <p:nvPr/>
        </p:nvSpPr>
        <p:spPr>
          <a:xfrm>
            <a:off x="614477" y="1271016"/>
            <a:ext cx="1514246" cy="3355848"/>
          </a:xfrm>
          <a:prstGeom prst="roundRect">
            <a:avLst>
              <a:gd name="adj" fmla="val 10870"/>
            </a:avLst>
          </a:prstGeom>
          <a:solidFill>
            <a:srgbClr val="0B1A33"/>
          </a:solidFill>
          <a:ln/>
        </p:spPr>
      </p:sp>
      <p:sp>
        <p:nvSpPr>
          <p:cNvPr id="5" name="Shape 3"/>
          <p:cNvSpPr/>
          <p:nvPr/>
        </p:nvSpPr>
        <p:spPr>
          <a:xfrm>
            <a:off x="614477" y="1271016"/>
            <a:ext cx="1514246" cy="3355848"/>
          </a:xfrm>
          <a:prstGeom prst="roundRect">
            <a:avLst>
              <a:gd name="adj" fmla="val 10870"/>
            </a:avLst>
          </a:prstGeom>
          <a:solidFill>
            <a:srgbClr val="F4F6FA"/>
          </a:solidFill>
          <a:ln/>
        </p:spPr>
      </p:sp>
      <p:sp>
        <p:nvSpPr>
          <p:cNvPr id="6" name="Shape 4"/>
          <p:cNvSpPr/>
          <p:nvPr/>
        </p:nvSpPr>
        <p:spPr>
          <a:xfrm>
            <a:off x="614477" y="1271016"/>
            <a:ext cx="1514246" cy="457200"/>
          </a:xfrm>
          <a:prstGeom prst="roundRect">
            <a:avLst>
              <a:gd name="adj" fmla="val 36000"/>
            </a:avLst>
          </a:prstGeom>
          <a:solidFill>
            <a:srgbClr val="0B1A33"/>
          </a:solidFill>
          <a:ln/>
        </p:spPr>
      </p:sp>
      <p:sp>
        <p:nvSpPr>
          <p:cNvPr id="7" name="Shape 5"/>
          <p:cNvSpPr/>
          <p:nvPr/>
        </p:nvSpPr>
        <p:spPr>
          <a:xfrm>
            <a:off x="614477" y="1545336"/>
            <a:ext cx="1514246" cy="182880"/>
          </a:xfrm>
          <a:prstGeom prst="rect">
            <a:avLst/>
          </a:prstGeom>
          <a:solidFill>
            <a:srgbClr val="0B1A33"/>
          </a:solidFill>
          <a:ln/>
        </p:spPr>
      </p:sp>
      <p:sp>
        <p:nvSpPr>
          <p:cNvPr id="8" name="Text 6"/>
          <p:cNvSpPr txBox="1"/>
          <p:nvPr/>
        </p:nvSpPr>
        <p:spPr>
          <a:xfrm>
            <a:off x="728594" y="1306678"/>
            <a:ext cx="356616" cy="128382"/>
          </a:xfrm>
          <a:prstGeom prst="rect">
            <a:avLst/>
          </a:prstGeom>
          <a:noFill/>
          <a:ln/>
        </p:spPr>
        <p:txBody>
          <a:bodyPr wrap="square" lIns="0" tIns="0" rIns="0" bIns="0" rtlCol="0" anchor="t"/>
          <a:lstStyle/>
          <a:p>
            <a:pPr indent="0" marL="0">
              <a:buNone/>
            </a:pPr>
            <a:r>
              <a:rPr lang="ko-KR" altLang="en-US" sz="585" b="1" dirty="0">
                <a:solidFill>
                  <a:srgbClr val="FFFFFF"/>
                </a:solidFill>
                <a:latin typeface="맑은 고딕" pitchFamily="34" charset="0"/>
                <a:ea typeface="맑은 고딕" pitchFamily="34" charset="-122"/>
                <a:cs typeface="맑은 고딕" pitchFamily="34" charset="-120"/>
              </a:rPr>
              <a:t>9:41</a:t>
            </a:r>
            <a:endParaRPr lang="ko-KR" sz="585" dirty="0"/>
          </a:p>
        </p:txBody>
      </p:sp>
      <p:sp>
        <p:nvSpPr>
          <p:cNvPr id="9" name="Shape 7"/>
          <p:cNvSpPr/>
          <p:nvPr/>
        </p:nvSpPr>
        <p:spPr>
          <a:xfrm>
            <a:off x="1171895" y="1313810"/>
            <a:ext cx="399410" cy="106985"/>
          </a:xfrm>
          <a:prstGeom prst="roundRect">
            <a:avLst>
              <a:gd name="adj" fmla="val 50000"/>
            </a:avLst>
          </a:prstGeom>
          <a:solidFill>
            <a:srgbClr val="040B17"/>
          </a:solidFill>
          <a:ln/>
        </p:spPr>
      </p:sp>
      <p:sp>
        <p:nvSpPr>
          <p:cNvPr id="10" name="Shape 8"/>
          <p:cNvSpPr/>
          <p:nvPr/>
        </p:nvSpPr>
        <p:spPr>
          <a:xfrm>
            <a:off x="1829166" y="1331641"/>
            <a:ext cx="171176" cy="78456"/>
          </a:xfrm>
          <a:prstGeom prst="roundRect">
            <a:avLst>
              <a:gd name="adj" fmla="val 27273"/>
            </a:avLst>
          </a:prstGeom>
          <a:solidFill>
            <a:srgbClr val="FFFFFF">
              <a:alpha val="90000"/>
            </a:srgbClr>
          </a:solidFill>
          <a:ln/>
        </p:spPr>
      </p:sp>
      <p:sp>
        <p:nvSpPr>
          <p:cNvPr id="11" name="Text 9"/>
          <p:cNvSpPr txBox="1"/>
          <p:nvPr/>
        </p:nvSpPr>
        <p:spPr>
          <a:xfrm>
            <a:off x="705917" y="1508760"/>
            <a:ext cx="1097280" cy="182880"/>
          </a:xfrm>
          <a:prstGeom prst="rect">
            <a:avLst/>
          </a:prstGeom>
          <a:noFill/>
          <a:ln/>
        </p:spPr>
        <p:txBody>
          <a:bodyPr wrap="square" lIns="0" tIns="0" rIns="0" bIns="0" rtlCol="0" anchor="t"/>
          <a:lstStyle/>
          <a:p>
            <a:pPr indent="0" marL="0">
              <a:buNone/>
            </a:pPr>
            <a:r>
              <a:rPr lang="ko-KR" altLang="en-US" sz="700" b="1" dirty="0">
                <a:solidFill>
                  <a:srgbClr val="FFFFFF"/>
                </a:solidFill>
                <a:latin typeface="맑은 고딕" pitchFamily="34" charset="0"/>
                <a:ea typeface="맑은 고딕" pitchFamily="34" charset="-122"/>
                <a:cs typeface="맑은 고딕" pitchFamily="34" charset="-120"/>
              </a:rPr>
              <a:t>사건 2/6</a:t>
            </a:r>
            <a:endParaRPr lang="ko-KR" sz="700" dirty="0"/>
          </a:p>
        </p:txBody>
      </p:sp>
      <p:sp>
        <p:nvSpPr>
          <p:cNvPr id="12" name="Shape 10"/>
          <p:cNvSpPr/>
          <p:nvPr/>
        </p:nvSpPr>
        <p:spPr>
          <a:xfrm>
            <a:off x="687629" y="1819656"/>
            <a:ext cx="1367942" cy="1600200"/>
          </a:xfrm>
          <a:prstGeom prst="roundRect">
            <a:avLst>
              <a:gd name="adj" fmla="val 6684"/>
            </a:avLst>
          </a:prstGeom>
          <a:solidFill>
            <a:srgbClr val="FFFFFF"/>
          </a:solidFill>
          <a:ln/>
          <a:effectLst>
            <a:outerShdw sx="100000" sy="100000" kx="0" ky="0" algn="bl" rotWithShape="0" blurRad="127000" dist="38100" dir="5400000">
              <a:srgbClr val="000000">
                <a:alpha val="35000"/>
              </a:srgbClr>
            </a:outerShdw>
          </a:effectLst>
        </p:spPr>
      </p:sp>
      <p:sp>
        <p:nvSpPr>
          <p:cNvPr id="13" name="Text 11"/>
          <p:cNvSpPr txBox="1"/>
          <p:nvPr/>
        </p:nvSpPr>
        <p:spPr>
          <a:xfrm>
            <a:off x="760781" y="1892808"/>
            <a:ext cx="914400" cy="128016"/>
          </a:xfrm>
          <a:prstGeom prst="rect">
            <a:avLst/>
          </a:prstGeom>
          <a:noFill/>
          <a:ln/>
        </p:spPr>
        <p:txBody>
          <a:bodyPr wrap="square" lIns="0" tIns="0" rIns="0" bIns="0" rtlCol="0" anchor="t"/>
          <a:lstStyle/>
          <a:p>
            <a:pPr indent="0" marL="0">
              <a:buNone/>
            </a:pPr>
            <a:r>
              <a:rPr lang="ko-KR" altLang="en-US" sz="600" dirty="0">
                <a:solidFill>
                  <a:srgbClr val="5A6576"/>
                </a:solidFill>
                <a:latin typeface="맑은 고딕" pitchFamily="34" charset="0"/>
                <a:ea typeface="맑은 고딕" pitchFamily="34" charset="-122"/>
                <a:cs typeface="맑은 고딕" pitchFamily="34" charset="-120"/>
              </a:rPr>
              <a:t>보낸 사람</a:t>
            </a:r>
            <a:endParaRPr lang="ko-KR" sz="600" dirty="0"/>
          </a:p>
        </p:txBody>
      </p:sp>
      <p:sp>
        <p:nvSpPr>
          <p:cNvPr id="14" name="Shape 12"/>
          <p:cNvSpPr/>
          <p:nvPr/>
        </p:nvSpPr>
        <p:spPr>
          <a:xfrm>
            <a:off x="724205" y="2039112"/>
            <a:ext cx="1294790" cy="384048"/>
          </a:xfrm>
          <a:prstGeom prst="roundRect">
            <a:avLst>
              <a:gd name="adj" fmla="val 14286"/>
            </a:avLst>
          </a:prstGeom>
          <a:solidFill>
            <a:srgbClr val="FFF3D6"/>
          </a:solidFill>
          <a:ln w="19050">
            <a:solidFill>
              <a:srgbClr val="F2B33D"/>
            </a:solidFill>
            <a:prstDash val="solid"/>
          </a:ln>
        </p:spPr>
      </p:sp>
      <p:sp>
        <p:nvSpPr>
          <p:cNvPr id="15" name="Text 13"/>
          <p:cNvSpPr txBox="1"/>
          <p:nvPr/>
        </p:nvSpPr>
        <p:spPr>
          <a:xfrm>
            <a:off x="769925" y="2057400"/>
            <a:ext cx="1239926" cy="347472"/>
          </a:xfrm>
          <a:prstGeom prst="rect">
            <a:avLst/>
          </a:prstGeom>
          <a:noFill/>
          <a:ln/>
        </p:spPr>
        <p:txBody>
          <a:bodyPr wrap="square" lIns="0" tIns="0" rIns="0" bIns="0" rtlCol="0" anchor="ctr"/>
          <a:lstStyle/>
          <a:p>
            <a:pPr indent="0" marL="0">
              <a:buNone/>
            </a:pPr>
            <a:r>
              <a:rPr lang="ko-KR" altLang="en-US" sz="650" b="1" dirty="0">
                <a:solidFill>
                  <a:srgbClr val="1C2433"/>
                </a:solidFill>
                <a:latin typeface="맑은 고딕" pitchFamily="34" charset="0"/>
                <a:ea typeface="맑은 고딕" pitchFamily="34" charset="-122"/>
                <a:cs typeface="맑은 고딕" pitchFamily="34" charset="-120"/>
              </a:rPr>
              <a:t>help@nuri-help</a:t>
            </a:r>
            <a:endParaRPr lang="ko-KR" sz="650" dirty="0"/>
          </a:p>
          <a:p>
            <a:pPr indent="0" marL="0">
              <a:buNone/>
            </a:pPr>
            <a:r>
              <a:rPr lang="ko-KR" altLang="en-US" sz="650" b="1" dirty="0">
                <a:solidFill>
                  <a:srgbClr val="1C2433"/>
                </a:solidFill>
                <a:latin typeface="맑은 고딕" pitchFamily="34" charset="0"/>
                <a:ea typeface="맑은 고딕" pitchFamily="34" charset="-122"/>
                <a:cs typeface="맑은 고딕" pitchFamily="34" charset="-120"/>
              </a:rPr>
              <a:t>.example</a:t>
            </a:r>
            <a:endParaRPr lang="ko-KR" sz="650" dirty="0"/>
          </a:p>
        </p:txBody>
      </p:sp>
      <p:sp>
        <p:nvSpPr>
          <p:cNvPr id="16" name="Text 14"/>
          <p:cNvSpPr txBox="1"/>
          <p:nvPr/>
        </p:nvSpPr>
        <p:spPr>
          <a:xfrm>
            <a:off x="760781" y="2487168"/>
            <a:ext cx="914400" cy="128016"/>
          </a:xfrm>
          <a:prstGeom prst="rect">
            <a:avLst/>
          </a:prstGeom>
          <a:noFill/>
          <a:ln/>
        </p:spPr>
        <p:txBody>
          <a:bodyPr wrap="square" lIns="0" tIns="0" rIns="0" bIns="0" rtlCol="0" anchor="t"/>
          <a:lstStyle/>
          <a:p>
            <a:pPr indent="0" marL="0">
              <a:buNone/>
            </a:pPr>
            <a:r>
              <a:rPr lang="ko-KR" altLang="en-US" sz="600" dirty="0">
                <a:solidFill>
                  <a:srgbClr val="5A6576"/>
                </a:solidFill>
                <a:latin typeface="맑은 고딕" pitchFamily="34" charset="0"/>
                <a:ea typeface="맑은 고딕" pitchFamily="34" charset="-122"/>
                <a:cs typeface="맑은 고딕" pitchFamily="34" charset="-120"/>
              </a:rPr>
              <a:t>내용</a:t>
            </a:r>
            <a:endParaRPr lang="ko-KR" sz="600" dirty="0"/>
          </a:p>
        </p:txBody>
      </p:sp>
      <p:sp>
        <p:nvSpPr>
          <p:cNvPr id="17" name="Text 15"/>
          <p:cNvSpPr txBox="1"/>
          <p:nvPr/>
        </p:nvSpPr>
        <p:spPr>
          <a:xfrm>
            <a:off x="760781" y="2624328"/>
            <a:ext cx="1239926" cy="320040"/>
          </a:xfrm>
          <a:prstGeom prst="rect">
            <a:avLst/>
          </a:prstGeom>
          <a:noFill/>
          <a:ln/>
        </p:spPr>
        <p:txBody>
          <a:bodyPr wrap="square" lIns="0" tIns="0" rIns="0" bIns="0" rtlCol="0" anchor="t"/>
          <a:lstStyle/>
          <a:p>
            <a:pPr indent="0" marL="0">
              <a:buNone/>
            </a:pPr>
            <a:r>
              <a:rPr lang="ko-KR" altLang="en-US" sz="650" dirty="0">
                <a:solidFill>
                  <a:srgbClr val="1C2433"/>
                </a:solidFill>
                <a:latin typeface="맑은 고딕" pitchFamily="34" charset="0"/>
                <a:ea typeface="맑은 고딕" pitchFamily="34" charset="-122"/>
                <a:cs typeface="맑은 고딕" pitchFamily="34" charset="-120"/>
              </a:rPr>
              <a:t>비밀번호를 입력해 계정을 확인하세요.</a:t>
            </a:r>
            <a:endParaRPr lang="ko-KR" sz="650" dirty="0"/>
          </a:p>
        </p:txBody>
      </p:sp>
      <p:sp>
        <p:nvSpPr>
          <p:cNvPr id="18" name="Shape 16"/>
          <p:cNvSpPr/>
          <p:nvPr/>
        </p:nvSpPr>
        <p:spPr>
          <a:xfrm>
            <a:off x="760781" y="3054096"/>
            <a:ext cx="640080" cy="201168"/>
          </a:xfrm>
          <a:prstGeom prst="roundRect">
            <a:avLst>
              <a:gd name="adj" fmla="val 50000"/>
            </a:avLst>
          </a:prstGeom>
          <a:solidFill>
            <a:srgbClr val="F2B33D"/>
          </a:solidFill>
          <a:ln/>
        </p:spPr>
      </p:sp>
      <p:sp>
        <p:nvSpPr>
          <p:cNvPr id="19" name="Text 17"/>
          <p:cNvSpPr txBox="1"/>
          <p:nvPr/>
        </p:nvSpPr>
        <p:spPr>
          <a:xfrm>
            <a:off x="760781" y="3054096"/>
            <a:ext cx="640080" cy="201168"/>
          </a:xfrm>
          <a:prstGeom prst="rect">
            <a:avLst/>
          </a:prstGeom>
          <a:noFill/>
          <a:ln/>
        </p:spPr>
        <p:txBody>
          <a:bodyPr wrap="square" lIns="0" tIns="0" rIns="0" bIns="0" rtlCol="0" anchor="ctr"/>
          <a:lstStyle/>
          <a:p>
            <a:pPr algn="ctr" indent="0" marL="0">
              <a:buNone/>
            </a:pPr>
            <a:r>
              <a:rPr lang="ko-KR" altLang="en-US" sz="650" b="1" dirty="0">
                <a:solidFill>
                  <a:srgbClr val="0B1A33"/>
                </a:solidFill>
                <a:latin typeface="맑은 고딕" pitchFamily="34" charset="0"/>
                <a:ea typeface="맑은 고딕" pitchFamily="34" charset="-122"/>
                <a:cs typeface="맑은 고딕" pitchFamily="34" charset="-120"/>
              </a:rPr>
              <a:t>! 불일치</a:t>
            </a:r>
            <a:endParaRPr lang="ko-KR" sz="650" dirty="0"/>
          </a:p>
        </p:txBody>
      </p:sp>
      <p:sp>
        <p:nvSpPr>
          <p:cNvPr id="20" name="Shape 18"/>
          <p:cNvSpPr/>
          <p:nvPr/>
        </p:nvSpPr>
        <p:spPr>
          <a:xfrm>
            <a:off x="705917" y="4059936"/>
            <a:ext cx="419405" cy="438912"/>
          </a:xfrm>
          <a:prstGeom prst="roundRect">
            <a:avLst>
              <a:gd name="adj" fmla="val 17442"/>
            </a:avLst>
          </a:prstGeom>
          <a:solidFill>
            <a:srgbClr val="19B3B1"/>
          </a:solidFill>
          <a:ln/>
        </p:spPr>
      </p:sp>
      <p:sp>
        <p:nvSpPr>
          <p:cNvPr id="21" name="Text 19"/>
          <p:cNvSpPr txBox="1"/>
          <p:nvPr/>
        </p:nvSpPr>
        <p:spPr>
          <a:xfrm>
            <a:off x="705917" y="4059936"/>
            <a:ext cx="419405" cy="438912"/>
          </a:xfrm>
          <a:prstGeom prst="rect">
            <a:avLst/>
          </a:prstGeom>
          <a:noFill/>
          <a:ln/>
        </p:spPr>
        <p:txBody>
          <a:bodyPr wrap="square" lIns="0" tIns="0" rIns="0" bIns="0" rtlCol="0" anchor="ctr"/>
          <a:lstStyle/>
          <a:p>
            <a:pPr algn="ctr" indent="0" marL="0">
              <a:buNone/>
            </a:pPr>
            <a:r>
              <a:rPr lang="ko-KR" altLang="en-US" sz="750" b="1" dirty="0">
                <a:solidFill>
                  <a:srgbClr val="0B1A33"/>
                </a:solidFill>
                <a:latin typeface="맑은 고딕" pitchFamily="34" charset="0"/>
                <a:ea typeface="맑은 고딕" pitchFamily="34" charset="-122"/>
                <a:cs typeface="맑은 고딕" pitchFamily="34" charset="-120"/>
              </a:rPr>
              <a:t>승인</a:t>
            </a:r>
            <a:endParaRPr lang="ko-KR" sz="750" dirty="0"/>
          </a:p>
        </p:txBody>
      </p:sp>
      <p:sp>
        <p:nvSpPr>
          <p:cNvPr id="22" name="Shape 20"/>
          <p:cNvSpPr/>
          <p:nvPr/>
        </p:nvSpPr>
        <p:spPr>
          <a:xfrm>
            <a:off x="1161898" y="4059936"/>
            <a:ext cx="419405" cy="438912"/>
          </a:xfrm>
          <a:prstGeom prst="roundRect">
            <a:avLst>
              <a:gd name="adj" fmla="val 17442"/>
            </a:avLst>
          </a:prstGeom>
          <a:solidFill>
            <a:srgbClr val="FF6B5E"/>
          </a:solidFill>
          <a:ln/>
        </p:spPr>
      </p:sp>
      <p:sp>
        <p:nvSpPr>
          <p:cNvPr id="23" name="Text 21"/>
          <p:cNvSpPr txBox="1"/>
          <p:nvPr/>
        </p:nvSpPr>
        <p:spPr>
          <a:xfrm>
            <a:off x="1161898" y="4059936"/>
            <a:ext cx="419405" cy="438912"/>
          </a:xfrm>
          <a:prstGeom prst="rect">
            <a:avLst/>
          </a:prstGeom>
          <a:noFill/>
          <a:ln/>
        </p:spPr>
        <p:txBody>
          <a:bodyPr wrap="square" lIns="0" tIns="0" rIns="0" bIns="0" rtlCol="0" anchor="ctr"/>
          <a:lstStyle/>
          <a:p>
            <a:pPr algn="ctr" indent="0" marL="0">
              <a:buNone/>
            </a:pPr>
            <a:r>
              <a:rPr lang="ko-KR" altLang="en-US" sz="750" b="1" dirty="0">
                <a:solidFill>
                  <a:srgbClr val="0B1A33"/>
                </a:solidFill>
                <a:latin typeface="맑은 고딕" pitchFamily="34" charset="0"/>
                <a:ea typeface="맑은 고딕" pitchFamily="34" charset="-122"/>
                <a:cs typeface="맑은 고딕" pitchFamily="34" charset="-120"/>
              </a:rPr>
              <a:t>거부</a:t>
            </a:r>
            <a:endParaRPr lang="ko-KR" sz="750" dirty="0"/>
          </a:p>
        </p:txBody>
      </p:sp>
      <p:sp>
        <p:nvSpPr>
          <p:cNvPr id="24" name="Shape 22"/>
          <p:cNvSpPr/>
          <p:nvPr/>
        </p:nvSpPr>
        <p:spPr>
          <a:xfrm>
            <a:off x="1617878" y="4059936"/>
            <a:ext cx="419405" cy="438912"/>
          </a:xfrm>
          <a:prstGeom prst="roundRect">
            <a:avLst>
              <a:gd name="adj" fmla="val 17442"/>
            </a:avLst>
          </a:prstGeom>
          <a:solidFill>
            <a:srgbClr val="F2B33D"/>
          </a:solidFill>
          <a:ln/>
        </p:spPr>
      </p:sp>
      <p:sp>
        <p:nvSpPr>
          <p:cNvPr id="25" name="Text 23"/>
          <p:cNvSpPr txBox="1"/>
          <p:nvPr/>
        </p:nvSpPr>
        <p:spPr>
          <a:xfrm>
            <a:off x="1617878" y="4059936"/>
            <a:ext cx="419405" cy="438912"/>
          </a:xfrm>
          <a:prstGeom prst="rect">
            <a:avLst/>
          </a:prstGeom>
          <a:noFill/>
          <a:ln/>
        </p:spPr>
        <p:txBody>
          <a:bodyPr wrap="square" lIns="0" tIns="0" rIns="0" bIns="0" rtlCol="0" anchor="ctr"/>
          <a:lstStyle/>
          <a:p>
            <a:pPr algn="ctr" indent="0" marL="0">
              <a:buNone/>
            </a:pPr>
            <a:r>
              <a:rPr lang="ko-KR" altLang="en-US" sz="750" b="1" dirty="0">
                <a:solidFill>
                  <a:srgbClr val="0B1A33"/>
                </a:solidFill>
                <a:latin typeface="맑은 고딕" pitchFamily="34" charset="0"/>
                <a:ea typeface="맑은 고딕" pitchFamily="34" charset="-122"/>
                <a:cs typeface="맑은 고딕" pitchFamily="34" charset="-120"/>
              </a:rPr>
              <a:t>확인</a:t>
            </a:r>
            <a:endParaRPr lang="ko-KR" sz="750" dirty="0"/>
          </a:p>
        </p:txBody>
      </p:sp>
      <p:sp>
        <p:nvSpPr>
          <p:cNvPr id="26" name="Shape 24"/>
          <p:cNvSpPr/>
          <p:nvPr/>
        </p:nvSpPr>
        <p:spPr>
          <a:xfrm>
            <a:off x="9997135" y="1188720"/>
            <a:ext cx="1645920" cy="3520440"/>
          </a:xfrm>
          <a:prstGeom prst="roundRect">
            <a:avLst>
              <a:gd name="adj" fmla="val 14000"/>
            </a:avLst>
          </a:prstGeom>
          <a:solidFill>
            <a:srgbClr val="040B17"/>
          </a:solidFill>
          <a:ln w="15875">
            <a:solidFill>
              <a:srgbClr val="3A5478"/>
            </a:solidFill>
            <a:prstDash val="solid"/>
          </a:ln>
          <a:effectLst>
            <a:outerShdw sx="100000" sy="100000" kx="0" ky="0" algn="bl" rotWithShape="0" blurRad="127000" dist="38100" dir="5400000">
              <a:srgbClr val="000000">
                <a:alpha val="35000"/>
              </a:srgbClr>
            </a:outerShdw>
          </a:effectLst>
        </p:spPr>
      </p:sp>
      <p:sp>
        <p:nvSpPr>
          <p:cNvPr id="27" name="Shape 25"/>
          <p:cNvSpPr/>
          <p:nvPr/>
        </p:nvSpPr>
        <p:spPr>
          <a:xfrm>
            <a:off x="10062972" y="1271016"/>
            <a:ext cx="1514246" cy="3355848"/>
          </a:xfrm>
          <a:prstGeom prst="roundRect">
            <a:avLst>
              <a:gd name="adj" fmla="val 10870"/>
            </a:avLst>
          </a:prstGeom>
          <a:solidFill>
            <a:srgbClr val="0B1A33"/>
          </a:solidFill>
          <a:ln/>
        </p:spPr>
      </p:sp>
      <p:pic>
        <p:nvPicPr>
          <p:cNvPr id="28" name="Image 0" descr="도트 테마 HTML 시제품의 검토 데스크 화면">    </p:cNvPr>
          <p:cNvPicPr>
            <a:picLocks noChangeAspect="1"/>
          </p:cNvPicPr>
          <p:nvPr/>
        </p:nvPicPr>
        <p:blipFill>
          <a:blip r:embed="rId1"/>
          <a:stretch>
            <a:fillRect/>
          </a:stretch>
        </p:blipFill>
        <p:spPr>
          <a:xfrm>
            <a:off x="10098719" y="1344168"/>
            <a:ext cx="1442752" cy="3209544"/>
          </a:xfrm>
          <a:prstGeom prst="rect">
            <a:avLst/>
          </a:prstGeom>
        </p:spPr>
      </p:pic>
      <p:sp>
        <p:nvSpPr>
          <p:cNvPr id="29" name="Text 26"/>
          <p:cNvSpPr txBox="1"/>
          <p:nvPr/>
        </p:nvSpPr>
        <p:spPr>
          <a:xfrm>
            <a:off x="2377440" y="1234440"/>
            <a:ext cx="914400" cy="274320"/>
          </a:xfrm>
          <a:prstGeom prst="rect">
            <a:avLst/>
          </a:prstGeom>
          <a:noFill/>
          <a:ln/>
        </p:spPr>
        <p:txBody>
          <a:bodyPr wrap="square" lIns="0" tIns="0" rIns="0" bIns="0" rtlCol="0" anchor="t"/>
          <a:lstStyle/>
          <a:p>
            <a:pPr indent="0" marL="0">
              <a:buNone/>
            </a:pPr>
            <a:r>
              <a:rPr lang="ko-KR" altLang="en-US" sz="1300" b="1" dirty="0">
                <a:solidFill>
                  <a:srgbClr val="19B3B1"/>
                </a:solidFill>
                <a:latin typeface="맑은 고딕" pitchFamily="34" charset="0"/>
                <a:ea typeface="맑은 고딕" pitchFamily="34" charset="-122"/>
                <a:cs typeface="맑은 고딕" pitchFamily="34" charset="-120"/>
              </a:rPr>
              <a:t>A안</a:t>
            </a:r>
            <a:endParaRPr lang="ko-KR" sz="1300" dirty="0"/>
          </a:p>
        </p:txBody>
      </p:sp>
      <p:sp>
        <p:nvSpPr>
          <p:cNvPr id="30" name="Text 27"/>
          <p:cNvSpPr txBox="1"/>
          <p:nvPr/>
        </p:nvSpPr>
        <p:spPr>
          <a:xfrm>
            <a:off x="2377440" y="1508760"/>
            <a:ext cx="2286000" cy="384048"/>
          </a:xfrm>
          <a:prstGeom prst="rect">
            <a:avLst/>
          </a:prstGeom>
          <a:noFill/>
          <a:ln/>
        </p:spPr>
        <p:txBody>
          <a:bodyPr wrap="square" lIns="0" tIns="0" rIns="0" bIns="0" rtlCol="0" anchor="t"/>
          <a:lstStyle/>
          <a:p>
            <a:pPr indent="0" marL="0">
              <a:buNone/>
            </a:pPr>
            <a:r>
              <a:rPr lang="ko-KR" altLang="en-US" sz="2100" b="1" dirty="0">
                <a:solidFill>
                  <a:srgbClr val="FFFFFF"/>
                </a:solidFill>
                <a:latin typeface="맑은 고딕" pitchFamily="34" charset="0"/>
                <a:ea typeface="맑은 고딕" pitchFamily="34" charset="-122"/>
                <a:cs typeface="맑은 고딕" pitchFamily="34" charset="-120"/>
              </a:rPr>
              <a:t>모던 미니멀</a:t>
            </a:r>
            <a:endParaRPr lang="ko-KR" sz="2100" dirty="0"/>
          </a:p>
        </p:txBody>
      </p:sp>
      <p:sp>
        <p:nvSpPr>
          <p:cNvPr id="31" name="Text 28"/>
          <p:cNvSpPr txBox="1"/>
          <p:nvPr/>
        </p:nvSpPr>
        <p:spPr>
          <a:xfrm>
            <a:off x="2377440" y="2011680"/>
            <a:ext cx="2286000" cy="1188720"/>
          </a:xfrm>
          <a:prstGeom prst="rect">
            <a:avLst/>
          </a:prstGeom>
          <a:noFill/>
          <a:ln/>
        </p:spPr>
        <p:txBody>
          <a:bodyPr wrap="square" lIns="0" tIns="0" rIns="0" bIns="0" rtlCol="0" anchor="t"/>
          <a:lstStyle/>
          <a:p>
            <a:pPr marL="177800" indent="-177800">
              <a:spcAft>
                <a:spcPts val="600"/>
              </a:spcAft>
              <a:buSzPct val="100000"/>
              <a:buChar char="•"/>
            </a:pPr>
            <a:r>
              <a:rPr lang="ko-KR" altLang="en-US" sz="1500" dirty="0">
                <a:solidFill>
                  <a:srgbClr val="A9BCD3"/>
                </a:solidFill>
                <a:latin typeface="맑은 고딕" pitchFamily="34" charset="0"/>
                <a:ea typeface="맑은 고딕" pitchFamily="34" charset="-122"/>
                <a:cs typeface="맑은 고딕" pitchFamily="34" charset="-120"/>
              </a:rPr>
              <a:t>네이비·화이트·청록</a:t>
            </a:r>
            <a:endParaRPr lang="ko-KR" sz="1500" dirty="0"/>
          </a:p>
          <a:p>
            <a:pPr marL="177800" indent="-177800">
              <a:spcAft>
                <a:spcPts val="600"/>
              </a:spcAft>
              <a:buSzPct val="100000"/>
              <a:buChar char="•"/>
            </a:pPr>
            <a:r>
              <a:rPr lang="ko-KR" altLang="en-US" sz="1500" dirty="0">
                <a:solidFill>
                  <a:srgbClr val="A9BCD3"/>
                </a:solidFill>
                <a:latin typeface="맑은 고딕" pitchFamily="34" charset="0"/>
                <a:ea typeface="맑은 고딕" pitchFamily="34" charset="-122"/>
                <a:cs typeface="맑은 고딕" pitchFamily="34" charset="-120"/>
              </a:rPr>
              <a:t>명확한 정보 계층</a:t>
            </a:r>
            <a:endParaRPr lang="ko-KR" sz="1500" dirty="0"/>
          </a:p>
          <a:p>
            <a:pPr marL="177800" indent="-177800">
              <a:spcAft>
                <a:spcPts val="600"/>
              </a:spcAft>
              <a:buSzPct val="100000"/>
              <a:buChar char="•"/>
            </a:pPr>
            <a:r>
              <a:rPr lang="ko-KR" altLang="en-US" sz="1500" dirty="0">
                <a:solidFill>
                  <a:srgbClr val="A9BCD3"/>
                </a:solidFill>
                <a:latin typeface="맑은 고딕" pitchFamily="34" charset="0"/>
                <a:ea typeface="맑은 고딕" pitchFamily="34" charset="-122"/>
                <a:cs typeface="맑은 고딕" pitchFamily="34" charset="-120"/>
              </a:rPr>
              <a:t>깔끔한 모바일 문서 UI</a:t>
            </a:r>
            <a:endParaRPr lang="ko-KR" sz="1500" dirty="0"/>
          </a:p>
        </p:txBody>
      </p:sp>
      <p:sp>
        <p:nvSpPr>
          <p:cNvPr id="32" name="Text 29"/>
          <p:cNvSpPr txBox="1"/>
          <p:nvPr/>
        </p:nvSpPr>
        <p:spPr>
          <a:xfrm>
            <a:off x="7525512" y="1234440"/>
            <a:ext cx="2286000" cy="274320"/>
          </a:xfrm>
          <a:prstGeom prst="rect">
            <a:avLst/>
          </a:prstGeom>
          <a:noFill/>
          <a:ln/>
        </p:spPr>
        <p:txBody>
          <a:bodyPr wrap="square" lIns="0" tIns="0" rIns="0" bIns="0" rtlCol="0" anchor="t"/>
          <a:lstStyle/>
          <a:p>
            <a:pPr algn="r" indent="0" marL="0">
              <a:buNone/>
            </a:pPr>
            <a:r>
              <a:rPr lang="ko-KR" altLang="en-US" sz="1300" b="1" dirty="0">
                <a:solidFill>
                  <a:srgbClr val="F2B33D"/>
                </a:solidFill>
                <a:latin typeface="맑은 고딕" pitchFamily="34" charset="0"/>
                <a:ea typeface="맑은 고딕" pitchFamily="34" charset="-122"/>
                <a:cs typeface="맑은 고딕" pitchFamily="34" charset="-120"/>
              </a:rPr>
              <a:t>B안 · 기본 시안</a:t>
            </a:r>
            <a:endParaRPr lang="ko-KR" sz="1300" dirty="0"/>
          </a:p>
        </p:txBody>
      </p:sp>
      <p:sp>
        <p:nvSpPr>
          <p:cNvPr id="33" name="Text 30"/>
          <p:cNvSpPr txBox="1"/>
          <p:nvPr/>
        </p:nvSpPr>
        <p:spPr>
          <a:xfrm>
            <a:off x="7525512" y="1508760"/>
            <a:ext cx="2286000" cy="384048"/>
          </a:xfrm>
          <a:prstGeom prst="rect">
            <a:avLst/>
          </a:prstGeom>
          <a:noFill/>
          <a:ln/>
        </p:spPr>
        <p:txBody>
          <a:bodyPr wrap="square" lIns="0" tIns="0" rIns="0" bIns="0" rtlCol="0" anchor="t"/>
          <a:lstStyle/>
          <a:p>
            <a:pPr algn="r" indent="0" marL="0">
              <a:buNone/>
            </a:pPr>
            <a:r>
              <a:rPr lang="ko-KR" altLang="en-US" sz="2100" b="1" dirty="0">
                <a:solidFill>
                  <a:srgbClr val="FFFFFF"/>
                </a:solidFill>
                <a:latin typeface="맑은 고딕" pitchFamily="34" charset="0"/>
                <a:ea typeface="맑은 고딕" pitchFamily="34" charset="-122"/>
                <a:cs typeface="맑은 고딕" pitchFamily="34" charset="-120"/>
              </a:rPr>
              <a:t>2D 도트 스타일</a:t>
            </a:r>
            <a:endParaRPr lang="ko-KR" sz="2100" dirty="0"/>
          </a:p>
        </p:txBody>
      </p:sp>
      <p:sp>
        <p:nvSpPr>
          <p:cNvPr id="34" name="Text 31"/>
          <p:cNvSpPr txBox="1"/>
          <p:nvPr/>
        </p:nvSpPr>
        <p:spPr>
          <a:xfrm>
            <a:off x="7525512" y="2011680"/>
            <a:ext cx="2286000" cy="1188720"/>
          </a:xfrm>
          <a:prstGeom prst="rect">
            <a:avLst/>
          </a:prstGeom>
          <a:noFill/>
          <a:ln/>
        </p:spPr>
        <p:txBody>
          <a:bodyPr wrap="square" lIns="0" tIns="0" rIns="0" bIns="0" rtlCol="0" anchor="t"/>
          <a:lstStyle/>
          <a:p>
            <a:pPr algn="r" indent="0" marL="0">
              <a:spcAft>
                <a:spcPts val="600"/>
              </a:spcAft>
              <a:buNone/>
            </a:pPr>
            <a:r>
              <a:rPr lang="ko-KR" altLang="en-US" sz="1500" dirty="0">
                <a:solidFill>
                  <a:srgbClr val="A9BCD3"/>
                </a:solidFill>
                <a:latin typeface="맑은 고딕" pitchFamily="34" charset="0"/>
                <a:ea typeface="맑은 고딕" pitchFamily="34" charset="-122"/>
                <a:cs typeface="맑은 고딕" pitchFamily="34" charset="-120"/>
              </a:rPr>
              <a:t>픽셀 기반 보안 센터</a:t>
            </a:r>
            <a:endParaRPr lang="ko-KR" sz="1500" dirty="0"/>
          </a:p>
          <a:p>
            <a:pPr algn="r" indent="0" marL="0">
              <a:spcAft>
                <a:spcPts val="600"/>
              </a:spcAft>
              <a:buNone/>
            </a:pPr>
            <a:r>
              <a:rPr lang="ko-KR" altLang="en-US" sz="1500" dirty="0">
                <a:solidFill>
                  <a:srgbClr val="A9BCD3"/>
                </a:solidFill>
                <a:latin typeface="맑은 고딕" pitchFamily="34" charset="0"/>
                <a:ea typeface="맑은 고딕" pitchFamily="34" charset="-122"/>
                <a:cs typeface="맑은 고딕" pitchFamily="34" charset="-120"/>
              </a:rPr>
              <a:t>레트로 단말기와 캐릭터</a:t>
            </a:r>
            <a:endParaRPr lang="ko-KR" sz="1500" dirty="0"/>
          </a:p>
          <a:p>
            <a:pPr algn="r" indent="0" marL="0">
              <a:spcAft>
                <a:spcPts val="600"/>
              </a:spcAft>
              <a:buNone/>
            </a:pPr>
            <a:r>
              <a:rPr lang="ko-KR" altLang="en-US" sz="1500" dirty="0">
                <a:solidFill>
                  <a:srgbClr val="A9BCD3"/>
                </a:solidFill>
                <a:latin typeface="맑은 고딕" pitchFamily="34" charset="0"/>
                <a:ea typeface="맑은 고딕" pitchFamily="34" charset="-122"/>
                <a:cs typeface="맑은 고딕" pitchFamily="34" charset="-120"/>
              </a:rPr>
              <a:t>게임다운 시각적 개성</a:t>
            </a:r>
            <a:endParaRPr lang="ko-KR" sz="1500" dirty="0"/>
          </a:p>
        </p:txBody>
      </p:sp>
      <p:sp>
        <p:nvSpPr>
          <p:cNvPr id="35" name="Shape 32"/>
          <p:cNvSpPr/>
          <p:nvPr/>
        </p:nvSpPr>
        <p:spPr>
          <a:xfrm>
            <a:off x="4818888" y="1188720"/>
            <a:ext cx="2560320" cy="3520440"/>
          </a:xfrm>
          <a:prstGeom prst="roundRect">
            <a:avLst>
              <a:gd name="adj" fmla="val 5000"/>
            </a:avLst>
          </a:prstGeom>
          <a:solidFill>
            <a:srgbClr val="06122A"/>
          </a:solidFill>
          <a:ln w="19050">
            <a:solidFill>
              <a:srgbClr val="19B3B1"/>
            </a:solidFill>
            <a:prstDash val="solid"/>
          </a:ln>
        </p:spPr>
      </p:sp>
      <p:sp>
        <p:nvSpPr>
          <p:cNvPr id="36" name="Text 33"/>
          <p:cNvSpPr txBox="1"/>
          <p:nvPr/>
        </p:nvSpPr>
        <p:spPr>
          <a:xfrm>
            <a:off x="4818888" y="1325880"/>
            <a:ext cx="2560320" cy="329184"/>
          </a:xfrm>
          <a:prstGeom prst="rect">
            <a:avLst/>
          </a:prstGeom>
          <a:noFill/>
          <a:ln/>
        </p:spPr>
        <p:txBody>
          <a:bodyPr wrap="square" lIns="0" tIns="0" rIns="0" bIns="0" rtlCol="0" anchor="t"/>
          <a:lstStyle/>
          <a:p>
            <a:pPr algn="ctr" indent="0" marL="0">
              <a:buNone/>
            </a:pPr>
            <a:r>
              <a:rPr lang="ko-KR" altLang="en-US" sz="1600" b="1" dirty="0">
                <a:solidFill>
                  <a:srgbClr val="19B3B1"/>
                </a:solidFill>
                <a:latin typeface="맑은 고딕" pitchFamily="34" charset="0"/>
                <a:ea typeface="맑은 고딕" pitchFamily="34" charset="-122"/>
                <a:cs typeface="맑은 고딕" pitchFamily="34" charset="-120"/>
              </a:rPr>
              <a:t>공유하는 시스템</a:t>
            </a:r>
            <a:endParaRPr lang="ko-KR" sz="1600" dirty="0"/>
          </a:p>
        </p:txBody>
      </p:sp>
      <p:sp>
        <p:nvSpPr>
          <p:cNvPr id="37" name="Shape 34"/>
          <p:cNvSpPr/>
          <p:nvPr/>
        </p:nvSpPr>
        <p:spPr>
          <a:xfrm>
            <a:off x="5029200" y="1810512"/>
            <a:ext cx="2139696" cy="512064"/>
          </a:xfrm>
          <a:prstGeom prst="roundRect">
            <a:avLst>
              <a:gd name="adj" fmla="val 17857"/>
            </a:avLst>
          </a:prstGeom>
          <a:solidFill>
            <a:srgbClr val="14284B"/>
          </a:solidFill>
          <a:ln/>
        </p:spPr>
      </p:sp>
      <p:pic>
        <p:nvPicPr>
          <p:cNvPr id="38" name="Image 1" descr="preencoded.png">    </p:cNvPr>
          <p:cNvPicPr>
            <a:picLocks noChangeAspect="1"/>
          </p:cNvPicPr>
          <p:nvPr/>
        </p:nvPicPr>
        <p:blipFill>
          <a:blip r:embed="rId2"/>
          <a:stretch>
            <a:fillRect/>
          </a:stretch>
        </p:blipFill>
        <p:spPr>
          <a:xfrm>
            <a:off x="5166360" y="1929384"/>
            <a:ext cx="274320" cy="274320"/>
          </a:xfrm>
          <a:prstGeom prst="rect">
            <a:avLst/>
          </a:prstGeom>
        </p:spPr>
      </p:pic>
      <p:sp>
        <p:nvSpPr>
          <p:cNvPr id="39" name="Text 35"/>
          <p:cNvSpPr txBox="1"/>
          <p:nvPr/>
        </p:nvSpPr>
        <p:spPr>
          <a:xfrm>
            <a:off x="5577840" y="1810512"/>
            <a:ext cx="1554480" cy="512064"/>
          </a:xfrm>
          <a:prstGeom prst="rect">
            <a:avLst/>
          </a:prstGeom>
          <a:noFill/>
          <a:ln/>
        </p:spPr>
        <p:txBody>
          <a:bodyPr wrap="square" lIns="0" tIns="0" rIns="0" bIns="0" rtlCol="0" anchor="ct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사례 데이터</a:t>
            </a:r>
            <a:endParaRPr lang="ko-KR" sz="1400" dirty="0"/>
          </a:p>
        </p:txBody>
      </p:sp>
      <p:sp>
        <p:nvSpPr>
          <p:cNvPr id="40" name="Shape 36"/>
          <p:cNvSpPr/>
          <p:nvPr/>
        </p:nvSpPr>
        <p:spPr>
          <a:xfrm>
            <a:off x="5029200" y="2468880"/>
            <a:ext cx="2139696" cy="512064"/>
          </a:xfrm>
          <a:prstGeom prst="roundRect">
            <a:avLst>
              <a:gd name="adj" fmla="val 17857"/>
            </a:avLst>
          </a:prstGeom>
          <a:solidFill>
            <a:srgbClr val="14284B"/>
          </a:solidFill>
          <a:ln/>
        </p:spPr>
      </p:sp>
      <p:pic>
        <p:nvPicPr>
          <p:cNvPr id="41" name="Image 2" descr="preencoded.png">    </p:cNvPr>
          <p:cNvPicPr>
            <a:picLocks noChangeAspect="1"/>
          </p:cNvPicPr>
          <p:nvPr/>
        </p:nvPicPr>
        <p:blipFill>
          <a:blip r:embed="rId3"/>
          <a:stretch>
            <a:fillRect/>
          </a:stretch>
        </p:blipFill>
        <p:spPr>
          <a:xfrm>
            <a:off x="5166360" y="2587752"/>
            <a:ext cx="274320" cy="274320"/>
          </a:xfrm>
          <a:prstGeom prst="rect">
            <a:avLst/>
          </a:prstGeom>
        </p:spPr>
      </p:pic>
      <p:sp>
        <p:nvSpPr>
          <p:cNvPr id="42" name="Text 37"/>
          <p:cNvSpPr txBox="1"/>
          <p:nvPr/>
        </p:nvSpPr>
        <p:spPr>
          <a:xfrm>
            <a:off x="5577840" y="2468880"/>
            <a:ext cx="1554480" cy="512064"/>
          </a:xfrm>
          <a:prstGeom prst="rect">
            <a:avLst/>
          </a:prstGeom>
          <a:noFill/>
          <a:ln/>
        </p:spPr>
        <p:txBody>
          <a:bodyPr wrap="square" lIns="0" tIns="0" rIns="0" bIns="0" rtlCol="0" anchor="ct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규칙 판정</a:t>
            </a:r>
            <a:endParaRPr lang="ko-KR" sz="1400" dirty="0"/>
          </a:p>
        </p:txBody>
      </p:sp>
      <p:sp>
        <p:nvSpPr>
          <p:cNvPr id="43" name="Shape 38"/>
          <p:cNvSpPr/>
          <p:nvPr/>
        </p:nvSpPr>
        <p:spPr>
          <a:xfrm>
            <a:off x="5029200" y="3127248"/>
            <a:ext cx="2139696" cy="512064"/>
          </a:xfrm>
          <a:prstGeom prst="roundRect">
            <a:avLst>
              <a:gd name="adj" fmla="val 17857"/>
            </a:avLst>
          </a:prstGeom>
          <a:solidFill>
            <a:srgbClr val="14284B"/>
          </a:solidFill>
          <a:ln/>
        </p:spPr>
      </p:sp>
      <p:pic>
        <p:nvPicPr>
          <p:cNvPr id="44" name="Image 3" descr="preencoded.png">    </p:cNvPr>
          <p:cNvPicPr>
            <a:picLocks noChangeAspect="1"/>
          </p:cNvPicPr>
          <p:nvPr/>
        </p:nvPicPr>
        <p:blipFill>
          <a:blip r:embed="rId4"/>
          <a:stretch>
            <a:fillRect/>
          </a:stretch>
        </p:blipFill>
        <p:spPr>
          <a:xfrm>
            <a:off x="5166360" y="3246120"/>
            <a:ext cx="274320" cy="274320"/>
          </a:xfrm>
          <a:prstGeom prst="rect">
            <a:avLst/>
          </a:prstGeom>
        </p:spPr>
      </p:pic>
      <p:sp>
        <p:nvSpPr>
          <p:cNvPr id="45" name="Text 39"/>
          <p:cNvSpPr txBox="1"/>
          <p:nvPr/>
        </p:nvSpPr>
        <p:spPr>
          <a:xfrm>
            <a:off x="5577840" y="3127248"/>
            <a:ext cx="1554480" cy="512064"/>
          </a:xfrm>
          <a:prstGeom prst="rect">
            <a:avLst/>
          </a:prstGeom>
          <a:noFill/>
          <a:ln/>
        </p:spPr>
        <p:txBody>
          <a:bodyPr wrap="square" lIns="0" tIns="0" rIns="0" bIns="0" rtlCol="0" anchor="ct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점수·진행도</a:t>
            </a:r>
            <a:endParaRPr lang="ko-KR" sz="1400" dirty="0"/>
          </a:p>
        </p:txBody>
      </p:sp>
      <p:sp>
        <p:nvSpPr>
          <p:cNvPr id="46" name="Shape 40"/>
          <p:cNvSpPr/>
          <p:nvPr/>
        </p:nvSpPr>
        <p:spPr>
          <a:xfrm>
            <a:off x="5029200" y="3785616"/>
            <a:ext cx="2139696" cy="512064"/>
          </a:xfrm>
          <a:prstGeom prst="roundRect">
            <a:avLst>
              <a:gd name="adj" fmla="val 17857"/>
            </a:avLst>
          </a:prstGeom>
          <a:solidFill>
            <a:srgbClr val="14284B"/>
          </a:solidFill>
          <a:ln/>
        </p:spPr>
      </p:sp>
      <p:pic>
        <p:nvPicPr>
          <p:cNvPr id="47" name="Image 4" descr="preencoded.png">    </p:cNvPr>
          <p:cNvPicPr>
            <a:picLocks noChangeAspect="1"/>
          </p:cNvPicPr>
          <p:nvPr/>
        </p:nvPicPr>
        <p:blipFill>
          <a:blip r:embed="rId5"/>
          <a:stretch>
            <a:fillRect/>
          </a:stretch>
        </p:blipFill>
        <p:spPr>
          <a:xfrm>
            <a:off x="5166360" y="3904488"/>
            <a:ext cx="274320" cy="274320"/>
          </a:xfrm>
          <a:prstGeom prst="rect">
            <a:avLst/>
          </a:prstGeom>
        </p:spPr>
      </p:pic>
      <p:sp>
        <p:nvSpPr>
          <p:cNvPr id="48" name="Text 41"/>
          <p:cNvSpPr txBox="1"/>
          <p:nvPr/>
        </p:nvSpPr>
        <p:spPr>
          <a:xfrm>
            <a:off x="5577840" y="3785616"/>
            <a:ext cx="1554480" cy="512064"/>
          </a:xfrm>
          <a:prstGeom prst="rect">
            <a:avLst/>
          </a:prstGeom>
          <a:noFill/>
          <a:ln/>
        </p:spPr>
        <p:txBody>
          <a:bodyPr wrap="square" lIns="0" tIns="0" rIns="0" bIns="0" rtlCol="0" anchor="ct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저장 시스템</a:t>
            </a:r>
            <a:endParaRPr lang="ko-KR" sz="1400" dirty="0"/>
          </a:p>
        </p:txBody>
      </p:sp>
      <p:sp>
        <p:nvSpPr>
          <p:cNvPr id="49" name="Text 42"/>
          <p:cNvSpPr txBox="1"/>
          <p:nvPr/>
        </p:nvSpPr>
        <p:spPr>
          <a:xfrm>
            <a:off x="2377440" y="3520440"/>
            <a:ext cx="2286000" cy="822960"/>
          </a:xfrm>
          <a:prstGeom prst="rect">
            <a:avLst/>
          </a:prstGeom>
          <a:noFill/>
          <a:ln/>
        </p:spPr>
        <p:txBody>
          <a:bodyPr wrap="square" lIns="0" tIns="0" rIns="0" bIns="0" rtlCol="0" anchor="t"/>
          <a:lstStyle/>
          <a:p>
            <a:pPr indent="0" marL="0">
              <a:buNone/>
            </a:pPr>
            <a:r>
              <a:rPr lang="ko-KR" altLang="en-US" sz="1200" i="1" dirty="0">
                <a:solidFill>
                  <a:srgbClr val="FFFFFF"/>
                </a:solidFill>
                <a:latin typeface="맑은 고딕" pitchFamily="34" charset="0"/>
                <a:ea typeface="맑은 고딕" pitchFamily="34" charset="-122"/>
                <a:cs typeface="맑은 고딕" pitchFamily="34" charset="-120"/>
              </a:rPr>
              <a:t>같은 게임의 시각적 변형 — 테마 자산만 교체</a:t>
            </a:r>
            <a:endParaRPr lang="ko-KR" sz="1200" dirty="0"/>
          </a:p>
        </p:txBody>
      </p:sp>
      <p:sp>
        <p:nvSpPr>
          <p:cNvPr id="50" name="Text 43"/>
          <p:cNvSpPr txBox="1"/>
          <p:nvPr/>
        </p:nvSpPr>
        <p:spPr>
          <a:xfrm>
            <a:off x="7525512" y="3886200"/>
            <a:ext cx="2286000" cy="457200"/>
          </a:xfrm>
          <a:prstGeom prst="rect">
            <a:avLst/>
          </a:prstGeom>
          <a:noFill/>
          <a:ln/>
        </p:spPr>
        <p:txBody>
          <a:bodyPr wrap="square" lIns="0" tIns="0" rIns="0" bIns="0" rtlCol="0" anchor="t"/>
          <a:lstStyle/>
          <a:p>
            <a:pPr algn="r" indent="0" marL="0">
              <a:buNone/>
            </a:pPr>
            <a:r>
              <a:rPr lang="ko-KR" altLang="en-US" sz="1100" dirty="0">
                <a:solidFill>
                  <a:srgbClr val="F2B33D"/>
                </a:solidFill>
                <a:latin typeface="맑은 고딕" pitchFamily="34" charset="0"/>
                <a:ea typeface="맑은 고딕" pitchFamily="34" charset="-122"/>
                <a:cs typeface="맑은 고딕" pitchFamily="34" charset="-120"/>
              </a:rPr>
              <a:t>※ A안은 UI 목업,</a:t>
            </a:r>
            <a:endParaRPr lang="ko-KR" sz="1100" dirty="0"/>
          </a:p>
          <a:p>
            <a:pPr algn="r" indent="0" marL="0">
              <a:buNone/>
            </a:pPr>
            <a:r>
              <a:rPr lang="ko-KR" altLang="en-US" sz="1100" dirty="0">
                <a:solidFill>
                  <a:srgbClr val="F2B33D"/>
                </a:solidFill>
                <a:latin typeface="맑은 고딕" pitchFamily="34" charset="0"/>
                <a:ea typeface="맑은 고딕" pitchFamily="34" charset="-122"/>
                <a:cs typeface="맑은 고딕" pitchFamily="34" charset="-120"/>
              </a:rPr>
              <a:t>B안은 HTML 시제품 화면</a:t>
            </a:r>
            <a:endParaRPr lang="ko-KR" sz="1100" dirty="0"/>
          </a:p>
        </p:txBody>
      </p:sp>
      <p:sp>
        <p:nvSpPr>
          <p:cNvPr id="51" name="Shape 44"/>
          <p:cNvSpPr/>
          <p:nvPr/>
        </p:nvSpPr>
        <p:spPr>
          <a:xfrm>
            <a:off x="4663440" y="2944368"/>
            <a:ext cx="155448" cy="0"/>
          </a:xfrm>
          <a:prstGeom prst="line">
            <a:avLst/>
          </a:prstGeom>
          <a:noFill/>
          <a:ln w="19050">
            <a:solidFill>
              <a:srgbClr val="19B3B1"/>
            </a:solidFill>
            <a:prstDash val="solid"/>
            <a:tailEnd type="triangle"/>
          </a:ln>
        </p:spPr>
      </p:sp>
      <p:sp>
        <p:nvSpPr>
          <p:cNvPr id="52" name="Shape 45"/>
          <p:cNvSpPr/>
          <p:nvPr/>
        </p:nvSpPr>
        <p:spPr>
          <a:xfrm>
            <a:off x="7379208" y="2944368"/>
            <a:ext cx="146304" cy="0"/>
          </a:xfrm>
          <a:prstGeom prst="line">
            <a:avLst/>
          </a:prstGeom>
          <a:noFill/>
          <a:ln w="19050">
            <a:solidFill>
              <a:srgbClr val="19B3B1"/>
            </a:solidFill>
            <a:prstDash val="solid"/>
            <a:headEnd type="triangle"/>
          </a:ln>
        </p:spPr>
      </p:sp>
      <p:sp>
        <p:nvSpPr>
          <p:cNvPr id="53" name="Text 46"/>
          <p:cNvSpPr txBox="1"/>
          <p:nvPr/>
        </p:nvSpPr>
        <p:spPr>
          <a:xfrm>
            <a:off x="548640" y="4937760"/>
            <a:ext cx="1828800" cy="292608"/>
          </a:xfrm>
          <a:prstGeom prst="rect">
            <a:avLst/>
          </a:prstGeom>
          <a:noFill/>
          <a:ln/>
        </p:spPr>
        <p:txBody>
          <a:bodyPr wrap="square" lIns="0" tIns="0" rIns="0" bIns="0" rtlCol="0" anchor="t"/>
          <a:lstStyle/>
          <a:p>
            <a:pPr indent="0" marL="0">
              <a:buNone/>
            </a:pPr>
            <a:r>
              <a:rPr lang="ko-KR" altLang="en-US" sz="1500" b="1" dirty="0">
                <a:solidFill>
                  <a:srgbClr val="19B3B1"/>
                </a:solidFill>
                <a:latin typeface="맑은 고딕" pitchFamily="34" charset="0"/>
                <a:ea typeface="맑은 고딕" pitchFamily="34" charset="-122"/>
                <a:cs typeface="맑은 고딕" pitchFamily="34" charset="-120"/>
              </a:rPr>
              <a:t>제작 로드맵</a:t>
            </a:r>
            <a:endParaRPr lang="ko-KR" sz="1500" dirty="0"/>
          </a:p>
        </p:txBody>
      </p:sp>
      <p:sp>
        <p:nvSpPr>
          <p:cNvPr id="54" name="Text 47"/>
          <p:cNvSpPr txBox="1"/>
          <p:nvPr/>
        </p:nvSpPr>
        <p:spPr>
          <a:xfrm>
            <a:off x="7068312" y="4956048"/>
            <a:ext cx="4572000" cy="274320"/>
          </a:xfrm>
          <a:prstGeom prst="rect">
            <a:avLst/>
          </a:prstGeom>
          <a:noFill/>
          <a:ln/>
        </p:spPr>
        <p:txBody>
          <a:bodyPr wrap="square" lIns="0" tIns="0" rIns="0" bIns="0" rtlCol="0" anchor="t"/>
          <a:lstStyle/>
          <a:p>
            <a:pPr algn="r" indent="0" marL="0">
              <a:buNone/>
            </a:pPr>
            <a:r>
              <a:rPr lang="ko-KR" altLang="en-US" sz="1100" dirty="0">
                <a:solidFill>
                  <a:srgbClr val="A9BCD3"/>
                </a:solidFill>
                <a:latin typeface="맑은 고딕" pitchFamily="34" charset="0"/>
                <a:ea typeface="맑은 고딕" pitchFamily="34" charset="-122"/>
                <a:cs typeface="맑은 고딕" pitchFamily="34" charset="-120"/>
              </a:rPr>
              <a:t>구체적인 기간은 개발 인력과 범위 확정 후 산정</a:t>
            </a:r>
            <a:endParaRPr lang="ko-KR" sz="1100" dirty="0"/>
          </a:p>
        </p:txBody>
      </p:sp>
      <p:sp>
        <p:nvSpPr>
          <p:cNvPr id="55" name="Shape 48"/>
          <p:cNvSpPr/>
          <p:nvPr/>
        </p:nvSpPr>
        <p:spPr>
          <a:xfrm>
            <a:off x="548640" y="5303520"/>
            <a:ext cx="2328062" cy="868680"/>
          </a:xfrm>
          <a:prstGeom prst="homePlate">
            <a:avLst/>
          </a:prstGeom>
          <a:solidFill>
            <a:srgbClr val="14284B"/>
          </a:solidFill>
          <a:ln w="12700">
            <a:solidFill>
              <a:srgbClr val="0B1A33"/>
            </a:solidFill>
            <a:prstDash val="solid"/>
          </a:ln>
        </p:spPr>
      </p:sp>
      <p:sp>
        <p:nvSpPr>
          <p:cNvPr id="56" name="Text 49"/>
          <p:cNvSpPr txBox="1"/>
          <p:nvPr/>
        </p:nvSpPr>
        <p:spPr>
          <a:xfrm>
            <a:off x="960120" y="5376672"/>
            <a:ext cx="1669694" cy="274320"/>
          </a:xfrm>
          <a:prstGeom prst="rect">
            <a:avLst/>
          </a:prstGeom>
          <a:noFill/>
          <a:ln/>
        </p:spPr>
        <p:txBody>
          <a:bodyPr wrap="square" lIns="0" tIns="0" rIns="0" bIns="0" rtlCol="0" anchor="t"/>
          <a:lstStyle/>
          <a:p>
            <a:pPr indent="0" marL="0">
              <a:buNone/>
            </a:pPr>
            <a:r>
              <a:rPr lang="ko-KR" altLang="en-US" sz="1200" b="1" dirty="0">
                <a:solidFill>
                  <a:srgbClr val="F2B33D"/>
                </a:solidFill>
                <a:latin typeface="맑은 고딕" pitchFamily="34" charset="0"/>
                <a:ea typeface="맑은 고딕" pitchFamily="34" charset="-122"/>
                <a:cs typeface="맑은 고딕" pitchFamily="34" charset="-120"/>
              </a:rPr>
              <a:t>01  ✓ 시제품 완료</a:t>
            </a:r>
            <a:endParaRPr lang="ko-KR" sz="1200" dirty="0"/>
          </a:p>
        </p:txBody>
      </p:sp>
      <p:sp>
        <p:nvSpPr>
          <p:cNvPr id="57" name="Text 50"/>
          <p:cNvSpPr txBox="1"/>
          <p:nvPr/>
        </p:nvSpPr>
        <p:spPr>
          <a:xfrm>
            <a:off x="960120" y="5632704"/>
            <a:ext cx="1715414" cy="457200"/>
          </a:xfrm>
          <a:prstGeom prst="rect">
            <a:avLst/>
          </a:prstGeom>
          <a:noFill/>
          <a:ln/>
        </p:spPr>
        <p:txBody>
          <a:bodyPr wrap="square" lIns="0" tIns="0" rIns="0" bIns="0" rtlCol="0" anchor="t"/>
          <a:lstStyle/>
          <a:p>
            <a:pPr indent="0" marL="0">
              <a:buNone/>
            </a:pPr>
            <a:r>
              <a:rPr lang="ko-KR" altLang="en-US" sz="1350" b="1" dirty="0">
                <a:solidFill>
                  <a:srgbClr val="FFFFFF"/>
                </a:solidFill>
                <a:latin typeface="맑은 고딕" pitchFamily="34" charset="0"/>
                <a:ea typeface="맑은 고딕" pitchFamily="34" charset="-122"/>
                <a:cs typeface="맑은 고딕" pitchFamily="34" charset="-120"/>
              </a:rPr>
              <a:t>핵심 프로토타입</a:t>
            </a:r>
            <a:endParaRPr lang="ko-KR" sz="1350" dirty="0"/>
          </a:p>
        </p:txBody>
      </p:sp>
      <p:sp>
        <p:nvSpPr>
          <p:cNvPr id="58" name="Shape 51"/>
          <p:cNvSpPr/>
          <p:nvPr/>
        </p:nvSpPr>
        <p:spPr>
          <a:xfrm>
            <a:off x="2766974" y="5303520"/>
            <a:ext cx="2328062" cy="868680"/>
          </a:xfrm>
          <a:prstGeom prst="chevron">
            <a:avLst/>
          </a:prstGeom>
          <a:solidFill>
            <a:srgbClr val="1E3A66"/>
          </a:solidFill>
          <a:ln w="12700">
            <a:solidFill>
              <a:srgbClr val="0B1A33"/>
            </a:solidFill>
            <a:prstDash val="solid"/>
          </a:ln>
        </p:spPr>
      </p:sp>
      <p:sp>
        <p:nvSpPr>
          <p:cNvPr id="59" name="Text 52"/>
          <p:cNvSpPr txBox="1"/>
          <p:nvPr/>
        </p:nvSpPr>
        <p:spPr>
          <a:xfrm>
            <a:off x="3178454" y="5376672"/>
            <a:ext cx="1669694" cy="274320"/>
          </a:xfrm>
          <a:prstGeom prst="rect">
            <a:avLst/>
          </a:prstGeom>
          <a:noFill/>
          <a:ln/>
        </p:spPr>
        <p:txBody>
          <a:bodyPr wrap="square" lIns="0" tIns="0" rIns="0" bIns="0" rtlCol="0" anchor="t"/>
          <a:lstStyle/>
          <a:p>
            <a:pPr indent="0" marL="0">
              <a:buNone/>
            </a:pPr>
            <a:r>
              <a:rPr lang="ko-KR" altLang="en-US" sz="1200" b="1" dirty="0">
                <a:solidFill>
                  <a:srgbClr val="19B3B1"/>
                </a:solidFill>
                <a:latin typeface="맑은 고딕" pitchFamily="34" charset="0"/>
                <a:ea typeface="맑은 고딕" pitchFamily="34" charset="-122"/>
                <a:cs typeface="맑은 고딕" pitchFamily="34" charset="-120"/>
              </a:rPr>
              <a:t>02</a:t>
            </a:r>
            <a:endParaRPr lang="ko-KR" sz="1200" dirty="0"/>
          </a:p>
        </p:txBody>
      </p:sp>
      <p:sp>
        <p:nvSpPr>
          <p:cNvPr id="60" name="Text 53"/>
          <p:cNvSpPr txBox="1"/>
          <p:nvPr/>
        </p:nvSpPr>
        <p:spPr>
          <a:xfrm>
            <a:off x="3178454" y="5632704"/>
            <a:ext cx="1715414" cy="457200"/>
          </a:xfrm>
          <a:prstGeom prst="rect">
            <a:avLst/>
          </a:prstGeom>
          <a:noFill/>
          <a:ln/>
        </p:spPr>
        <p:txBody>
          <a:bodyPr wrap="square" lIns="0" tIns="0" rIns="0" bIns="0" rtlCol="0" anchor="t"/>
          <a:lstStyle/>
          <a:p>
            <a:pPr indent="0" marL="0">
              <a:buNone/>
            </a:pPr>
            <a:r>
              <a:rPr lang="ko-KR" altLang="en-US" sz="1350" b="1" dirty="0">
                <a:solidFill>
                  <a:srgbClr val="FFFFFF"/>
                </a:solidFill>
                <a:latin typeface="맑은 고딕" pitchFamily="34" charset="0"/>
                <a:ea typeface="맑은 고딕" pitchFamily="34" charset="-122"/>
                <a:cs typeface="맑은 고딕" pitchFamily="34" charset="-120"/>
              </a:rPr>
              <a:t>판정·점수·저장 시스템</a:t>
            </a:r>
            <a:endParaRPr lang="ko-KR" sz="1350" dirty="0"/>
          </a:p>
        </p:txBody>
      </p:sp>
      <p:sp>
        <p:nvSpPr>
          <p:cNvPr id="61" name="Shape 54"/>
          <p:cNvSpPr/>
          <p:nvPr/>
        </p:nvSpPr>
        <p:spPr>
          <a:xfrm>
            <a:off x="4985309" y="5303520"/>
            <a:ext cx="2328062" cy="868680"/>
          </a:xfrm>
          <a:prstGeom prst="chevron">
            <a:avLst/>
          </a:prstGeom>
          <a:solidFill>
            <a:srgbClr val="14284B"/>
          </a:solidFill>
          <a:ln w="12700">
            <a:solidFill>
              <a:srgbClr val="0B1A33"/>
            </a:solidFill>
            <a:prstDash val="solid"/>
          </a:ln>
        </p:spPr>
      </p:sp>
      <p:sp>
        <p:nvSpPr>
          <p:cNvPr id="62" name="Text 55"/>
          <p:cNvSpPr txBox="1"/>
          <p:nvPr/>
        </p:nvSpPr>
        <p:spPr>
          <a:xfrm>
            <a:off x="5396789" y="5376672"/>
            <a:ext cx="1669694" cy="274320"/>
          </a:xfrm>
          <a:prstGeom prst="rect">
            <a:avLst/>
          </a:prstGeom>
          <a:noFill/>
          <a:ln/>
        </p:spPr>
        <p:txBody>
          <a:bodyPr wrap="square" lIns="0" tIns="0" rIns="0" bIns="0" rtlCol="0" anchor="t"/>
          <a:lstStyle/>
          <a:p>
            <a:pPr indent="0" marL="0">
              <a:buNone/>
            </a:pPr>
            <a:r>
              <a:rPr lang="ko-KR" altLang="en-US" sz="1200" b="1" dirty="0">
                <a:solidFill>
                  <a:srgbClr val="19B3B1"/>
                </a:solidFill>
                <a:latin typeface="맑은 고딕" pitchFamily="34" charset="0"/>
                <a:ea typeface="맑은 고딕" pitchFamily="34" charset="-122"/>
                <a:cs typeface="맑은 고딕" pitchFamily="34" charset="-120"/>
              </a:rPr>
              <a:t>03</a:t>
            </a:r>
            <a:endParaRPr lang="ko-KR" sz="1200" dirty="0"/>
          </a:p>
        </p:txBody>
      </p:sp>
      <p:sp>
        <p:nvSpPr>
          <p:cNvPr id="63" name="Text 56"/>
          <p:cNvSpPr txBox="1"/>
          <p:nvPr/>
        </p:nvSpPr>
        <p:spPr>
          <a:xfrm>
            <a:off x="5396789" y="5632704"/>
            <a:ext cx="1715414" cy="457200"/>
          </a:xfrm>
          <a:prstGeom prst="rect">
            <a:avLst/>
          </a:prstGeom>
          <a:noFill/>
          <a:ln/>
        </p:spPr>
        <p:txBody>
          <a:bodyPr wrap="square" lIns="0" tIns="0" rIns="0" bIns="0" rtlCol="0" anchor="t"/>
          <a:lstStyle/>
          <a:p>
            <a:pPr indent="0" marL="0">
              <a:buNone/>
            </a:pPr>
            <a:r>
              <a:rPr lang="ko-KR" altLang="en-US" sz="1350" b="1" dirty="0">
                <a:solidFill>
                  <a:srgbClr val="FFFFFF"/>
                </a:solidFill>
                <a:latin typeface="맑은 고딕" pitchFamily="34" charset="0"/>
                <a:ea typeface="맑은 고딕" pitchFamily="34" charset="-122"/>
                <a:cs typeface="맑은 고딕" pitchFamily="34" charset="-120"/>
              </a:rPr>
              <a:t>초기 사례·UI 제작</a:t>
            </a:r>
            <a:endParaRPr lang="ko-KR" sz="1350" dirty="0"/>
          </a:p>
        </p:txBody>
      </p:sp>
      <p:sp>
        <p:nvSpPr>
          <p:cNvPr id="64" name="Shape 57"/>
          <p:cNvSpPr/>
          <p:nvPr/>
        </p:nvSpPr>
        <p:spPr>
          <a:xfrm>
            <a:off x="7203643" y="5303520"/>
            <a:ext cx="2328062" cy="868680"/>
          </a:xfrm>
          <a:prstGeom prst="chevron">
            <a:avLst/>
          </a:prstGeom>
          <a:solidFill>
            <a:srgbClr val="1E3A66"/>
          </a:solidFill>
          <a:ln w="12700">
            <a:solidFill>
              <a:srgbClr val="0B1A33"/>
            </a:solidFill>
            <a:prstDash val="solid"/>
          </a:ln>
        </p:spPr>
      </p:sp>
      <p:sp>
        <p:nvSpPr>
          <p:cNvPr id="65" name="Text 58"/>
          <p:cNvSpPr txBox="1"/>
          <p:nvPr/>
        </p:nvSpPr>
        <p:spPr>
          <a:xfrm>
            <a:off x="7615123" y="5376672"/>
            <a:ext cx="1669694" cy="274320"/>
          </a:xfrm>
          <a:prstGeom prst="rect">
            <a:avLst/>
          </a:prstGeom>
          <a:noFill/>
          <a:ln/>
        </p:spPr>
        <p:txBody>
          <a:bodyPr wrap="square" lIns="0" tIns="0" rIns="0" bIns="0" rtlCol="0" anchor="t"/>
          <a:lstStyle/>
          <a:p>
            <a:pPr indent="0" marL="0">
              <a:buNone/>
            </a:pPr>
            <a:r>
              <a:rPr lang="ko-KR" altLang="en-US" sz="1200" b="1" dirty="0">
                <a:solidFill>
                  <a:srgbClr val="19B3B1"/>
                </a:solidFill>
                <a:latin typeface="맑은 고딕" pitchFamily="34" charset="0"/>
                <a:ea typeface="맑은 고딕" pitchFamily="34" charset="-122"/>
                <a:cs typeface="맑은 고딕" pitchFamily="34" charset="-120"/>
              </a:rPr>
              <a:t>04</a:t>
            </a:r>
            <a:endParaRPr lang="ko-KR" sz="1200" dirty="0"/>
          </a:p>
        </p:txBody>
      </p:sp>
      <p:sp>
        <p:nvSpPr>
          <p:cNvPr id="66" name="Text 59"/>
          <p:cNvSpPr txBox="1"/>
          <p:nvPr/>
        </p:nvSpPr>
        <p:spPr>
          <a:xfrm>
            <a:off x="7615123" y="5632704"/>
            <a:ext cx="1715414" cy="457200"/>
          </a:xfrm>
          <a:prstGeom prst="rect">
            <a:avLst/>
          </a:prstGeom>
          <a:noFill/>
          <a:ln/>
        </p:spPr>
        <p:txBody>
          <a:bodyPr wrap="square" lIns="0" tIns="0" rIns="0" bIns="0" rtlCol="0" anchor="t"/>
          <a:lstStyle/>
          <a:p>
            <a:pPr indent="0" marL="0">
              <a:buNone/>
            </a:pPr>
            <a:r>
              <a:rPr lang="ko-KR" altLang="en-US" sz="1350" b="1" dirty="0">
                <a:solidFill>
                  <a:srgbClr val="FFFFFF"/>
                </a:solidFill>
                <a:latin typeface="맑은 고딕" pitchFamily="34" charset="0"/>
                <a:ea typeface="맑은 고딕" pitchFamily="34" charset="-122"/>
                <a:cs typeface="맑은 고딕" pitchFamily="34" charset="-120"/>
              </a:rPr>
              <a:t>두 테마 적용</a:t>
            </a:r>
            <a:endParaRPr lang="ko-KR" sz="1350" dirty="0"/>
          </a:p>
        </p:txBody>
      </p:sp>
      <p:sp>
        <p:nvSpPr>
          <p:cNvPr id="67" name="Shape 60"/>
          <p:cNvSpPr/>
          <p:nvPr/>
        </p:nvSpPr>
        <p:spPr>
          <a:xfrm>
            <a:off x="9421978" y="5303520"/>
            <a:ext cx="2328062" cy="868680"/>
          </a:xfrm>
          <a:prstGeom prst="chevron">
            <a:avLst/>
          </a:prstGeom>
          <a:solidFill>
            <a:srgbClr val="14284B"/>
          </a:solidFill>
          <a:ln w="12700">
            <a:solidFill>
              <a:srgbClr val="0B1A33"/>
            </a:solidFill>
            <a:prstDash val="solid"/>
          </a:ln>
        </p:spPr>
      </p:sp>
      <p:sp>
        <p:nvSpPr>
          <p:cNvPr id="68" name="Text 61"/>
          <p:cNvSpPr txBox="1"/>
          <p:nvPr/>
        </p:nvSpPr>
        <p:spPr>
          <a:xfrm>
            <a:off x="9833458" y="5376672"/>
            <a:ext cx="1669694" cy="274320"/>
          </a:xfrm>
          <a:prstGeom prst="rect">
            <a:avLst/>
          </a:prstGeom>
          <a:noFill/>
          <a:ln/>
        </p:spPr>
        <p:txBody>
          <a:bodyPr wrap="square" lIns="0" tIns="0" rIns="0" bIns="0" rtlCol="0" anchor="t"/>
          <a:lstStyle/>
          <a:p>
            <a:pPr indent="0" marL="0">
              <a:buNone/>
            </a:pPr>
            <a:r>
              <a:rPr lang="ko-KR" altLang="en-US" sz="1200" b="1" dirty="0">
                <a:solidFill>
                  <a:srgbClr val="19B3B1"/>
                </a:solidFill>
                <a:latin typeface="맑은 고딕" pitchFamily="34" charset="0"/>
                <a:ea typeface="맑은 고딕" pitchFamily="34" charset="-122"/>
                <a:cs typeface="맑은 고딕" pitchFamily="34" charset="-120"/>
              </a:rPr>
              <a:t>05</a:t>
            </a:r>
            <a:endParaRPr lang="ko-KR" sz="1200" dirty="0"/>
          </a:p>
        </p:txBody>
      </p:sp>
      <p:sp>
        <p:nvSpPr>
          <p:cNvPr id="69" name="Text 62"/>
          <p:cNvSpPr txBox="1"/>
          <p:nvPr/>
        </p:nvSpPr>
        <p:spPr>
          <a:xfrm>
            <a:off x="9833458" y="5632704"/>
            <a:ext cx="1715414" cy="457200"/>
          </a:xfrm>
          <a:prstGeom prst="rect">
            <a:avLst/>
          </a:prstGeom>
          <a:noFill/>
          <a:ln/>
        </p:spPr>
        <p:txBody>
          <a:bodyPr wrap="square" lIns="0" tIns="0" rIns="0" bIns="0" rtlCol="0" anchor="t"/>
          <a:lstStyle/>
          <a:p>
            <a:pPr indent="0" marL="0">
              <a:buNone/>
            </a:pPr>
            <a:r>
              <a:rPr lang="ko-KR" altLang="en-US" sz="1350" b="1" dirty="0">
                <a:solidFill>
                  <a:srgbClr val="FFFFFF"/>
                </a:solidFill>
                <a:latin typeface="맑은 고딕" pitchFamily="34" charset="0"/>
                <a:ea typeface="맑은 고딕" pitchFamily="34" charset="-122"/>
                <a:cs typeface="맑은 고딕" pitchFamily="34" charset="-120"/>
              </a:rPr>
              <a:t>모바일 QA·개선</a:t>
            </a:r>
            <a:endParaRPr lang="ko-KR" sz="13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맑은 고딕"/>
                <a:ea typeface="맑은 고딕"/>
                <a:cs typeface="맑은 고딕"/>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DIGITAL GUARD 키아트 시안">    </p:cNvPr>
          <p:cNvPicPr>
            <a:picLocks noChangeAspect="1"/>
          </p:cNvPicPr>
          <p:nvPr/>
        </p:nvPicPr>
        <p:blipFill>
          <a:blip r:embed="rId1"/>
          <a:stretch>
            <a:fillRect/>
          </a:stretch>
        </p:blipFill>
        <p:spPr>
          <a:xfrm>
            <a:off x="0" y="0"/>
            <a:ext cx="12191695" cy="6858000"/>
          </a:xfrm>
          <a:prstGeom prst="rect">
            <a:avLst/>
          </a:prstGeom>
        </p:spPr>
      </p:pic>
      <p:sp>
        <p:nvSpPr>
          <p:cNvPr id="3" name="Text 1"/>
          <p:cNvSpPr/>
          <p:nvPr>
            <p:ph idx="101" type="title" hasCustomPrompt="1"/>
          </p:nvPr>
        </p:nvSpPr>
        <p:spPr>
          <a:xfrm>
            <a:off x="548640" y="347472"/>
            <a:ext cx="11064240" cy="658368"/>
          </a:xfrm>
          <a:prstGeom prst="rect">
            <a:avLst/>
          </a:prstGeom>
          <a:noFill/>
          <a:ln/>
        </p:spPr>
        <p:txBody>
          <a:bodyPr wrap="square" lIns="0" tIns="0" rIns="0" bIns="0" rtlCol="0" anchor="ctr"/>
          <a:lstStyle/>
          <a:p>
            <a:pPr algn="l" indent="0" marL="0">
              <a:buNone/>
            </a:pPr>
            <a:r>
              <a:rPr lang="en-US" sz="3000" b="1" dirty="0">
                <a:solidFill>
                  <a:srgbClr val="FFFFFF"/>
                </a:solidFill>
                <a:latin typeface="맑은 고딕" pitchFamily="34" charset="0"/>
                <a:ea typeface="맑은 고딕" pitchFamily="34" charset="-122"/>
                <a:cs typeface="맑은 고딕" pitchFamily="34" charset="-120"/>
              </a:rPr>
              <a:t>정답을 맞히는 것을 넘어, 올바르게 판단하는 경험으로</a:t>
            </a:r>
            <a:endParaRPr lang="en-US" sz="3000" dirty="0"/>
          </a:p>
        </p:txBody>
      </p:sp>
      <p:sp>
        <p:nvSpPr>
          <p:cNvPr id="4" name="Shape 1"/>
          <p:cNvSpPr/>
          <p:nvPr/>
        </p:nvSpPr>
        <p:spPr>
          <a:xfrm>
            <a:off x="548640" y="1417320"/>
            <a:ext cx="5120640" cy="868680"/>
          </a:xfrm>
          <a:prstGeom prst="roundRect">
            <a:avLst>
              <a:gd name="adj" fmla="val 14737"/>
            </a:avLst>
          </a:prstGeom>
          <a:solidFill>
            <a:srgbClr val="14284B"/>
          </a:solidFill>
          <a:ln w="12700">
            <a:solidFill>
              <a:srgbClr val="1E3A66"/>
            </a:solidFill>
            <a:prstDash val="solid"/>
          </a:ln>
        </p:spPr>
      </p:sp>
      <p:sp>
        <p:nvSpPr>
          <p:cNvPr id="5" name="Shape 2"/>
          <p:cNvSpPr/>
          <p:nvPr/>
        </p:nvSpPr>
        <p:spPr>
          <a:xfrm>
            <a:off x="713232" y="1554480"/>
            <a:ext cx="594360" cy="594360"/>
          </a:xfrm>
          <a:prstGeom prst="ellipse">
            <a:avLst/>
          </a:prstGeom>
          <a:solidFill>
            <a:srgbClr val="19B3B1"/>
          </a:solidFill>
          <a:ln/>
        </p:spPr>
      </p:sp>
      <p:pic>
        <p:nvPicPr>
          <p:cNvPr id="6" name="Image 1" descr="preencoded.png">    </p:cNvPr>
          <p:cNvPicPr>
            <a:picLocks noChangeAspect="1"/>
          </p:cNvPicPr>
          <p:nvPr/>
        </p:nvPicPr>
        <p:blipFill>
          <a:blip r:embed="rId2"/>
          <a:stretch>
            <a:fillRect/>
          </a:stretch>
        </p:blipFill>
        <p:spPr>
          <a:xfrm>
            <a:off x="861822" y="1703070"/>
            <a:ext cx="297180" cy="297180"/>
          </a:xfrm>
          <a:prstGeom prst="rect">
            <a:avLst/>
          </a:prstGeom>
        </p:spPr>
      </p:pic>
      <p:sp>
        <p:nvSpPr>
          <p:cNvPr id="7" name="Text 3"/>
          <p:cNvSpPr txBox="1"/>
          <p:nvPr/>
        </p:nvSpPr>
        <p:spPr>
          <a:xfrm>
            <a:off x="1481328" y="1508760"/>
            <a:ext cx="2743200" cy="329184"/>
          </a:xfrm>
          <a:prstGeom prst="rect">
            <a:avLst/>
          </a:prstGeom>
          <a:noFill/>
          <a:ln/>
        </p:spPr>
        <p:txBody>
          <a:bodyPr wrap="square" lIns="0" tIns="0" rIns="0" bIns="0" rtlCol="0" anchor="t"/>
          <a:lstStyle/>
          <a:p>
            <a:pPr indent="0" marL="0">
              <a:buNone/>
            </a:pPr>
            <a:r>
              <a:rPr lang="ko-KR" altLang="en-US" sz="1900" b="1" dirty="0">
                <a:solidFill>
                  <a:srgbClr val="FFFFFF"/>
                </a:solidFill>
                <a:latin typeface="맑은 고딕" pitchFamily="34" charset="0"/>
                <a:ea typeface="맑은 고딕" pitchFamily="34" charset="-122"/>
                <a:cs typeface="맑은 고딕" pitchFamily="34" charset="-120"/>
              </a:rPr>
              <a:t>교육성</a:t>
            </a:r>
            <a:endParaRPr lang="ko-KR" sz="1900" dirty="0"/>
          </a:p>
        </p:txBody>
      </p:sp>
      <p:sp>
        <p:nvSpPr>
          <p:cNvPr id="8" name="Text 4"/>
          <p:cNvSpPr txBox="1"/>
          <p:nvPr/>
        </p:nvSpPr>
        <p:spPr>
          <a:xfrm>
            <a:off x="1481328" y="1847088"/>
            <a:ext cx="4114800" cy="365760"/>
          </a:xfrm>
          <a:prstGeom prst="rect">
            <a:avLst/>
          </a:prstGeom>
          <a:noFill/>
          <a:ln/>
        </p:spPr>
        <p:txBody>
          <a:bodyPr wrap="square" lIns="0" tIns="0" rIns="0" bIns="0" rtlCol="0" anchor="t"/>
          <a:lstStyle/>
          <a:p>
            <a:pPr indent="0" marL="0">
              <a:buNone/>
            </a:pPr>
            <a:r>
              <a:rPr lang="ko-KR" altLang="en-US" sz="1400" dirty="0">
                <a:solidFill>
                  <a:srgbClr val="A9BCD3"/>
                </a:solidFill>
                <a:latin typeface="맑은 고딕" pitchFamily="34" charset="0"/>
                <a:ea typeface="맑은 고딕" pitchFamily="34" charset="-122"/>
                <a:cs typeface="맑은 고딕" pitchFamily="34" charset="-120"/>
              </a:rPr>
              <a:t>모든 세대가 실제와 닮은 상황에서 연습</a:t>
            </a:r>
            <a:endParaRPr lang="ko-KR" sz="1400" dirty="0"/>
          </a:p>
        </p:txBody>
      </p:sp>
      <p:sp>
        <p:nvSpPr>
          <p:cNvPr id="9" name="Shape 5"/>
          <p:cNvSpPr/>
          <p:nvPr/>
        </p:nvSpPr>
        <p:spPr>
          <a:xfrm>
            <a:off x="548640" y="2441448"/>
            <a:ext cx="5120640" cy="868680"/>
          </a:xfrm>
          <a:prstGeom prst="roundRect">
            <a:avLst>
              <a:gd name="adj" fmla="val 14737"/>
            </a:avLst>
          </a:prstGeom>
          <a:solidFill>
            <a:srgbClr val="14284B"/>
          </a:solidFill>
          <a:ln w="12700">
            <a:solidFill>
              <a:srgbClr val="1E3A66"/>
            </a:solidFill>
            <a:prstDash val="solid"/>
          </a:ln>
        </p:spPr>
      </p:sp>
      <p:sp>
        <p:nvSpPr>
          <p:cNvPr id="10" name="Shape 6"/>
          <p:cNvSpPr/>
          <p:nvPr/>
        </p:nvSpPr>
        <p:spPr>
          <a:xfrm>
            <a:off x="713232" y="2578608"/>
            <a:ext cx="594360" cy="594360"/>
          </a:xfrm>
          <a:prstGeom prst="ellipse">
            <a:avLst/>
          </a:prstGeom>
          <a:solidFill>
            <a:srgbClr val="19B3B1"/>
          </a:solidFill>
          <a:ln/>
        </p:spPr>
      </p:sp>
      <p:pic>
        <p:nvPicPr>
          <p:cNvPr id="11" name="Image 2" descr="preencoded.png">    </p:cNvPr>
          <p:cNvPicPr>
            <a:picLocks noChangeAspect="1"/>
          </p:cNvPicPr>
          <p:nvPr/>
        </p:nvPicPr>
        <p:blipFill>
          <a:blip r:embed="rId3"/>
          <a:stretch>
            <a:fillRect/>
          </a:stretch>
        </p:blipFill>
        <p:spPr>
          <a:xfrm>
            <a:off x="861822" y="2727198"/>
            <a:ext cx="297180" cy="297180"/>
          </a:xfrm>
          <a:prstGeom prst="rect">
            <a:avLst/>
          </a:prstGeom>
        </p:spPr>
      </p:pic>
      <p:sp>
        <p:nvSpPr>
          <p:cNvPr id="12" name="Text 7"/>
          <p:cNvSpPr txBox="1"/>
          <p:nvPr/>
        </p:nvSpPr>
        <p:spPr>
          <a:xfrm>
            <a:off x="1481328" y="2532888"/>
            <a:ext cx="2743200" cy="329184"/>
          </a:xfrm>
          <a:prstGeom prst="rect">
            <a:avLst/>
          </a:prstGeom>
          <a:noFill/>
          <a:ln/>
        </p:spPr>
        <p:txBody>
          <a:bodyPr wrap="square" lIns="0" tIns="0" rIns="0" bIns="0" rtlCol="0" anchor="t"/>
          <a:lstStyle/>
          <a:p>
            <a:pPr indent="0" marL="0">
              <a:buNone/>
            </a:pPr>
            <a:r>
              <a:rPr lang="ko-KR" altLang="en-US" sz="1900" b="1" dirty="0">
                <a:solidFill>
                  <a:srgbClr val="FFFFFF"/>
                </a:solidFill>
                <a:latin typeface="맑은 고딕" pitchFamily="34" charset="0"/>
                <a:ea typeface="맑은 고딕" pitchFamily="34" charset="-122"/>
                <a:cs typeface="맑은 고딕" pitchFamily="34" charset="-120"/>
              </a:rPr>
              <a:t>게임성</a:t>
            </a:r>
            <a:endParaRPr lang="ko-KR" sz="1900" dirty="0"/>
          </a:p>
        </p:txBody>
      </p:sp>
      <p:sp>
        <p:nvSpPr>
          <p:cNvPr id="13" name="Text 8"/>
          <p:cNvSpPr txBox="1"/>
          <p:nvPr/>
        </p:nvSpPr>
        <p:spPr>
          <a:xfrm>
            <a:off x="1481328" y="2871216"/>
            <a:ext cx="4114800" cy="365760"/>
          </a:xfrm>
          <a:prstGeom prst="rect">
            <a:avLst/>
          </a:prstGeom>
          <a:noFill/>
          <a:ln/>
        </p:spPr>
        <p:txBody>
          <a:bodyPr wrap="square" lIns="0" tIns="0" rIns="0" bIns="0" rtlCol="0" anchor="t"/>
          <a:lstStyle/>
          <a:p>
            <a:pPr indent="0" marL="0">
              <a:buNone/>
            </a:pPr>
            <a:r>
              <a:rPr lang="ko-KR" altLang="en-US" sz="1400" dirty="0">
                <a:solidFill>
                  <a:srgbClr val="A9BCD3"/>
                </a:solidFill>
                <a:latin typeface="맑은 고딕" pitchFamily="34" charset="0"/>
                <a:ea typeface="맑은 고딕" pitchFamily="34" charset="-122"/>
                <a:cs typeface="맑은 고딕" pitchFamily="34" charset="-120"/>
              </a:rPr>
              <a:t>단서 발견, 규칙 해금, 사건 해결로 성장</a:t>
            </a:r>
            <a:endParaRPr lang="ko-KR" sz="1400" dirty="0"/>
          </a:p>
        </p:txBody>
      </p:sp>
      <p:sp>
        <p:nvSpPr>
          <p:cNvPr id="14" name="Shape 9"/>
          <p:cNvSpPr/>
          <p:nvPr/>
        </p:nvSpPr>
        <p:spPr>
          <a:xfrm>
            <a:off x="548640" y="3465576"/>
            <a:ext cx="5120640" cy="868680"/>
          </a:xfrm>
          <a:prstGeom prst="roundRect">
            <a:avLst>
              <a:gd name="adj" fmla="val 14737"/>
            </a:avLst>
          </a:prstGeom>
          <a:solidFill>
            <a:srgbClr val="14284B"/>
          </a:solidFill>
          <a:ln w="12700">
            <a:solidFill>
              <a:srgbClr val="1E3A66"/>
            </a:solidFill>
            <a:prstDash val="solid"/>
          </a:ln>
        </p:spPr>
      </p:sp>
      <p:sp>
        <p:nvSpPr>
          <p:cNvPr id="15" name="Shape 10"/>
          <p:cNvSpPr/>
          <p:nvPr/>
        </p:nvSpPr>
        <p:spPr>
          <a:xfrm>
            <a:off x="713232" y="3602736"/>
            <a:ext cx="594360" cy="594360"/>
          </a:xfrm>
          <a:prstGeom prst="ellipse">
            <a:avLst/>
          </a:prstGeom>
          <a:solidFill>
            <a:srgbClr val="19B3B1"/>
          </a:solidFill>
          <a:ln/>
        </p:spPr>
      </p:sp>
      <p:pic>
        <p:nvPicPr>
          <p:cNvPr id="16" name="Image 3" descr="preencoded.png">    </p:cNvPr>
          <p:cNvPicPr>
            <a:picLocks noChangeAspect="1"/>
          </p:cNvPicPr>
          <p:nvPr/>
        </p:nvPicPr>
        <p:blipFill>
          <a:blip r:embed="rId4"/>
          <a:stretch>
            <a:fillRect/>
          </a:stretch>
        </p:blipFill>
        <p:spPr>
          <a:xfrm>
            <a:off x="861822" y="3751326"/>
            <a:ext cx="297180" cy="297180"/>
          </a:xfrm>
          <a:prstGeom prst="rect">
            <a:avLst/>
          </a:prstGeom>
        </p:spPr>
      </p:pic>
      <p:sp>
        <p:nvSpPr>
          <p:cNvPr id="17" name="Text 11"/>
          <p:cNvSpPr txBox="1"/>
          <p:nvPr/>
        </p:nvSpPr>
        <p:spPr>
          <a:xfrm>
            <a:off x="1481328" y="3557016"/>
            <a:ext cx="2743200" cy="329184"/>
          </a:xfrm>
          <a:prstGeom prst="rect">
            <a:avLst/>
          </a:prstGeom>
          <a:noFill/>
          <a:ln/>
        </p:spPr>
        <p:txBody>
          <a:bodyPr wrap="square" lIns="0" tIns="0" rIns="0" bIns="0" rtlCol="0" anchor="t"/>
          <a:lstStyle/>
          <a:p>
            <a:pPr indent="0" marL="0">
              <a:buNone/>
            </a:pPr>
            <a:r>
              <a:rPr lang="ko-KR" altLang="en-US" sz="1900" b="1" dirty="0">
                <a:solidFill>
                  <a:srgbClr val="FFFFFF"/>
                </a:solidFill>
                <a:latin typeface="맑은 고딕" pitchFamily="34" charset="0"/>
                <a:ea typeface="맑은 고딕" pitchFamily="34" charset="-122"/>
                <a:cs typeface="맑은 고딕" pitchFamily="34" charset="-120"/>
              </a:rPr>
              <a:t>확장성</a:t>
            </a:r>
            <a:endParaRPr lang="ko-KR" sz="1900" dirty="0"/>
          </a:p>
        </p:txBody>
      </p:sp>
      <p:sp>
        <p:nvSpPr>
          <p:cNvPr id="18" name="Text 12"/>
          <p:cNvSpPr txBox="1"/>
          <p:nvPr/>
        </p:nvSpPr>
        <p:spPr>
          <a:xfrm>
            <a:off x="1481328" y="3895344"/>
            <a:ext cx="4114800" cy="365760"/>
          </a:xfrm>
          <a:prstGeom prst="rect">
            <a:avLst/>
          </a:prstGeom>
          <a:noFill/>
          <a:ln/>
        </p:spPr>
        <p:txBody>
          <a:bodyPr wrap="square" lIns="0" tIns="0" rIns="0" bIns="0" rtlCol="0" anchor="t"/>
          <a:lstStyle/>
          <a:p>
            <a:pPr indent="0" marL="0">
              <a:buNone/>
            </a:pPr>
            <a:r>
              <a:rPr lang="ko-KR" altLang="en-US" sz="1400" dirty="0">
                <a:solidFill>
                  <a:srgbClr val="A9BCD3"/>
                </a:solidFill>
                <a:latin typeface="맑은 고딕" pitchFamily="34" charset="0"/>
                <a:ea typeface="맑은 고딕" pitchFamily="34" charset="-122"/>
                <a:cs typeface="맑은 고딕" pitchFamily="34" charset="-120"/>
              </a:rPr>
              <a:t>새 사건과 문서를 데이터로 추가해 콘텐츠 확장</a:t>
            </a:r>
            <a:endParaRPr lang="ko-KR" sz="1400" dirty="0"/>
          </a:p>
        </p:txBody>
      </p:sp>
      <p:sp>
        <p:nvSpPr>
          <p:cNvPr id="19" name="Text 13"/>
          <p:cNvSpPr txBox="1"/>
          <p:nvPr/>
        </p:nvSpPr>
        <p:spPr>
          <a:xfrm>
            <a:off x="548640" y="4572000"/>
            <a:ext cx="5669280" cy="1234440"/>
          </a:xfrm>
          <a:prstGeom prst="rect">
            <a:avLst/>
          </a:prstGeom>
          <a:noFill/>
          <a:ln/>
        </p:spPr>
        <p:txBody>
          <a:bodyPr wrap="square" lIns="0" tIns="0" rIns="0" bIns="0" rtlCol="0" anchor="t"/>
          <a:lstStyle/>
          <a:p>
            <a:pPr indent="0" marL="0">
              <a:lnSpc>
                <a:spcPct val="95000"/>
              </a:lnSpc>
              <a:buNone/>
            </a:pPr>
            <a:r>
              <a:rPr lang="ko-KR" altLang="en-US" sz="3600" b="1" dirty="0">
                <a:solidFill>
                  <a:srgbClr val="19B3B1"/>
                </a:solidFill>
                <a:latin typeface="맑은 고딕" pitchFamily="34" charset="0"/>
                <a:ea typeface="맑은 고딕" pitchFamily="34" charset="-122"/>
                <a:cs typeface="맑은 고딕" pitchFamily="34" charset="-120"/>
              </a:rPr>
              <a:t>“의심하고, 확인하고,</a:t>
            </a:r>
            <a:endParaRPr lang="ko-KR" sz="3600" dirty="0"/>
          </a:p>
          <a:p>
            <a:pPr indent="0" marL="0">
              <a:lnSpc>
                <a:spcPct val="95000"/>
              </a:lnSpc>
              <a:buNone/>
            </a:pPr>
            <a:r>
              <a:rPr lang="ko-KR" altLang="en-US" sz="3600" b="1" dirty="0">
                <a:solidFill>
                  <a:srgbClr val="19B3B1"/>
                </a:solidFill>
                <a:latin typeface="맑은 고딕" pitchFamily="34" charset="0"/>
                <a:ea typeface="맑은 고딕" pitchFamily="34" charset="-122"/>
                <a:cs typeface="맑은 고딕" pitchFamily="34" charset="-120"/>
              </a:rPr>
              <a:t>판단하라.”</a:t>
            </a:r>
            <a:endParaRPr lang="ko-KR" sz="3600" dirty="0"/>
          </a:p>
        </p:txBody>
      </p:sp>
      <p:sp>
        <p:nvSpPr>
          <p:cNvPr id="20" name="Text 14"/>
          <p:cNvSpPr txBox="1"/>
          <p:nvPr/>
        </p:nvSpPr>
        <p:spPr>
          <a:xfrm>
            <a:off x="548640" y="5897880"/>
            <a:ext cx="5486400" cy="365760"/>
          </a:xfrm>
          <a:prstGeom prst="rect">
            <a:avLst/>
          </a:prstGeom>
          <a:noFill/>
          <a:ln/>
        </p:spPr>
        <p:txBody>
          <a:bodyPr wrap="square" lIns="0" tIns="0" rIns="0" bIns="0" rtlCol="0" anchor="t"/>
          <a:lstStyle/>
          <a:p>
            <a:pPr indent="0" marL="0">
              <a:buNone/>
            </a:pPr>
            <a:r>
              <a:rPr lang="ko-KR" altLang="en-US" sz="1600" b="1" dirty="0">
                <a:solidFill>
                  <a:srgbClr val="FFFFFF"/>
                </a:solidFill>
                <a:latin typeface="맑은 고딕" pitchFamily="34" charset="0"/>
                <a:ea typeface="맑은 고딕" pitchFamily="34" charset="-122"/>
                <a:cs typeface="맑은 고딕" pitchFamily="34" charset="-120"/>
              </a:rPr>
              <a:t>DIGITAL GUARD  ·  디지털 보안 심사관</a:t>
            </a:r>
            <a:endParaRPr lang="ko-KR" sz="16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맑은 고딕"/>
                <a:ea typeface="맑은 고딕"/>
                <a:cs typeface="맑은 고딕"/>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DIGITAL GUARD">
  <a:themeElements>
    <a:clrScheme name="DIGITAL GUARD">
      <a:dk1>
        <a:srgbClr val="0B1A33"/>
      </a:dk1>
      <a:lt1>
        <a:srgbClr val="FFFFFF"/>
      </a:lt1>
      <a:dk2>
        <a:srgbClr val="14284B"/>
      </a:dk2>
      <a:lt2>
        <a:srgbClr val="F4F6FA"/>
      </a:lt2>
      <a:accent1>
        <a:srgbClr val="19B3B1"/>
      </a:accent1>
      <a:accent2>
        <a:srgbClr val="FF6B5E"/>
      </a:accent2>
      <a:accent3>
        <a:srgbClr val="F2B33D"/>
      </a:accent3>
      <a:accent4>
        <a:srgbClr val="7FA6D9"/>
      </a:accent4>
      <a:accent5>
        <a:srgbClr val="0E7C7B"/>
      </a:accent5>
      <a:accent6>
        <a:srgbClr val="8A6BD1"/>
      </a:accent6>
      <a:hlink>
        <a:srgbClr val="19B3B1"/>
      </a:hlink>
      <a:folHlink>
        <a:srgbClr val="7FA6D9"/>
      </a:folHlink>
    </a:clrScheme>
    <a:fontScheme name="DIGITAL GUARD">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GUARD — 디지털 보안 심사관 게임 기획 발표</dc:title>
  <dc:subject>Unity 6 모바일 게임 기획 발표</dc:subject>
  <dc:creator>DIGITAL GUARD 기획팀</dc:creator>
  <cp:lastModifiedBy>DIGITAL GUARD 기획팀</cp:lastModifiedBy>
  <cp:revision>1</cp:revision>
  <dcterms:created xsi:type="dcterms:W3CDTF">2026-10-16T10:07:40Z</dcterms:created>
  <dcterms:modified xsi:type="dcterms:W3CDTF">2026-10-16T10:07:40Z</dcterms:modified>
</cp:coreProperties>
</file>